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425a71278b547f7" /><Relationship Type="http://schemas.openxmlformats.org/officeDocument/2006/relationships/extended-properties" Target="/docProps/app.xml" Id="R66860087249f45e9" /><Relationship Type="http://schemas.openxmlformats.org/officeDocument/2006/relationships/officeDocument" Target="/ppt/presentation.xml" Id="R18e08cefeb9a4236" /></Relationships>
</file>

<file path=ppt/presentation.xml><?xml version="1.0" encoding="utf-8"?>
<p:presentation xmlns:p="http://schemas.openxmlformats.org/presentationml/2006/main">
  <p:sldMasterIdLst>
    <p:sldMasterId xmlns:r="http://schemas.openxmlformats.org/officeDocument/2006/relationships" id="2147483648" r:id="Ree523c019c024d0f"/>
  </p:sldMasterIdLst>
  <p:notesMasterIdLst>
    <p:notesMasterId xmlns:r="http://schemas.openxmlformats.org/officeDocument/2006/relationships" r:id="R32f570871b6348b3"/>
  </p:notesMasterIdLst>
  <p:sldIdLst>
    <p:sldId xmlns:r="http://schemas.openxmlformats.org/officeDocument/2006/relationships" id="256" r:id="R9f9fa0e96f324cdb"/>
    <p:sldId xmlns:r="http://schemas.openxmlformats.org/officeDocument/2006/relationships" id="257" r:id="R3584607781f04fd0"/>
    <p:sldId xmlns:r="http://schemas.openxmlformats.org/officeDocument/2006/relationships" id="258" r:id="Rc1ffc352058c4d45"/>
    <p:sldId xmlns:r="http://schemas.openxmlformats.org/officeDocument/2006/relationships" id="259" r:id="R69d04992611242b7"/>
    <p:sldId xmlns:r="http://schemas.openxmlformats.org/officeDocument/2006/relationships" id="260" r:id="R49bd1c0449664580"/>
    <p:sldId xmlns:r="http://schemas.openxmlformats.org/officeDocument/2006/relationships" id="261" r:id="R751ed4c5e3c34fc8"/>
    <p:sldId xmlns:r="http://schemas.openxmlformats.org/officeDocument/2006/relationships" id="262" r:id="R6490e93a9720437a"/>
    <p:sldId xmlns:r="http://schemas.openxmlformats.org/officeDocument/2006/relationships" id="263" r:id="R80c4d35d9a9546bc"/>
    <p:sldId xmlns:r="http://schemas.openxmlformats.org/officeDocument/2006/relationships" id="264" r:id="R0796652cf3734a9b"/>
    <p:sldId xmlns:r="http://schemas.openxmlformats.org/officeDocument/2006/relationships" id="265" r:id="Re18dd5f7550f44f8"/>
    <p:sldId xmlns:r="http://schemas.openxmlformats.org/officeDocument/2006/relationships" id="266" r:id="R5b10b03264f54c06"/>
    <p:sldId xmlns:r="http://schemas.openxmlformats.org/officeDocument/2006/relationships" id="267" r:id="R5dc173b244924dd8"/>
    <p:sldId xmlns:r="http://schemas.openxmlformats.org/officeDocument/2006/relationships" id="268" r:id="R1ce0f6c343fc4ab9"/>
    <p:sldId xmlns:r="http://schemas.openxmlformats.org/officeDocument/2006/relationships" id="269" r:id="R130c30de582749bd"/>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779c5e93f4f4ff0" /><Relationship Type="http://schemas.openxmlformats.org/officeDocument/2006/relationships/slideMaster" Target="/ppt/slideMasters/slideMaster1.xml" Id="Ree523c019c024d0f" /><Relationship Type="http://schemas.openxmlformats.org/officeDocument/2006/relationships/notesMaster" Target="/ppt/notesMasters/notesMaster1.xml" Id="R32f570871b6348b3" /><Relationship Type="http://schemas.openxmlformats.org/officeDocument/2006/relationships/presProps" Target="/ppt/presProps.xml" Id="Rd00c2896ca834fa7" /><Relationship Type="http://schemas.openxmlformats.org/officeDocument/2006/relationships/tableStyles" Target="/ppt/tableStyles.xml" Id="Rfbe661600f644c3c" /><Relationship Type="http://schemas.openxmlformats.org/officeDocument/2006/relationships/slide" Target="/ppt/slides/slide1.xml" Id="R9f9fa0e96f324cdb" /><Relationship Type="http://schemas.openxmlformats.org/officeDocument/2006/relationships/slide" Target="/ppt/slides/slide2.xml" Id="R3584607781f04fd0" /><Relationship Type="http://schemas.openxmlformats.org/officeDocument/2006/relationships/slide" Target="/ppt/slides/slide3.xml" Id="Rc1ffc352058c4d45" /><Relationship Type="http://schemas.openxmlformats.org/officeDocument/2006/relationships/slide" Target="/ppt/slides/slide4.xml" Id="R69d04992611242b7" /><Relationship Type="http://schemas.openxmlformats.org/officeDocument/2006/relationships/slide" Target="/ppt/slides/slide5.xml" Id="R49bd1c0449664580" /><Relationship Type="http://schemas.openxmlformats.org/officeDocument/2006/relationships/slide" Target="/ppt/slides/slide6.xml" Id="R751ed4c5e3c34fc8" /><Relationship Type="http://schemas.openxmlformats.org/officeDocument/2006/relationships/slide" Target="/ppt/slides/slide7.xml" Id="R6490e93a9720437a" /><Relationship Type="http://schemas.openxmlformats.org/officeDocument/2006/relationships/slide" Target="/ppt/slides/slide8.xml" Id="R80c4d35d9a9546bc" /><Relationship Type="http://schemas.openxmlformats.org/officeDocument/2006/relationships/slide" Target="/ppt/slides/slide9.xml" Id="R0796652cf3734a9b" /><Relationship Type="http://schemas.openxmlformats.org/officeDocument/2006/relationships/slide" Target="/ppt/slides/slide10.xml" Id="Re18dd5f7550f44f8" /><Relationship Type="http://schemas.openxmlformats.org/officeDocument/2006/relationships/slide" Target="/ppt/slides/slide11.xml" Id="R5b10b03264f54c06" /><Relationship Type="http://schemas.openxmlformats.org/officeDocument/2006/relationships/slide" Target="/ppt/slides/slide12.xml" Id="R5dc173b244924dd8" /><Relationship Type="http://schemas.openxmlformats.org/officeDocument/2006/relationships/slide" Target="/ppt/slides/slide13.xml" Id="R1ce0f6c343fc4ab9" /><Relationship Type="http://schemas.openxmlformats.org/officeDocument/2006/relationships/slide" Target="/ppt/slides/slide14.xml" Id="R130c30de582749b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095b72cb8d04ba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ad17fff6ec246ac" /><Relationship Type="http://schemas.openxmlformats.org/officeDocument/2006/relationships/notesMaster" Target="/ppt/notesMasters/notesMaster1.xml" Id="R60fb4375a9c74c43" /></Relationships>
</file>

<file path=ppt/notesSlides/_rels/notesSlide2.xml.rels>&#65279;<?xml version="1.0" encoding="utf-8"?><Relationships xmlns="http://schemas.openxmlformats.org/package/2006/relationships"><Relationship Type="http://schemas.openxmlformats.org/officeDocument/2006/relationships/slide" Target="/ppt/slides/slide2.xml" Id="R82ec6aae4d274b92" /><Relationship Type="http://schemas.openxmlformats.org/officeDocument/2006/relationships/notesMaster" Target="/ppt/notesMasters/notesMaster1.xml" Id="Rb6500abe858b4178" /></Relationships>
</file>

<file path=ppt/notesSlides/_rels/notesSlide3.xml.rels>&#65279;<?xml version="1.0" encoding="utf-8"?><Relationships xmlns="http://schemas.openxmlformats.org/package/2006/relationships"><Relationship Type="http://schemas.openxmlformats.org/officeDocument/2006/relationships/slide" Target="/ppt/slides/slide3.xml" Id="Rc7b9f674d22c4680" /><Relationship Type="http://schemas.openxmlformats.org/officeDocument/2006/relationships/notesMaster" Target="/ppt/notesMasters/notesMaster1.xml" Id="R10b4e883e0714581" /></Relationships>
</file>

<file path=ppt/notesSlides/_rels/notesSlide4.xml.rels>&#65279;<?xml version="1.0" encoding="utf-8"?><Relationships xmlns="http://schemas.openxmlformats.org/package/2006/relationships"><Relationship Type="http://schemas.openxmlformats.org/officeDocument/2006/relationships/slide" Target="/ppt/slides/slide4.xml" Id="R31740aa44ddd4e5f" /><Relationship Type="http://schemas.openxmlformats.org/officeDocument/2006/relationships/notesMaster" Target="/ppt/notesMasters/notesMaster1.xml" Id="R24860b93219a4fee" /></Relationships>
</file>

<file path=ppt/notesSlides/_rels/notesSlide5.xml.rels>&#65279;<?xml version="1.0" encoding="utf-8"?><Relationships xmlns="http://schemas.openxmlformats.org/package/2006/relationships"><Relationship Type="http://schemas.openxmlformats.org/officeDocument/2006/relationships/slide" Target="/ppt/slides/slide5.xml" Id="R6c4d34284db14996" /><Relationship Type="http://schemas.openxmlformats.org/officeDocument/2006/relationships/notesMaster" Target="/ppt/notesMasters/notesMaster1.xml" Id="Rfbf3994fafce4e11" /></Relationships>
</file>

<file path=ppt/notesSlides/_rels/notesSlide6.xml.rels>&#65279;<?xml version="1.0" encoding="utf-8"?><Relationships xmlns="http://schemas.openxmlformats.org/package/2006/relationships"><Relationship Type="http://schemas.openxmlformats.org/officeDocument/2006/relationships/slide" Target="/ppt/slides/slide6.xml" Id="R553dec9ee7474f56" /><Relationship Type="http://schemas.openxmlformats.org/officeDocument/2006/relationships/notesMaster" Target="/ppt/notesMasters/notesMaster1.xml" Id="R07f9ac7737ec4638" /></Relationships>
</file>

<file path=ppt/notesSlides/_rels/notesSlide7.xml.rels>&#65279;<?xml version="1.0" encoding="utf-8"?><Relationships xmlns="http://schemas.openxmlformats.org/package/2006/relationships"><Relationship Type="http://schemas.openxmlformats.org/officeDocument/2006/relationships/slide" Target="/ppt/slides/slide7.xml" Id="R5b24106ad61041c9" /><Relationship Type="http://schemas.openxmlformats.org/officeDocument/2006/relationships/notesMaster" Target="/ppt/notesMasters/notesMaster1.xml" Id="R901b6d86aedd410f" /></Relationships>
</file>

<file path=ppt/notesSlides/_rels/notesSlide8.xml.rels>&#65279;<?xml version="1.0" encoding="utf-8"?><Relationships xmlns="http://schemas.openxmlformats.org/package/2006/relationships"><Relationship Type="http://schemas.openxmlformats.org/officeDocument/2006/relationships/slide" Target="/ppt/slides/slide8.xml" Id="R30d6c19710e541be" /><Relationship Type="http://schemas.openxmlformats.org/officeDocument/2006/relationships/notesMaster" Target="/ppt/notesMasters/notesMaster1.xml" Id="Rc01a27321906452c" /></Relationships>
</file>

<file path=ppt/notesSlides/_rels/notesSlide9.xml.rels>&#65279;<?xml version="1.0" encoding="utf-8"?><Relationships xmlns="http://schemas.openxmlformats.org/package/2006/relationships"><Relationship Type="http://schemas.openxmlformats.org/officeDocument/2006/relationships/slide" Target="/ppt/slides/slide9.xml" Id="Rc28a45b4a4054dcd" /><Relationship Type="http://schemas.openxmlformats.org/officeDocument/2006/relationships/notesMaster" Target="/ppt/notesMasters/notesMaster1.xml" Id="R25b94a8c4226482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dc31b51e945456f" /><Relationship Type="http://schemas.openxmlformats.org/officeDocument/2006/relationships/notesMaster" Target="/ppt/notesMasters/notesMaster1.xml" Id="Ra7ad77012fb043c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3582e47512e423f" /><Relationship Type="http://schemas.openxmlformats.org/officeDocument/2006/relationships/notesMaster" Target="/ppt/notesMasters/notesMaster1.xml" Id="R461a31073770461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dc677f73b6a42ab" /><Relationship Type="http://schemas.openxmlformats.org/officeDocument/2006/relationships/notesMaster" Target="/ppt/notesMasters/notesMaster1.xml" Id="R5b61d56931a94ae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957d84a183d48df" /><Relationship Type="http://schemas.openxmlformats.org/officeDocument/2006/relationships/notesMaster" Target="/ppt/notesMasters/notesMaster1.xml" Id="R808d6b27187c422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592244c13094c0e" /><Relationship Type="http://schemas.openxmlformats.org/officeDocument/2006/relationships/notesMaster" Target="/ppt/notesMasters/notesMaster1.xml" Id="Ra6a35b56d0824f1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project, team, course, and central claim. Emphasize that this is a reproducible baseline rather than a production recommender.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why recommendation is needed for a large catalogue. Clarify that missing interactions are unknown preferences, not zeros or dislikes.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both files and exact sizes. Stress that personal ratings train SVD while public average ratings are display-only.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down the funnel. Spend time on the −1 semantic decision, then explain duplicate averaging and final coverage.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Interpret both charts. Rating count measures popularity rather than objective quality; EDA motivates but does not evaluate the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Notebook 01/02 boundary. Point to sentinel removal, seeded splitting, and excluding already-rated anime.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equation term by term. Explain biases, latent alignment, regularization, and cold-start limits.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real cleaned row (user 3, anime 20, rating 8). Explain initialization, prediction, error, and the SGD update. Only the parameters for the current user and anime are changed in that step. Repeat across shuffled observed rows for 20 epochs. Regularization prevents large parameters from simply memorizing noise.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teaching matrix first: observed numbers are evidence and Lan–Anime C is the unknown pair. Then decompose 9.2 into the global mean, user bias, item bias, and latent interaction. State that all four decomposition values and the Lan/Minh matrix are illustrative, while the user-3 rows are real cleaned dataset examples. Latent dimensions are inferred and should not be named as genres.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Distinguish cleaned data from model-scope data. Explain outer holdout and inner validation, then state the selected configuration.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Define prediction and ranking metrics separately. Explain relevance, eligibility, and candidate-set scope.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exported values, not stale notebook cells. Emphasize marginal RMSE gain and scoped ranking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evaluation versus serving fits, unseen filtering, tie-breaking, and the Top-5 example. Clarify what predicted ratings do not mean.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Restate the contribution and evidence boundary. Pair limitations with next steps. Confirm the 50/50 contribution wording before submission.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67244f290d74fb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efb70398c7a426e" /><Relationship Type="http://schemas.openxmlformats.org/officeDocument/2006/relationships/slideLayout" Target="/ppt/slideLayouts/slideLayout1.xml" Id="R0dca0eb8ec81480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dca0eb8ec81480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9dc603bd8de49cd" /><Relationship Type="http://schemas.openxmlformats.org/officeDocument/2006/relationships/notesSlide" Target="/ppt/notesSlides/notesSlide1.xml" Id="Raf336bb1c456484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3e56d67665e4da8" /><Relationship Type="http://schemas.openxmlformats.org/officeDocument/2006/relationships/notesSlide" Target="/ppt/notesSlides/notesSlide2.xml" Id="Rc15530da8863465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412bf95f40e4076" /><Relationship Type="http://schemas.openxmlformats.org/officeDocument/2006/relationships/notesSlide" Target="/ppt/notesSlides/notesSlide3.xml" Id="R9deddab340a8432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3c9315b4cf447ab" /><Relationship Type="http://schemas.openxmlformats.org/officeDocument/2006/relationships/notesSlide" Target="/ppt/notesSlides/notesSlide4.xml" Id="R073e15c4a7ef4dd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116c6f440344de3" /><Relationship Type="http://schemas.openxmlformats.org/officeDocument/2006/relationships/image" Target="/ppt/media/image.png" Id="R3721fa59ca984a11" /><Relationship Type="http://schemas.openxmlformats.org/officeDocument/2006/relationships/image" Target="/ppt/media/image2.png" Id="Rfbdd3511f8e24557" /><Relationship Type="http://schemas.openxmlformats.org/officeDocument/2006/relationships/notesSlide" Target="/ppt/notesSlides/notesSlide5.xml" Id="R0d8dc88ee2cb46c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72926c3217b4b16" /><Relationship Type="http://schemas.openxmlformats.org/officeDocument/2006/relationships/notesSlide" Target="/ppt/notesSlides/notesSlide6.xml" Id="Rd72001b2d710496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2d2c07c36ca41fe" /><Relationship Type="http://schemas.openxmlformats.org/officeDocument/2006/relationships/notesSlide" Target="/ppt/notesSlides/notesSlide7.xml" Id="R46df79f48ceb4f0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742f4755fa041a6" /><Relationship Type="http://schemas.openxmlformats.org/officeDocument/2006/relationships/notesSlide" Target="/ppt/notesSlides/notesSlide8.xml" Id="Rc057e562212a44b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04ab15d08e64a6a" /><Relationship Type="http://schemas.openxmlformats.org/officeDocument/2006/relationships/notesSlide" Target="/ppt/notesSlides/notesSlide9.xml" Id="Rd9e1e2be2a1a4fd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3d6e168450c4710" /><Relationship Type="http://schemas.openxmlformats.org/officeDocument/2006/relationships/notesSlide" Target="/ppt/notesSlides/notesSlide10.xml" Id="R977bcfcbbb954b9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b7f4b3a81104abf" /><Relationship Type="http://schemas.openxmlformats.org/officeDocument/2006/relationships/notesSlide" Target="/ppt/notesSlides/notesSlide11.xml" Id="Rb187ff9d23c746e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393443acc974df5" /><Relationship Type="http://schemas.openxmlformats.org/officeDocument/2006/relationships/image" Target="/ppt/media/image3.png" Id="R772edcf3b09d4242" /><Relationship Type="http://schemas.openxmlformats.org/officeDocument/2006/relationships/image" Target="/ppt/media/image4.png" Id="Rf614f4075d3a41ed" /><Relationship Type="http://schemas.openxmlformats.org/officeDocument/2006/relationships/notesSlide" Target="/ppt/notesSlides/notesSlide12.xml" Id="Rfe3cdc76934d469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eaae9473fa447b5" /><Relationship Type="http://schemas.openxmlformats.org/officeDocument/2006/relationships/notesSlide" Target="/ppt/notesSlides/notesSlide13.xml" Id="Rdc45cdfe0c49499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3bb9c49300e4557" /><Relationship Type="http://schemas.openxmlformats.org/officeDocument/2006/relationships/notesSlide" Target="/ppt/notesSlides/notesSlide14.xml" Id="Rbce77f949f0140cc" /></Relationships>
</file>

<file path=ppt/slides/slide1.xml><?xml version="1.0" encoding="utf-8"?>
<p:sld xmlns:p="http://schemas.openxmlformats.org/presentationml/2006/main">
  <p:cSld>
    <p:bg>
      <p:bgPr>
        <a:solidFill xmlns:a="http://schemas.openxmlformats.org/drawingml/2006/main">
          <a:srgbClr val="EDE8E0"/>
        </a:solidFill>
      </p:bgPr>
    </p:bg>
    <p:spTree>
      <p:nvGrpSpPr>
        <p:cNvPr id="1" name=""/>
        <p:cNvGrpSpPr/>
        <p:nvPr/>
      </p:nvGrpSpPr>
      <p:grpSpPr>
        <a:xfrm xmlns:a="http://schemas.openxmlformats.org/drawingml/2006/main"/>
      </p:grpSpPr>
      <p:sp>
        <p:nvSpPr>
          <p:cNvPr id="10" name="outer-ring">
            <a:extLst xmlns:a="http://schemas.openxmlformats.org/drawingml/2006/main">
              <a:ext uri="{FF2B5EF4-FFF2-40B4-BE49-F238E27FC236}">
                <a16:creationId xmlns:a16="http://schemas.microsoft.com/office/drawing/2014/main" id="{2F5E06B9-FE88-41B9-A797-4A78EA2D7D37}"/>
              </a:ext>
            </a:extLst>
          </p:cNvPr>
          <p:cNvSpPr>
            <a:spLocks xmlns:a="http://schemas.openxmlformats.org/drawingml/2006/main" noGrp="1"/>
          </p:cNvSpPr>
          <p:nvPr/>
        </p:nvSpPr>
        <p:spPr>
          <a:xfrm xmlns:a="http://schemas.openxmlformats.org/drawingml/2006/main">
            <a:off x="8096250" y="-762000"/>
            <a:ext cx="5143500" cy="5143500"/>
          </a:xfrm>
          <a:prstGeom xmlns:a="http://schemas.openxmlformats.org/drawingml/2006/main" prst="rect">
            <a:avLst/>
          </a:prstGeom>
          <a:noFill xmlns:a="http://schemas.openxmlformats.org/drawingml/2006/main"/>
          <a:ln xmlns:a="http://schemas.openxmlformats.org/drawingml/2006/main" w="9525">
            <a:solidFill>
              <a:srgbClr val="B8B0A4"/>
            </a:solidFill>
            <a:prstDash val="solid"/>
          </a:ln>
        </p:spPr>
      </p:sp>
      <p:sp>
        <p:nvSpPr>
          <p:cNvPr id="2" name="inner-ring">
            <a:extLst xmlns:a="http://schemas.openxmlformats.org/drawingml/2006/main">
              <a:ext uri="{FF2B5EF4-FFF2-40B4-BE49-F238E27FC236}">
                <a16:creationId xmlns:a16="http://schemas.microsoft.com/office/drawing/2014/main" id="{3B6A7537-AE70-44A7-8CC7-FB52D2116B38}"/>
              </a:ext>
            </a:extLst>
          </p:cNvPr>
          <p:cNvSpPr>
            <a:spLocks xmlns:a="http://schemas.openxmlformats.org/drawingml/2006/main" noGrp="1"/>
          </p:cNvSpPr>
          <p:nvPr/>
        </p:nvSpPr>
        <p:spPr>
          <a:xfrm xmlns:a="http://schemas.openxmlformats.org/drawingml/2006/main">
            <a:off x="8810625" y="-47625"/>
            <a:ext cx="3714750" cy="3714750"/>
          </a:xfrm>
          <a:prstGeom xmlns:a="http://schemas.openxmlformats.org/drawingml/2006/main" prst="rect">
            <a:avLst/>
          </a:prstGeom>
          <a:noFill xmlns:a="http://schemas.openxmlformats.org/drawingml/2006/main"/>
          <a:ln xmlns:a="http://schemas.openxmlformats.org/drawingml/2006/main" w="9525">
            <a:solidFill>
              <a:srgbClr val="B8B0A4"/>
            </a:solidFill>
            <a:prstDash val="solid"/>
          </a:ln>
        </p:spPr>
      </p:sp>
      <p:sp>
        <p:nvSpPr>
          <p:cNvPr id="3" name="text">
            <a:extLst xmlns:a="http://schemas.openxmlformats.org/drawingml/2006/main">
              <a:ext uri="{FF2B5EF4-FFF2-40B4-BE49-F238E27FC236}">
                <a16:creationId xmlns:a16="http://schemas.microsoft.com/office/drawing/2014/main" id="{07EDF075-A262-4310-83D1-5F75DA0B75AE}"/>
              </a:ext>
            </a:extLst>
          </p:cNvPr>
          <p:cNvSpPr>
            <a:spLocks xmlns:a="http://schemas.openxmlformats.org/drawingml/2006/main" noGrp="1"/>
          </p:cNvSpPr>
          <p:nvPr/>
        </p:nvSpPr>
        <p:spPr>
          <a:xfrm xmlns:a="http://schemas.openxmlformats.org/drawingml/2006/main">
            <a:off x="609600" y="6667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i="0">
                <a:solidFill>
                  <a:srgbClr val="8A8178"/>
                </a:solidFill>
              </a:defRPr>
            </a:pPr>
            <a:r>
              <a:rPr sz="975" b="1" i="0">
                <a:solidFill>
                  <a:srgbClr val="8A8178"/>
                </a:solidFill>
              </a:rPr>
              <a:t>GROUP 14 · DS 423 SA · MACHINE LEARNING WITH LARGE DATASETS</a:t>
            </a:r>
          </a:p>
        </p:txBody>
      </p:sp>
      <p:sp>
        <p:nvSpPr>
          <p:cNvPr id="4" name="text">
            <a:extLst xmlns:a="http://schemas.openxmlformats.org/drawingml/2006/main">
              <a:ext uri="{FF2B5EF4-FFF2-40B4-BE49-F238E27FC236}">
                <a16:creationId xmlns:a16="http://schemas.microsoft.com/office/drawing/2014/main" id="{A353CDE0-DA60-4673-A157-7EDA05D68492}"/>
              </a:ext>
            </a:extLst>
          </p:cNvPr>
          <p:cNvSpPr>
            <a:spLocks xmlns:a="http://schemas.openxmlformats.org/drawingml/2006/main" noGrp="1"/>
          </p:cNvSpPr>
          <p:nvPr/>
        </p:nvSpPr>
        <p:spPr>
          <a:xfrm xmlns:a="http://schemas.openxmlformats.org/drawingml/2006/main">
            <a:off x="609600" y="1285875"/>
            <a:ext cx="7620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4800" b="0" i="0">
                <a:solidFill>
                  <a:srgbClr val="1A1A1A"/>
                </a:solidFill>
              </a:defRPr>
            </a:pPr>
            <a:r>
              <a:rPr sz="4800" b="0" i="0">
                <a:solidFill>
                  <a:srgbClr val="1A1A1A"/>
                </a:solidFill>
              </a:rPr>
              <a:t>Anime Recommendation</a:t>
            </a:r>
          </a:p>
          <a:p xmlns:a="http://schemas.openxmlformats.org/drawingml/2006/main">
            <a:pPr algn="l">
              <a:buNone/>
              <a:defRPr sz="4800" b="0" i="0">
                <a:solidFill>
                  <a:srgbClr val="1A1A1A"/>
                </a:solidFill>
              </a:defRPr>
            </a:pPr>
            <a:r>
              <a:rPr sz="4800" b="0" i="0">
                <a:solidFill>
                  <a:srgbClr val="1A1A1A"/>
                </a:solidFill>
              </a:rPr>
              <a:t>System</a:t>
            </a:r>
          </a:p>
        </p:txBody>
      </p:sp>
      <p:sp>
        <p:nvSpPr>
          <p:cNvPr id="5" name="text">
            <a:extLst xmlns:a="http://schemas.openxmlformats.org/drawingml/2006/main">
              <a:ext uri="{FF2B5EF4-FFF2-40B4-BE49-F238E27FC236}">
                <a16:creationId xmlns:a16="http://schemas.microsoft.com/office/drawing/2014/main" id="{D319CE14-863D-4596-9047-D66549EAE1B5}"/>
              </a:ext>
            </a:extLst>
          </p:cNvPr>
          <p:cNvSpPr>
            <a:spLocks xmlns:a="http://schemas.openxmlformats.org/drawingml/2006/main" noGrp="1"/>
          </p:cNvSpPr>
          <p:nvPr/>
        </p:nvSpPr>
        <p:spPr>
          <a:xfrm xmlns:a="http://schemas.openxmlformats.org/drawingml/2006/main">
            <a:off x="609600" y="3143250"/>
            <a:ext cx="723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0" i="0">
                <a:solidFill>
                  <a:srgbClr val="5A5A5A"/>
                </a:solidFill>
              </a:defRPr>
            </a:pPr>
            <a:r>
              <a:rPr sz="1800" b="0" i="0">
                <a:solidFill>
                  <a:srgbClr val="5A5A5A"/>
                </a:solidFill>
              </a:rPr>
              <a:t>A reproducible biased-SVD baseline for explicit ratings and personalized Top-10 unseen-anime recommendations.</a:t>
            </a:r>
          </a:p>
        </p:txBody>
      </p:sp>
      <p:sp>
        <p:nvSpPr>
          <p:cNvPr id="6" name="rule">
            <a:extLst xmlns:a="http://schemas.openxmlformats.org/drawingml/2006/main">
              <a:ext uri="{FF2B5EF4-FFF2-40B4-BE49-F238E27FC236}">
                <a16:creationId xmlns:a16="http://schemas.microsoft.com/office/drawing/2014/main" id="{2A80D328-82E1-4D43-B9EB-7F1C92204C76}"/>
              </a:ext>
            </a:extLst>
          </p:cNvPr>
          <p:cNvSpPr>
            <a:spLocks xmlns:a="http://schemas.openxmlformats.org/drawingml/2006/main" noGrp="1"/>
          </p:cNvSpPr>
          <p:nvPr/>
        </p:nvSpPr>
        <p:spPr>
          <a:xfrm xmlns:a="http://schemas.openxmlformats.org/drawingml/2006/main">
            <a:off x="609600" y="4333875"/>
            <a:ext cx="5334000" cy="9525"/>
          </a:xfrm>
          <a:prstGeom xmlns:a="http://schemas.openxmlformats.org/drawingml/2006/main" prst="rect">
            <a:avLst/>
          </a:prstGeom>
          <a:solidFill xmlns:a="http://schemas.openxmlformats.org/drawingml/2006/main">
            <a:srgbClr val="1A1A1A"/>
          </a:solidFill>
          <a:ln xmlns:a="http://schemas.openxmlformats.org/drawingml/2006/main" w="9525">
            <a:solidFill>
              <a:srgbClr val="1A1A1A"/>
            </a:solidFill>
            <a:prstDash val="solid"/>
          </a:ln>
        </p:spPr>
      </p:sp>
      <p:sp>
        <p:nvSpPr>
          <p:cNvPr id="7" name="text">
            <a:extLst xmlns:a="http://schemas.openxmlformats.org/drawingml/2006/main">
              <a:ext uri="{FF2B5EF4-FFF2-40B4-BE49-F238E27FC236}">
                <a16:creationId xmlns:a16="http://schemas.microsoft.com/office/drawing/2014/main" id="{6E65AFC3-CED8-424D-B63E-5DF8A8751B16}"/>
              </a:ext>
            </a:extLst>
          </p:cNvPr>
          <p:cNvSpPr>
            <a:spLocks xmlns:a="http://schemas.openxmlformats.org/drawingml/2006/main" noGrp="1"/>
          </p:cNvSpPr>
          <p:nvPr/>
        </p:nvSpPr>
        <p:spPr>
          <a:xfrm xmlns:a="http://schemas.openxmlformats.org/drawingml/2006/main">
            <a:off x="609600" y="45529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i="0">
                <a:solidFill>
                  <a:srgbClr val="1A1A1A"/>
                </a:solidFill>
              </a:defRPr>
            </a:pPr>
            <a:r>
              <a:rPr sz="1350" b="1" i="0">
                <a:solidFill>
                  <a:srgbClr val="1A1A1A"/>
                </a:solidFill>
              </a:rPr>
              <a:t>Duy Tan University, Da Nang</a:t>
            </a:r>
          </a:p>
        </p:txBody>
      </p:sp>
      <p:sp>
        <p:nvSpPr>
          <p:cNvPr id="8" name="text">
            <a:extLst xmlns:a="http://schemas.openxmlformats.org/drawingml/2006/main">
              <a:ext uri="{FF2B5EF4-FFF2-40B4-BE49-F238E27FC236}">
                <a16:creationId xmlns:a16="http://schemas.microsoft.com/office/drawing/2014/main" id="{F24613EB-AD5D-444A-8109-6CBF5DB75F66}"/>
              </a:ext>
            </a:extLst>
          </p:cNvPr>
          <p:cNvSpPr>
            <a:spLocks xmlns:a="http://schemas.openxmlformats.org/drawingml/2006/main" noGrp="1"/>
          </p:cNvSpPr>
          <p:nvPr/>
        </p:nvSpPr>
        <p:spPr>
          <a:xfrm xmlns:a="http://schemas.openxmlformats.org/drawingml/2006/main">
            <a:off x="609600" y="4953000"/>
            <a:ext cx="5334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i="0">
                <a:solidFill>
                  <a:srgbClr val="5A5A5A"/>
                </a:solidFill>
              </a:defRPr>
            </a:pPr>
            <a:r>
              <a:rPr sz="1350" b="0" i="0">
                <a:solidFill>
                  <a:srgbClr val="5A5A5A"/>
                </a:solidFill>
              </a:rPr>
              <a:t>Trương Nhật Trường — 29211164915</a:t>
            </a:r>
          </a:p>
          <a:p xmlns:a="http://schemas.openxmlformats.org/drawingml/2006/main">
            <a:pPr algn="l">
              <a:buNone/>
              <a:defRPr sz="1350" b="0" i="0">
                <a:solidFill>
                  <a:srgbClr val="5A5A5A"/>
                </a:solidFill>
              </a:defRPr>
            </a:pPr>
            <a:r>
              <a:rPr sz="1350" b="0" i="0">
                <a:solidFill>
                  <a:srgbClr val="5A5A5A"/>
                </a:solidFill>
              </a:rPr>
              <a:t>Mai Nam Quốc — 29211145181</a:t>
            </a:r>
          </a:p>
        </p:txBody>
      </p:sp>
      <p:sp>
        <p:nvSpPr>
          <p:cNvPr id="9" name="text">
            <a:extLst xmlns:a="http://schemas.openxmlformats.org/drawingml/2006/main">
              <a:ext uri="{FF2B5EF4-FFF2-40B4-BE49-F238E27FC236}">
                <a16:creationId xmlns:a16="http://schemas.microsoft.com/office/drawing/2014/main" id="{A920192C-6D3F-49D4-9EC7-097DFCCBA241}"/>
              </a:ext>
            </a:extLst>
          </p:cNvPr>
          <p:cNvSpPr>
            <a:spLocks xmlns:a="http://schemas.openxmlformats.org/drawingml/2006/main" noGrp="1"/>
          </p:cNvSpPr>
          <p:nvPr/>
        </p:nvSpPr>
        <p:spPr>
          <a:xfrm xmlns:a="http://schemas.openxmlformats.org/drawingml/2006/main">
            <a:off x="11144250" y="65246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750" b="0" i="0">
                <a:solidFill>
                  <a:srgbClr val="8A8178"/>
                </a:solidFill>
              </a:defRPr>
            </a:pPr>
            <a:r>
              <a:rPr sz="750" b="0" i="0">
                <a:solidFill>
                  <a:srgbClr val="8A8178"/>
                </a:solidFill>
              </a:rPr>
              <a:t>01</a:t>
            </a:r>
          </a:p>
        </p:txBody>
      </p:sp>
    </p:spTree>
    <p:extLst>
      <p:ext uri="{BB962C8B-B14F-4D97-AF65-F5344CB8AC3E}">
        <p14:creationId xmlns:p14="http://schemas.microsoft.com/office/powerpoint/2010/main" val="613330927"/>
      </p:ext>
    </p:extLst>
  </p:cSld>
</p:sld>
</file>

<file path=ppt/slides/slide2.xml><?xml version="1.0" encoding="utf-8"?>
<p:sld xmlns:p="http://schemas.openxmlformats.org/presentationml/2006/main">
  <p:cSld>
    <p:bg>
      <p:bgPr>
        <a:solidFill xmlns:a="http://schemas.openxmlformats.org/drawingml/2006/main">
          <a:srgbClr val="EDE8E0"/>
        </a:solidFill>
      </p:bgPr>
    </p:bg>
    <p:spTree>
      <p:nvGrpSpPr>
        <p:cNvPr id="1" name=""/>
        <p:cNvGrpSpPr/>
        <p:nvPr/>
      </p:nvGrpSpPr>
      <p:grpSpPr>
        <a:xfrm xmlns:a="http://schemas.openxmlformats.org/drawingml/2006/main"/>
      </p:grpSpPr>
      <p:sp>
        <p:nvSpPr>
          <p:cNvPr id="26" name="outer-ring">
            <a:extLst xmlns:a="http://schemas.openxmlformats.org/drawingml/2006/main">
              <a:ext uri="{FF2B5EF4-FFF2-40B4-BE49-F238E27FC236}">
                <a16:creationId xmlns:a16="http://schemas.microsoft.com/office/drawing/2014/main" id="{105B6E7F-780F-44EA-A749-9CA3D2AD4641}"/>
              </a:ext>
            </a:extLst>
          </p:cNvPr>
          <p:cNvSpPr>
            <a:spLocks xmlns:a="http://schemas.openxmlformats.org/drawingml/2006/main" noGrp="1"/>
          </p:cNvSpPr>
          <p:nvPr/>
        </p:nvSpPr>
        <p:spPr>
          <a:xfrm xmlns:a="http://schemas.openxmlformats.org/drawingml/2006/main">
            <a:off x="9620250" y="-1143000"/>
            <a:ext cx="3714750" cy="3714750"/>
          </a:xfrm>
          <a:prstGeom xmlns:a="http://schemas.openxmlformats.org/drawingml/2006/main" prst="rect">
            <a:avLst/>
          </a:prstGeom>
          <a:noFill xmlns:a="http://schemas.openxmlformats.org/drawingml/2006/main"/>
          <a:ln xmlns:a="http://schemas.openxmlformats.org/drawingml/2006/main" w="9525">
            <a:solidFill>
              <a:srgbClr val="B8B0A4"/>
            </a:solidFill>
            <a:prstDash val="solid"/>
          </a:ln>
        </p:spPr>
      </p:sp>
      <p:sp>
        <p:nvSpPr>
          <p:cNvPr id="2" name="inner-ring">
            <a:extLst xmlns:a="http://schemas.openxmlformats.org/drawingml/2006/main">
              <a:ext uri="{FF2B5EF4-FFF2-40B4-BE49-F238E27FC236}">
                <a16:creationId xmlns:a16="http://schemas.microsoft.com/office/drawing/2014/main" id="{5040597E-8A88-457B-AD5F-D032BE6368A9}"/>
              </a:ext>
            </a:extLst>
          </p:cNvPr>
          <p:cNvSpPr>
            <a:spLocks xmlns:a="http://schemas.openxmlformats.org/drawingml/2006/main" noGrp="1"/>
          </p:cNvSpPr>
          <p:nvPr/>
        </p:nvSpPr>
        <p:spPr>
          <a:xfrm xmlns:a="http://schemas.openxmlformats.org/drawingml/2006/main">
            <a:off x="10191750" y="-571500"/>
            <a:ext cx="2571750" cy="2571750"/>
          </a:xfrm>
          <a:prstGeom xmlns:a="http://schemas.openxmlformats.org/drawingml/2006/main" prst="rect">
            <a:avLst/>
          </a:prstGeom>
          <a:noFill xmlns:a="http://schemas.openxmlformats.org/drawingml/2006/main"/>
          <a:ln xmlns:a="http://schemas.openxmlformats.org/drawingml/2006/main" w="9525">
            <a:solidFill>
              <a:srgbClr val="B8B0A4"/>
            </a:solidFill>
            <a:prstDash val="solid"/>
          </a:ln>
        </p:spPr>
      </p:sp>
      <p:sp>
        <p:nvSpPr>
          <p:cNvPr id="3" name="eyebrow">
            <a:extLst xmlns:a="http://schemas.openxmlformats.org/drawingml/2006/main">
              <a:ext uri="{FF2B5EF4-FFF2-40B4-BE49-F238E27FC236}">
                <a16:creationId xmlns:a16="http://schemas.microsoft.com/office/drawing/2014/main" id="{F04C8BA3-6E4F-4C8F-ACF4-3F093CCD35A4}"/>
              </a:ext>
            </a:extLst>
          </p:cNvPr>
          <p:cNvSpPr>
            <a:spLocks xmlns:a="http://schemas.openxmlformats.org/drawingml/2006/main" noGrp="1"/>
          </p:cNvSpPr>
          <p:nvPr/>
        </p:nvSpPr>
        <p:spPr>
          <a:xfrm xmlns:a="http://schemas.openxmlformats.org/drawingml/2006/main">
            <a:off x="609600" y="4000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i="0">
                <a:solidFill>
                  <a:srgbClr val="8A8178"/>
                </a:solidFill>
              </a:defRPr>
            </a:pPr>
            <a:r>
              <a:rPr sz="975" b="1" i="0">
                <a:solidFill>
                  <a:srgbClr val="8A8178"/>
                </a:solidFill>
              </a:rPr>
              <a:t>PROBLEM STATEMENT</a:t>
            </a:r>
          </a:p>
        </p:txBody>
      </p:sp>
      <p:sp>
        <p:nvSpPr>
          <p:cNvPr id="4" name="title">
            <a:extLst xmlns:a="http://schemas.openxmlformats.org/drawingml/2006/main">
              <a:ext uri="{FF2B5EF4-FFF2-40B4-BE49-F238E27FC236}">
                <a16:creationId xmlns:a16="http://schemas.microsoft.com/office/drawing/2014/main" id="{3D1CFABF-C908-4EBE-964C-010F1D1C6DD0}"/>
              </a:ext>
            </a:extLst>
          </p:cNvPr>
          <p:cNvSpPr>
            <a:spLocks xmlns:a="http://schemas.openxmlformats.org/drawingml/2006/main" noGrp="1"/>
          </p:cNvSpPr>
          <p:nvPr/>
        </p:nvSpPr>
        <p:spPr>
          <a:xfrm xmlns:a="http://schemas.openxmlformats.org/drawingml/2006/main">
            <a:off x="609600" y="723900"/>
            <a:ext cx="10668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150" b="0" i="0">
                <a:solidFill>
                  <a:srgbClr val="1A1A1A"/>
                </a:solidFill>
              </a:defRPr>
            </a:pPr>
            <a:r>
              <a:rPr sz="3150" b="0" i="0">
                <a:solidFill>
                  <a:srgbClr val="1A1A1A"/>
                </a:solidFill>
              </a:rPr>
              <a:t>The project ranks unseen anime from explicit user preferences</a:t>
            </a:r>
          </a:p>
        </p:txBody>
      </p:sp>
      <p:sp>
        <p:nvSpPr>
          <p:cNvPr id="5" name="rule">
            <a:extLst xmlns:a="http://schemas.openxmlformats.org/drawingml/2006/main">
              <a:ext uri="{FF2B5EF4-FFF2-40B4-BE49-F238E27FC236}">
                <a16:creationId xmlns:a16="http://schemas.microsoft.com/office/drawing/2014/main" id="{9862A3EF-0253-498B-BEB0-30AB13FCF334}"/>
              </a:ext>
            </a:extLst>
          </p:cNvPr>
          <p:cNvSpPr>
            <a:spLocks xmlns:a="http://schemas.openxmlformats.org/drawingml/2006/main" noGrp="1"/>
          </p:cNvSpPr>
          <p:nvPr/>
        </p:nvSpPr>
        <p:spPr>
          <a:xfrm xmlns:a="http://schemas.openxmlformats.org/drawingml/2006/main">
            <a:off x="609600" y="6429375"/>
            <a:ext cx="10972800" cy="9525"/>
          </a:xfrm>
          <a:prstGeom xmlns:a="http://schemas.openxmlformats.org/drawingml/2006/main" prst="rect">
            <a:avLst/>
          </a:prstGeom>
          <a:solidFill xmlns:a="http://schemas.openxmlformats.org/drawingml/2006/main">
            <a:srgbClr val="B8B0A4"/>
          </a:solidFill>
          <a:ln xmlns:a="http://schemas.openxmlformats.org/drawingml/2006/main" w="9525">
            <a:solidFill>
              <a:srgbClr val="B8B0A4"/>
            </a:solidFill>
            <a:prstDash val="solid"/>
          </a:ln>
        </p:spPr>
      </p:sp>
      <p:sp>
        <p:nvSpPr>
          <p:cNvPr id="6" name="text">
            <a:extLst xmlns:a="http://schemas.openxmlformats.org/drawingml/2006/main">
              <a:ext uri="{FF2B5EF4-FFF2-40B4-BE49-F238E27FC236}">
                <a16:creationId xmlns:a16="http://schemas.microsoft.com/office/drawing/2014/main" id="{67A2EC33-85F5-4904-90CB-5BC779CC3A06}"/>
              </a:ext>
            </a:extLst>
          </p:cNvPr>
          <p:cNvSpPr>
            <a:spLocks xmlns:a="http://schemas.openxmlformats.org/drawingml/2006/main" noGrp="1"/>
          </p:cNvSpPr>
          <p:nvPr/>
        </p:nvSpPr>
        <p:spPr>
          <a:xfrm xmlns:a="http://schemas.openxmlformats.org/drawingml/2006/main">
            <a:off x="609600" y="652462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1" i="0">
                <a:solidFill>
                  <a:srgbClr val="8A8178"/>
                </a:solidFill>
              </a:defRPr>
            </a:pPr>
            <a:r>
              <a:rPr sz="750" b="1" i="0">
                <a:solidFill>
                  <a:srgbClr val="8A8178"/>
                </a:solidFill>
              </a:rPr>
              <a:t>GROUP 14 · DUY TAN UNIVERSITY, DA NANG</a:t>
            </a:r>
          </a:p>
        </p:txBody>
      </p:sp>
      <p:sp>
        <p:nvSpPr>
          <p:cNvPr id="7" name="text">
            <a:extLst xmlns:a="http://schemas.openxmlformats.org/drawingml/2006/main">
              <a:ext uri="{FF2B5EF4-FFF2-40B4-BE49-F238E27FC236}">
                <a16:creationId xmlns:a16="http://schemas.microsoft.com/office/drawing/2014/main" id="{9DB3742D-E722-4061-B6CD-CB227EC2E6E7}"/>
              </a:ext>
            </a:extLst>
          </p:cNvPr>
          <p:cNvSpPr>
            <a:spLocks xmlns:a="http://schemas.openxmlformats.org/drawingml/2006/main" noGrp="1"/>
          </p:cNvSpPr>
          <p:nvPr/>
        </p:nvSpPr>
        <p:spPr>
          <a:xfrm xmlns:a="http://schemas.openxmlformats.org/drawingml/2006/main">
            <a:off x="11144250" y="65246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750" b="0" i="0">
                <a:solidFill>
                  <a:srgbClr val="8A8178"/>
                </a:solidFill>
              </a:defRPr>
            </a:pPr>
            <a:r>
              <a:rPr sz="750" b="0" i="0">
                <a:solidFill>
                  <a:srgbClr val="8A8178"/>
                </a:solidFill>
              </a:rPr>
              <a:t>02</a:t>
            </a:r>
          </a:p>
        </p:txBody>
      </p:sp>
      <p:sp>
        <p:nvSpPr>
          <p:cNvPr id="8" name="rule">
            <a:extLst xmlns:a="http://schemas.openxmlformats.org/drawingml/2006/main">
              <a:ext uri="{FF2B5EF4-FFF2-40B4-BE49-F238E27FC236}">
                <a16:creationId xmlns:a16="http://schemas.microsoft.com/office/drawing/2014/main" id="{DDF2794A-FBE7-49D9-821A-46940A25BDF9}"/>
              </a:ext>
            </a:extLst>
          </p:cNvPr>
          <p:cNvSpPr>
            <a:spLocks xmlns:a="http://schemas.openxmlformats.org/drawingml/2006/main" noGrp="1"/>
          </p:cNvSpPr>
          <p:nvPr/>
        </p:nvSpPr>
        <p:spPr>
          <a:xfrm xmlns:a="http://schemas.openxmlformats.org/drawingml/2006/main">
            <a:off x="609600" y="1762125"/>
            <a:ext cx="3371850" cy="9525"/>
          </a:xfrm>
          <a:prstGeom xmlns:a="http://schemas.openxmlformats.org/drawingml/2006/main" prst="rect">
            <a:avLst/>
          </a:prstGeom>
          <a:solidFill xmlns:a="http://schemas.openxmlformats.org/drawingml/2006/main">
            <a:srgbClr val="1A1A1A"/>
          </a:solidFill>
          <a:ln xmlns:a="http://schemas.openxmlformats.org/drawingml/2006/main" w="9525">
            <a:solidFill>
              <a:srgbClr val="1A1A1A"/>
            </a:solidFill>
            <a:prstDash val="solid"/>
          </a:ln>
        </p:spPr>
      </p:sp>
      <p:sp>
        <p:nvSpPr>
          <p:cNvPr id="9" name="text">
            <a:extLst xmlns:a="http://schemas.openxmlformats.org/drawingml/2006/main">
              <a:ext uri="{FF2B5EF4-FFF2-40B4-BE49-F238E27FC236}">
                <a16:creationId xmlns:a16="http://schemas.microsoft.com/office/drawing/2014/main" id="{37B18395-9ECD-438D-915F-BFBB6C1FAEB2}"/>
              </a:ext>
            </a:extLst>
          </p:cNvPr>
          <p:cNvSpPr>
            <a:spLocks xmlns:a="http://schemas.openxmlformats.org/drawingml/2006/main" noGrp="1"/>
          </p:cNvSpPr>
          <p:nvPr/>
        </p:nvSpPr>
        <p:spPr>
          <a:xfrm xmlns:a="http://schemas.openxmlformats.org/drawingml/2006/main">
            <a:off x="609600" y="1876425"/>
            <a:ext cx="3371850" cy="3352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i="0">
                <a:solidFill>
                  <a:srgbClr val="1A1A1A"/>
                </a:solidFill>
              </a:defRPr>
            </a:pPr>
            <a:r>
              <a:rPr sz="1650" b="0" i="0">
                <a:solidFill>
                  <a:srgbClr val="1A1A1A"/>
                </a:solidFill>
              </a:rPr>
              <a:t>Input</a:t>
            </a:r>
          </a:p>
        </p:txBody>
      </p:sp>
      <p:sp>
        <p:nvSpPr>
          <p:cNvPr id="10" name="text">
            <a:extLst xmlns:a="http://schemas.openxmlformats.org/drawingml/2006/main">
              <a:ext uri="{FF2B5EF4-FFF2-40B4-BE49-F238E27FC236}">
                <a16:creationId xmlns:a16="http://schemas.microsoft.com/office/drawing/2014/main" id="{38CAC9A4-0021-4C53-90D7-5E3EB2616AD6}"/>
              </a:ext>
            </a:extLst>
          </p:cNvPr>
          <p:cNvSpPr>
            <a:spLocks xmlns:a="http://schemas.openxmlformats.org/drawingml/2006/main" noGrp="1"/>
          </p:cNvSpPr>
          <p:nvPr/>
        </p:nvSpPr>
        <p:spPr>
          <a:xfrm xmlns:a="http://schemas.openxmlformats.org/drawingml/2006/main">
            <a:off x="609600" y="2257425"/>
            <a:ext cx="33718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i="0">
                <a:solidFill>
                  <a:srgbClr val="5A5A5A"/>
                </a:solidFill>
              </a:defRPr>
            </a:pPr>
            <a:r>
              <a:rPr sz="1350" b="0" i="0">
                <a:solidFill>
                  <a:srgbClr val="5A5A5A"/>
                </a:solidFill>
              </a:rPr>
              <a:t>Historical explicit user–anime ratings on the original 1–10 scale. Missing pairs are unknown.</a:t>
            </a:r>
          </a:p>
        </p:txBody>
      </p:sp>
      <p:sp>
        <p:nvSpPr>
          <p:cNvPr id="11" name="rule">
            <a:extLst xmlns:a="http://schemas.openxmlformats.org/drawingml/2006/main">
              <a:ext uri="{FF2B5EF4-FFF2-40B4-BE49-F238E27FC236}">
                <a16:creationId xmlns:a16="http://schemas.microsoft.com/office/drawing/2014/main" id="{38F05994-5458-40CA-9895-CB11FB879B0E}"/>
              </a:ext>
            </a:extLst>
          </p:cNvPr>
          <p:cNvSpPr>
            <a:spLocks xmlns:a="http://schemas.openxmlformats.org/drawingml/2006/main" noGrp="1"/>
          </p:cNvSpPr>
          <p:nvPr/>
        </p:nvSpPr>
        <p:spPr>
          <a:xfrm xmlns:a="http://schemas.openxmlformats.org/drawingml/2006/main">
            <a:off x="4410075" y="1762125"/>
            <a:ext cx="3371850" cy="9525"/>
          </a:xfrm>
          <a:prstGeom xmlns:a="http://schemas.openxmlformats.org/drawingml/2006/main" prst="rect">
            <a:avLst/>
          </a:prstGeom>
          <a:solidFill xmlns:a="http://schemas.openxmlformats.org/drawingml/2006/main">
            <a:srgbClr val="1A1A1A"/>
          </a:solidFill>
          <a:ln xmlns:a="http://schemas.openxmlformats.org/drawingml/2006/main" w="9525">
            <a:solidFill>
              <a:srgbClr val="1A1A1A"/>
            </a:solidFill>
            <a:prstDash val="solid"/>
          </a:ln>
        </p:spPr>
      </p:sp>
      <p:sp>
        <p:nvSpPr>
          <p:cNvPr id="12" name="text">
            <a:extLst xmlns:a="http://schemas.openxmlformats.org/drawingml/2006/main">
              <a:ext uri="{FF2B5EF4-FFF2-40B4-BE49-F238E27FC236}">
                <a16:creationId xmlns:a16="http://schemas.microsoft.com/office/drawing/2014/main" id="{217BB289-6194-4912-A0A3-DC84E48B1CC4}"/>
              </a:ext>
            </a:extLst>
          </p:cNvPr>
          <p:cNvSpPr>
            <a:spLocks xmlns:a="http://schemas.openxmlformats.org/drawingml/2006/main" noGrp="1"/>
          </p:cNvSpPr>
          <p:nvPr/>
        </p:nvSpPr>
        <p:spPr>
          <a:xfrm xmlns:a="http://schemas.openxmlformats.org/drawingml/2006/main">
            <a:off x="4410075" y="1876425"/>
            <a:ext cx="3371850" cy="3352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i="0">
                <a:solidFill>
                  <a:srgbClr val="1A1A1A"/>
                </a:solidFill>
              </a:defRPr>
            </a:pPr>
            <a:r>
              <a:rPr sz="1650" b="0" i="0">
                <a:solidFill>
                  <a:srgbClr val="1A1A1A"/>
                </a:solidFill>
              </a:rPr>
              <a:t>Model task</a:t>
            </a:r>
          </a:p>
        </p:txBody>
      </p:sp>
      <p:sp>
        <p:nvSpPr>
          <p:cNvPr id="13" name="text">
            <a:extLst xmlns:a="http://schemas.openxmlformats.org/drawingml/2006/main">
              <a:ext uri="{FF2B5EF4-FFF2-40B4-BE49-F238E27FC236}">
                <a16:creationId xmlns:a16="http://schemas.microsoft.com/office/drawing/2014/main" id="{55901ED2-4C94-4D0C-B185-B98D35A7CEFA}"/>
              </a:ext>
            </a:extLst>
          </p:cNvPr>
          <p:cNvSpPr>
            <a:spLocks xmlns:a="http://schemas.openxmlformats.org/drawingml/2006/main" noGrp="1"/>
          </p:cNvSpPr>
          <p:nvPr/>
        </p:nvSpPr>
        <p:spPr>
          <a:xfrm xmlns:a="http://schemas.openxmlformats.org/drawingml/2006/main">
            <a:off x="4410075" y="2257425"/>
            <a:ext cx="33718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i="0">
                <a:solidFill>
                  <a:srgbClr val="5A5A5A"/>
                </a:solidFill>
              </a:defRPr>
            </a:pPr>
            <a:r>
              <a:rPr sz="1350" b="0" i="0">
                <a:solidFill>
                  <a:srgbClr val="5A5A5A"/>
                </a:solidFill>
              </a:rPr>
              <a:t>Estimate personal scores by learning shared patterns among observed user and anime ratings.</a:t>
            </a:r>
          </a:p>
        </p:txBody>
      </p:sp>
      <p:sp>
        <p:nvSpPr>
          <p:cNvPr id="14" name="rule">
            <a:extLst xmlns:a="http://schemas.openxmlformats.org/drawingml/2006/main">
              <a:ext uri="{FF2B5EF4-FFF2-40B4-BE49-F238E27FC236}">
                <a16:creationId xmlns:a16="http://schemas.microsoft.com/office/drawing/2014/main" id="{3C6F1B3C-1954-463C-A52F-EC3CD54B8263}"/>
              </a:ext>
            </a:extLst>
          </p:cNvPr>
          <p:cNvSpPr>
            <a:spLocks xmlns:a="http://schemas.openxmlformats.org/drawingml/2006/main" noGrp="1"/>
          </p:cNvSpPr>
          <p:nvPr/>
        </p:nvSpPr>
        <p:spPr>
          <a:xfrm xmlns:a="http://schemas.openxmlformats.org/drawingml/2006/main">
            <a:off x="8210550" y="1762125"/>
            <a:ext cx="3371850" cy="9525"/>
          </a:xfrm>
          <a:prstGeom xmlns:a="http://schemas.openxmlformats.org/drawingml/2006/main" prst="rect">
            <a:avLst/>
          </a:prstGeom>
          <a:solidFill xmlns:a="http://schemas.openxmlformats.org/drawingml/2006/main">
            <a:srgbClr val="1A1A1A"/>
          </a:solidFill>
          <a:ln xmlns:a="http://schemas.openxmlformats.org/drawingml/2006/main" w="9525">
            <a:solidFill>
              <a:srgbClr val="1A1A1A"/>
            </a:solidFill>
            <a:prstDash val="solid"/>
          </a:ln>
        </p:spPr>
      </p:sp>
      <p:sp>
        <p:nvSpPr>
          <p:cNvPr id="15" name="text">
            <a:extLst xmlns:a="http://schemas.openxmlformats.org/drawingml/2006/main">
              <a:ext uri="{FF2B5EF4-FFF2-40B4-BE49-F238E27FC236}">
                <a16:creationId xmlns:a16="http://schemas.microsoft.com/office/drawing/2014/main" id="{8F2DAFE9-794D-444A-8C85-954A7E2C1570}"/>
              </a:ext>
            </a:extLst>
          </p:cNvPr>
          <p:cNvSpPr>
            <a:spLocks xmlns:a="http://schemas.openxmlformats.org/drawingml/2006/main" noGrp="1"/>
          </p:cNvSpPr>
          <p:nvPr/>
        </p:nvSpPr>
        <p:spPr>
          <a:xfrm xmlns:a="http://schemas.openxmlformats.org/drawingml/2006/main">
            <a:off x="8210550" y="1876425"/>
            <a:ext cx="3371850" cy="3352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i="0">
                <a:solidFill>
                  <a:srgbClr val="1A1A1A"/>
                </a:solidFill>
              </a:defRPr>
            </a:pPr>
            <a:r>
              <a:rPr sz="1650" b="0" i="0">
                <a:solidFill>
                  <a:srgbClr val="1A1A1A"/>
                </a:solidFill>
              </a:rPr>
              <a:t>Output</a:t>
            </a:r>
          </a:p>
        </p:txBody>
      </p:sp>
      <p:sp>
        <p:nvSpPr>
          <p:cNvPr id="16" name="text">
            <a:extLst xmlns:a="http://schemas.openxmlformats.org/drawingml/2006/main">
              <a:ext uri="{FF2B5EF4-FFF2-40B4-BE49-F238E27FC236}">
                <a16:creationId xmlns:a16="http://schemas.microsoft.com/office/drawing/2014/main" id="{F8942EC2-1E96-46BE-B51A-87B2DE8A601D}"/>
              </a:ext>
            </a:extLst>
          </p:cNvPr>
          <p:cNvSpPr>
            <a:spLocks xmlns:a="http://schemas.openxmlformats.org/drawingml/2006/main" noGrp="1"/>
          </p:cNvSpPr>
          <p:nvPr/>
        </p:nvSpPr>
        <p:spPr>
          <a:xfrm xmlns:a="http://schemas.openxmlformats.org/drawingml/2006/main">
            <a:off x="8210550" y="2257425"/>
            <a:ext cx="33718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i="0">
                <a:solidFill>
                  <a:srgbClr val="5A5A5A"/>
                </a:solidFill>
              </a:defRPr>
            </a:pPr>
            <a:r>
              <a:rPr sz="1350" b="0" i="0">
                <a:solidFill>
                  <a:srgbClr val="5A5A5A"/>
                </a:solidFill>
              </a:rPr>
              <a:t>A personalized Top-10 list containing anime the selected user has not already rated.</a:t>
            </a:r>
          </a:p>
        </p:txBody>
      </p:sp>
      <p:sp>
        <p:nvSpPr>
          <p:cNvPr id="17" name="rule">
            <a:extLst xmlns:a="http://schemas.openxmlformats.org/drawingml/2006/main">
              <a:ext uri="{FF2B5EF4-FFF2-40B4-BE49-F238E27FC236}">
                <a16:creationId xmlns:a16="http://schemas.microsoft.com/office/drawing/2014/main" id="{E34EAB26-D68F-486C-B0E2-EA9F0C597BA1}"/>
              </a:ext>
            </a:extLst>
          </p:cNvPr>
          <p:cNvSpPr>
            <a:spLocks xmlns:a="http://schemas.openxmlformats.org/drawingml/2006/main" noGrp="1"/>
          </p:cNvSpPr>
          <p:nvPr/>
        </p:nvSpPr>
        <p:spPr>
          <a:xfrm xmlns:a="http://schemas.openxmlformats.org/drawingml/2006/main">
            <a:off x="609600" y="3714750"/>
            <a:ext cx="3371850" cy="9525"/>
          </a:xfrm>
          <a:prstGeom xmlns:a="http://schemas.openxmlformats.org/drawingml/2006/main" prst="rect">
            <a:avLst/>
          </a:prstGeom>
          <a:solidFill xmlns:a="http://schemas.openxmlformats.org/drawingml/2006/main">
            <a:srgbClr val="1A1A1A"/>
          </a:solidFill>
          <a:ln xmlns:a="http://schemas.openxmlformats.org/drawingml/2006/main" w="9525">
            <a:solidFill>
              <a:srgbClr val="1A1A1A"/>
            </a:solidFill>
            <a:prstDash val="solid"/>
          </a:ln>
        </p:spPr>
      </p:sp>
      <p:sp>
        <p:nvSpPr>
          <p:cNvPr id="18" name="text">
            <a:extLst xmlns:a="http://schemas.openxmlformats.org/drawingml/2006/main">
              <a:ext uri="{FF2B5EF4-FFF2-40B4-BE49-F238E27FC236}">
                <a16:creationId xmlns:a16="http://schemas.microsoft.com/office/drawing/2014/main" id="{EEA84678-BDDC-44B5-93C1-F3EB226A603A}"/>
              </a:ext>
            </a:extLst>
          </p:cNvPr>
          <p:cNvSpPr>
            <a:spLocks xmlns:a="http://schemas.openxmlformats.org/drawingml/2006/main" noGrp="1"/>
          </p:cNvSpPr>
          <p:nvPr/>
        </p:nvSpPr>
        <p:spPr>
          <a:xfrm xmlns:a="http://schemas.openxmlformats.org/drawingml/2006/main">
            <a:off x="609600" y="3829050"/>
            <a:ext cx="3371850" cy="39814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i="0">
                <a:solidFill>
                  <a:srgbClr val="1A1A1A"/>
                </a:solidFill>
              </a:defRPr>
            </a:pPr>
            <a:r>
              <a:rPr sz="1650" b="0" i="0">
                <a:solidFill>
                  <a:srgbClr val="1A1A1A"/>
                </a:solidFill>
              </a:rPr>
              <a:t>Objective 01</a:t>
            </a:r>
          </a:p>
        </p:txBody>
      </p:sp>
      <p:sp>
        <p:nvSpPr>
          <p:cNvPr id="19" name="text">
            <a:extLst xmlns:a="http://schemas.openxmlformats.org/drawingml/2006/main">
              <a:ext uri="{FF2B5EF4-FFF2-40B4-BE49-F238E27FC236}">
                <a16:creationId xmlns:a16="http://schemas.microsoft.com/office/drawing/2014/main" id="{ABF59D29-4A52-44B5-8347-7C871996DCF1}"/>
              </a:ext>
            </a:extLst>
          </p:cNvPr>
          <p:cNvSpPr>
            <a:spLocks xmlns:a="http://schemas.openxmlformats.org/drawingml/2006/main" noGrp="1"/>
          </p:cNvSpPr>
          <p:nvPr/>
        </p:nvSpPr>
        <p:spPr>
          <a:xfrm xmlns:a="http://schemas.openxmlformats.org/drawingml/2006/main">
            <a:off x="609600" y="4210050"/>
            <a:ext cx="3371850" cy="1285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i="0">
                <a:solidFill>
                  <a:srgbClr val="5A5A5A"/>
                </a:solidFill>
              </a:defRPr>
            </a:pPr>
            <a:r>
              <a:rPr sz="1350" b="0" i="0">
                <a:solidFill>
                  <a:srgbClr val="5A5A5A"/>
                </a:solidFill>
              </a:rPr>
              <a:t>Prepare an auditable explicit-rating dataset.</a:t>
            </a:r>
          </a:p>
        </p:txBody>
      </p:sp>
      <p:sp>
        <p:nvSpPr>
          <p:cNvPr id="20" name="rule">
            <a:extLst xmlns:a="http://schemas.openxmlformats.org/drawingml/2006/main">
              <a:ext uri="{FF2B5EF4-FFF2-40B4-BE49-F238E27FC236}">
                <a16:creationId xmlns:a16="http://schemas.microsoft.com/office/drawing/2014/main" id="{7CCD3923-2AC0-4425-BBD4-C14B0A64CB77}"/>
              </a:ext>
            </a:extLst>
          </p:cNvPr>
          <p:cNvSpPr>
            <a:spLocks xmlns:a="http://schemas.openxmlformats.org/drawingml/2006/main" noGrp="1"/>
          </p:cNvSpPr>
          <p:nvPr/>
        </p:nvSpPr>
        <p:spPr>
          <a:xfrm xmlns:a="http://schemas.openxmlformats.org/drawingml/2006/main">
            <a:off x="4410075" y="3714750"/>
            <a:ext cx="3371850" cy="9525"/>
          </a:xfrm>
          <a:prstGeom xmlns:a="http://schemas.openxmlformats.org/drawingml/2006/main" prst="rect">
            <a:avLst/>
          </a:prstGeom>
          <a:solidFill xmlns:a="http://schemas.openxmlformats.org/drawingml/2006/main">
            <a:srgbClr val="1A1A1A"/>
          </a:solidFill>
          <a:ln xmlns:a="http://schemas.openxmlformats.org/drawingml/2006/main" w="9525">
            <a:solidFill>
              <a:srgbClr val="1A1A1A"/>
            </a:solidFill>
            <a:prstDash val="solid"/>
          </a:ln>
        </p:spPr>
      </p:sp>
      <p:sp>
        <p:nvSpPr>
          <p:cNvPr id="21" name="text">
            <a:extLst xmlns:a="http://schemas.openxmlformats.org/drawingml/2006/main">
              <a:ext uri="{FF2B5EF4-FFF2-40B4-BE49-F238E27FC236}">
                <a16:creationId xmlns:a16="http://schemas.microsoft.com/office/drawing/2014/main" id="{0BACFF73-500A-4318-B86E-2CA88C8C6844}"/>
              </a:ext>
            </a:extLst>
          </p:cNvPr>
          <p:cNvSpPr>
            <a:spLocks xmlns:a="http://schemas.openxmlformats.org/drawingml/2006/main" noGrp="1"/>
          </p:cNvSpPr>
          <p:nvPr/>
        </p:nvSpPr>
        <p:spPr>
          <a:xfrm xmlns:a="http://schemas.openxmlformats.org/drawingml/2006/main">
            <a:off x="4410075" y="3829050"/>
            <a:ext cx="3371850" cy="39814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i="0">
                <a:solidFill>
                  <a:srgbClr val="1A1A1A"/>
                </a:solidFill>
              </a:defRPr>
            </a:pPr>
            <a:r>
              <a:rPr sz="1650" b="0" i="0">
                <a:solidFill>
                  <a:srgbClr val="1A1A1A"/>
                </a:solidFill>
              </a:rPr>
              <a:t>Objective 02</a:t>
            </a:r>
          </a:p>
        </p:txBody>
      </p:sp>
      <p:sp>
        <p:nvSpPr>
          <p:cNvPr id="22" name="text">
            <a:extLst xmlns:a="http://schemas.openxmlformats.org/drawingml/2006/main">
              <a:ext uri="{FF2B5EF4-FFF2-40B4-BE49-F238E27FC236}">
                <a16:creationId xmlns:a16="http://schemas.microsoft.com/office/drawing/2014/main" id="{EF7EF029-8A09-4C2C-8508-B4D644E015FE}"/>
              </a:ext>
            </a:extLst>
          </p:cNvPr>
          <p:cNvSpPr>
            <a:spLocks xmlns:a="http://schemas.openxmlformats.org/drawingml/2006/main" noGrp="1"/>
          </p:cNvSpPr>
          <p:nvPr/>
        </p:nvSpPr>
        <p:spPr>
          <a:xfrm xmlns:a="http://schemas.openxmlformats.org/drawingml/2006/main">
            <a:off x="4410075" y="4210050"/>
            <a:ext cx="3371850" cy="1285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i="0">
                <a:solidFill>
                  <a:srgbClr val="5A5A5A"/>
                </a:solidFill>
              </a:defRPr>
            </a:pPr>
            <a:r>
              <a:rPr sz="1350" b="0" i="0">
                <a:solidFill>
                  <a:srgbClr val="5A5A5A"/>
                </a:solidFill>
              </a:rPr>
              <a:t>Predict held-out ratings using RMSE and MAE.</a:t>
            </a:r>
          </a:p>
        </p:txBody>
      </p:sp>
      <p:sp>
        <p:nvSpPr>
          <p:cNvPr id="23" name="rule">
            <a:extLst xmlns:a="http://schemas.openxmlformats.org/drawingml/2006/main">
              <a:ext uri="{FF2B5EF4-FFF2-40B4-BE49-F238E27FC236}">
                <a16:creationId xmlns:a16="http://schemas.microsoft.com/office/drawing/2014/main" id="{9A5459FE-6A28-4C2A-AA79-8F1EBF85D7CD}"/>
              </a:ext>
            </a:extLst>
          </p:cNvPr>
          <p:cNvSpPr>
            <a:spLocks xmlns:a="http://schemas.openxmlformats.org/drawingml/2006/main" noGrp="1"/>
          </p:cNvSpPr>
          <p:nvPr/>
        </p:nvSpPr>
        <p:spPr>
          <a:xfrm xmlns:a="http://schemas.openxmlformats.org/drawingml/2006/main">
            <a:off x="8210550" y="3714750"/>
            <a:ext cx="3371850" cy="9525"/>
          </a:xfrm>
          <a:prstGeom xmlns:a="http://schemas.openxmlformats.org/drawingml/2006/main" prst="rect">
            <a:avLst/>
          </a:prstGeom>
          <a:solidFill xmlns:a="http://schemas.openxmlformats.org/drawingml/2006/main">
            <a:srgbClr val="1A1A1A"/>
          </a:solidFill>
          <a:ln xmlns:a="http://schemas.openxmlformats.org/drawingml/2006/main" w="9525">
            <a:solidFill>
              <a:srgbClr val="1A1A1A"/>
            </a:solidFill>
            <a:prstDash val="solid"/>
          </a:ln>
        </p:spPr>
      </p:sp>
      <p:sp>
        <p:nvSpPr>
          <p:cNvPr id="24" name="text">
            <a:extLst xmlns:a="http://schemas.openxmlformats.org/drawingml/2006/main">
              <a:ext uri="{FF2B5EF4-FFF2-40B4-BE49-F238E27FC236}">
                <a16:creationId xmlns:a16="http://schemas.microsoft.com/office/drawing/2014/main" id="{1B4BA320-44A6-41C2-97EB-78197AB14D86}"/>
              </a:ext>
            </a:extLst>
          </p:cNvPr>
          <p:cNvSpPr>
            <a:spLocks xmlns:a="http://schemas.openxmlformats.org/drawingml/2006/main" noGrp="1"/>
          </p:cNvSpPr>
          <p:nvPr/>
        </p:nvSpPr>
        <p:spPr>
          <a:xfrm xmlns:a="http://schemas.openxmlformats.org/drawingml/2006/main">
            <a:off x="8210550" y="3829050"/>
            <a:ext cx="3371850" cy="39814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i="0">
                <a:solidFill>
                  <a:srgbClr val="1A1A1A"/>
                </a:solidFill>
              </a:defRPr>
            </a:pPr>
            <a:r>
              <a:rPr sz="1650" b="0" i="0">
                <a:solidFill>
                  <a:srgbClr val="1A1A1A"/>
                </a:solidFill>
              </a:rPr>
              <a:t>Objective 03</a:t>
            </a:r>
          </a:p>
        </p:txBody>
      </p:sp>
      <p:sp>
        <p:nvSpPr>
          <p:cNvPr id="25" name="text">
            <a:extLst xmlns:a="http://schemas.openxmlformats.org/drawingml/2006/main">
              <a:ext uri="{FF2B5EF4-FFF2-40B4-BE49-F238E27FC236}">
                <a16:creationId xmlns:a16="http://schemas.microsoft.com/office/drawing/2014/main" id="{AC5059BF-09EA-4798-91E1-E70FC654FD5C}"/>
              </a:ext>
            </a:extLst>
          </p:cNvPr>
          <p:cNvSpPr>
            <a:spLocks xmlns:a="http://schemas.openxmlformats.org/drawingml/2006/main" noGrp="1"/>
          </p:cNvSpPr>
          <p:nvPr/>
        </p:nvSpPr>
        <p:spPr>
          <a:xfrm xmlns:a="http://schemas.openxmlformats.org/drawingml/2006/main">
            <a:off x="8210550" y="4210050"/>
            <a:ext cx="3371850" cy="1285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i="0">
                <a:solidFill>
                  <a:srgbClr val="5A5A5A"/>
                </a:solidFill>
              </a:defRPr>
            </a:pPr>
            <a:r>
              <a:rPr sz="1350" b="0" i="0">
                <a:solidFill>
                  <a:srgbClr val="5A5A5A"/>
                </a:solidFill>
              </a:rPr>
              <a:t>Retrieve highly rated held-out items using Precision@10 and Recall@10.</a:t>
            </a:r>
          </a:p>
        </p:txBody>
      </p:sp>
    </p:spTree>
    <p:extLst>
      <p:ext uri="{BB962C8B-B14F-4D97-AF65-F5344CB8AC3E}">
        <p14:creationId xmlns:p14="http://schemas.microsoft.com/office/powerpoint/2010/main" val="487971839"/>
      </p:ext>
    </p:extLst>
  </p:cSld>
</p:sld>
</file>

<file path=ppt/slides/slide3.xml><?xml version="1.0" encoding="utf-8"?>
<p:sld xmlns:p="http://schemas.openxmlformats.org/presentationml/2006/main">
  <p:cSld>
    <p:bg>
      <p:bgPr>
        <a:solidFill xmlns:a="http://schemas.openxmlformats.org/drawingml/2006/main">
          <a:srgbClr val="EDE8E0"/>
        </a:solidFill>
      </p:bgPr>
    </p:bg>
    <p:spTree>
      <p:nvGrpSpPr>
        <p:cNvPr id="1" name=""/>
        <p:cNvGrpSpPr/>
        <p:nvPr/>
      </p:nvGrpSpPr>
      <p:grpSpPr>
        <a:xfrm xmlns:a="http://schemas.openxmlformats.org/drawingml/2006/main"/>
      </p:grpSpPr>
      <p:sp>
        <p:nvSpPr>
          <p:cNvPr id="31" name="outer-ring">
            <a:extLst xmlns:a="http://schemas.openxmlformats.org/drawingml/2006/main">
              <a:ext uri="{FF2B5EF4-FFF2-40B4-BE49-F238E27FC236}">
                <a16:creationId xmlns:a16="http://schemas.microsoft.com/office/drawing/2014/main" id="{9460EAB5-4541-41D8-BA00-FA14EAD7BD2E}"/>
              </a:ext>
            </a:extLst>
          </p:cNvPr>
          <p:cNvSpPr>
            <a:spLocks xmlns:a="http://schemas.openxmlformats.org/drawingml/2006/main" noGrp="1"/>
          </p:cNvSpPr>
          <p:nvPr/>
        </p:nvSpPr>
        <p:spPr>
          <a:xfrm xmlns:a="http://schemas.openxmlformats.org/drawingml/2006/main">
            <a:off x="9620250" y="-1143000"/>
            <a:ext cx="3714750" cy="3714750"/>
          </a:xfrm>
          <a:prstGeom xmlns:a="http://schemas.openxmlformats.org/drawingml/2006/main" prst="rect">
            <a:avLst/>
          </a:prstGeom>
          <a:noFill xmlns:a="http://schemas.openxmlformats.org/drawingml/2006/main"/>
          <a:ln xmlns:a="http://schemas.openxmlformats.org/drawingml/2006/main" w="9525">
            <a:solidFill>
              <a:srgbClr val="B8B0A4"/>
            </a:solidFill>
            <a:prstDash val="solid"/>
          </a:ln>
        </p:spPr>
      </p:sp>
      <p:sp>
        <p:nvSpPr>
          <p:cNvPr id="2" name="inner-ring">
            <a:extLst xmlns:a="http://schemas.openxmlformats.org/drawingml/2006/main">
              <a:ext uri="{FF2B5EF4-FFF2-40B4-BE49-F238E27FC236}">
                <a16:creationId xmlns:a16="http://schemas.microsoft.com/office/drawing/2014/main" id="{94F7529B-2D83-4530-B090-EA3E1569D583}"/>
              </a:ext>
            </a:extLst>
          </p:cNvPr>
          <p:cNvSpPr>
            <a:spLocks xmlns:a="http://schemas.openxmlformats.org/drawingml/2006/main" noGrp="1"/>
          </p:cNvSpPr>
          <p:nvPr/>
        </p:nvSpPr>
        <p:spPr>
          <a:xfrm xmlns:a="http://schemas.openxmlformats.org/drawingml/2006/main">
            <a:off x="10191750" y="-571500"/>
            <a:ext cx="2571750" cy="2571750"/>
          </a:xfrm>
          <a:prstGeom xmlns:a="http://schemas.openxmlformats.org/drawingml/2006/main" prst="rect">
            <a:avLst/>
          </a:prstGeom>
          <a:noFill xmlns:a="http://schemas.openxmlformats.org/drawingml/2006/main"/>
          <a:ln xmlns:a="http://schemas.openxmlformats.org/drawingml/2006/main" w="9525">
            <a:solidFill>
              <a:srgbClr val="B8B0A4"/>
            </a:solidFill>
            <a:prstDash val="solid"/>
          </a:ln>
        </p:spPr>
      </p:sp>
      <p:sp>
        <p:nvSpPr>
          <p:cNvPr id="3" name="eyebrow">
            <a:extLst xmlns:a="http://schemas.openxmlformats.org/drawingml/2006/main">
              <a:ext uri="{FF2B5EF4-FFF2-40B4-BE49-F238E27FC236}">
                <a16:creationId xmlns:a16="http://schemas.microsoft.com/office/drawing/2014/main" id="{18D89F38-31C7-490A-8987-87EE54186AEF}"/>
              </a:ext>
            </a:extLst>
          </p:cNvPr>
          <p:cNvSpPr>
            <a:spLocks xmlns:a="http://schemas.openxmlformats.org/drawingml/2006/main" noGrp="1"/>
          </p:cNvSpPr>
          <p:nvPr/>
        </p:nvSpPr>
        <p:spPr>
          <a:xfrm xmlns:a="http://schemas.openxmlformats.org/drawingml/2006/main">
            <a:off x="609600" y="4000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i="0">
                <a:solidFill>
                  <a:srgbClr val="8A8178"/>
                </a:solidFill>
              </a:defRPr>
            </a:pPr>
            <a:r>
              <a:rPr sz="975" b="1" i="0">
                <a:solidFill>
                  <a:srgbClr val="8A8178"/>
                </a:solidFill>
              </a:rPr>
              <a:t>DATASET</a:t>
            </a:r>
          </a:p>
        </p:txBody>
      </p:sp>
      <p:sp>
        <p:nvSpPr>
          <p:cNvPr id="4" name="title">
            <a:extLst xmlns:a="http://schemas.openxmlformats.org/drawingml/2006/main">
              <a:ext uri="{FF2B5EF4-FFF2-40B4-BE49-F238E27FC236}">
                <a16:creationId xmlns:a16="http://schemas.microsoft.com/office/drawing/2014/main" id="{E6C92B6C-9371-4AD5-8A70-A1E9C1D0F7BA}"/>
              </a:ext>
            </a:extLst>
          </p:cNvPr>
          <p:cNvSpPr>
            <a:spLocks xmlns:a="http://schemas.openxmlformats.org/drawingml/2006/main" noGrp="1"/>
          </p:cNvSpPr>
          <p:nvPr/>
        </p:nvSpPr>
        <p:spPr>
          <a:xfrm xmlns:a="http://schemas.openxmlformats.org/drawingml/2006/main">
            <a:off x="609600" y="723900"/>
            <a:ext cx="10668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150" b="0" i="0">
                <a:solidFill>
                  <a:srgbClr val="1A1A1A"/>
                </a:solidFill>
              </a:defRPr>
            </a:pPr>
            <a:r>
              <a:rPr sz="3150" b="0" i="0">
                <a:solidFill>
                  <a:srgbClr val="1A1A1A"/>
                </a:solidFill>
              </a:rPr>
              <a:t>Personal ratings train SVD; metadata labels its output</a:t>
            </a:r>
          </a:p>
        </p:txBody>
      </p:sp>
      <p:sp>
        <p:nvSpPr>
          <p:cNvPr id="5" name="rule">
            <a:extLst xmlns:a="http://schemas.openxmlformats.org/drawingml/2006/main">
              <a:ext uri="{FF2B5EF4-FFF2-40B4-BE49-F238E27FC236}">
                <a16:creationId xmlns:a16="http://schemas.microsoft.com/office/drawing/2014/main" id="{6A757695-BF96-44D3-8E96-17F72133B7B8}"/>
              </a:ext>
            </a:extLst>
          </p:cNvPr>
          <p:cNvSpPr>
            <a:spLocks xmlns:a="http://schemas.openxmlformats.org/drawingml/2006/main" noGrp="1"/>
          </p:cNvSpPr>
          <p:nvPr/>
        </p:nvSpPr>
        <p:spPr>
          <a:xfrm xmlns:a="http://schemas.openxmlformats.org/drawingml/2006/main">
            <a:off x="609600" y="6429375"/>
            <a:ext cx="10972800" cy="9525"/>
          </a:xfrm>
          <a:prstGeom xmlns:a="http://schemas.openxmlformats.org/drawingml/2006/main" prst="rect">
            <a:avLst/>
          </a:prstGeom>
          <a:solidFill xmlns:a="http://schemas.openxmlformats.org/drawingml/2006/main">
            <a:srgbClr val="B8B0A4"/>
          </a:solidFill>
          <a:ln xmlns:a="http://schemas.openxmlformats.org/drawingml/2006/main" w="9525">
            <a:solidFill>
              <a:srgbClr val="B8B0A4"/>
            </a:solidFill>
            <a:prstDash val="solid"/>
          </a:ln>
        </p:spPr>
      </p:sp>
      <p:sp>
        <p:nvSpPr>
          <p:cNvPr id="6" name="text">
            <a:extLst xmlns:a="http://schemas.openxmlformats.org/drawingml/2006/main">
              <a:ext uri="{FF2B5EF4-FFF2-40B4-BE49-F238E27FC236}">
                <a16:creationId xmlns:a16="http://schemas.microsoft.com/office/drawing/2014/main" id="{7091875D-A3A4-45A1-92D1-DB311806FF68}"/>
              </a:ext>
            </a:extLst>
          </p:cNvPr>
          <p:cNvSpPr>
            <a:spLocks xmlns:a="http://schemas.openxmlformats.org/drawingml/2006/main" noGrp="1"/>
          </p:cNvSpPr>
          <p:nvPr/>
        </p:nvSpPr>
        <p:spPr>
          <a:xfrm xmlns:a="http://schemas.openxmlformats.org/drawingml/2006/main">
            <a:off x="609600" y="652462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1" i="0">
                <a:solidFill>
                  <a:srgbClr val="8A8178"/>
                </a:solidFill>
              </a:defRPr>
            </a:pPr>
            <a:r>
              <a:rPr sz="750" b="1" i="0">
                <a:solidFill>
                  <a:srgbClr val="8A8178"/>
                </a:solidFill>
              </a:rPr>
              <a:t>GROUP 14 · DUY TAN UNIVERSITY, DA NANG</a:t>
            </a:r>
          </a:p>
        </p:txBody>
      </p:sp>
      <p:sp>
        <p:nvSpPr>
          <p:cNvPr id="7" name="text">
            <a:extLst xmlns:a="http://schemas.openxmlformats.org/drawingml/2006/main">
              <a:ext uri="{FF2B5EF4-FFF2-40B4-BE49-F238E27FC236}">
                <a16:creationId xmlns:a16="http://schemas.microsoft.com/office/drawing/2014/main" id="{431DD365-6F5E-4884-A41B-3396BD115EFB}"/>
              </a:ext>
            </a:extLst>
          </p:cNvPr>
          <p:cNvSpPr>
            <a:spLocks xmlns:a="http://schemas.openxmlformats.org/drawingml/2006/main" noGrp="1"/>
          </p:cNvSpPr>
          <p:nvPr/>
        </p:nvSpPr>
        <p:spPr>
          <a:xfrm xmlns:a="http://schemas.openxmlformats.org/drawingml/2006/main">
            <a:off x="11144250" y="65246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750" b="0" i="0">
                <a:solidFill>
                  <a:srgbClr val="8A8178"/>
                </a:solidFill>
              </a:defRPr>
            </a:pPr>
            <a:r>
              <a:rPr sz="750" b="0" i="0">
                <a:solidFill>
                  <a:srgbClr val="8A8178"/>
                </a:solidFill>
              </a:rPr>
              <a:t>03</a:t>
            </a:r>
          </a:p>
        </p:txBody>
      </p:sp>
      <p:sp>
        <p:nvSpPr>
          <p:cNvPr id="8" name="text">
            <a:extLst xmlns:a="http://schemas.openxmlformats.org/drawingml/2006/main">
              <a:ext uri="{FF2B5EF4-FFF2-40B4-BE49-F238E27FC236}">
                <a16:creationId xmlns:a16="http://schemas.microsoft.com/office/drawing/2014/main" id="{E66C3723-A035-45D1-8872-B87EABAC31AE}"/>
              </a:ext>
            </a:extLst>
          </p:cNvPr>
          <p:cNvSpPr>
            <a:spLocks xmlns:a="http://schemas.openxmlformats.org/drawingml/2006/main" noGrp="1"/>
          </p:cNvSpPr>
          <p:nvPr/>
        </p:nvSpPr>
        <p:spPr>
          <a:xfrm xmlns:a="http://schemas.openxmlformats.org/drawingml/2006/main">
            <a:off x="609600" y="15049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i="0">
                <a:solidFill>
                  <a:srgbClr val="5A5A5A"/>
                </a:solidFill>
              </a:defRPr>
            </a:pPr>
            <a:r>
              <a:rPr sz="1350" b="0" i="0">
                <a:solidFill>
                  <a:srgbClr val="5A5A5A"/>
                </a:solidFill>
              </a:rPr>
              <a:t>Source: CooperUnion’s Anime Recommendations Database (Kaggle, 2016).</a:t>
            </a:r>
          </a:p>
        </p:txBody>
      </p:sp>
      <p:sp>
        <p:nvSpPr>
          <p:cNvPr id="9" name="text">
            <a:extLst xmlns:a="http://schemas.openxmlformats.org/drawingml/2006/main">
              <a:ext uri="{FF2B5EF4-FFF2-40B4-BE49-F238E27FC236}">
                <a16:creationId xmlns:a16="http://schemas.microsoft.com/office/drawing/2014/main" id="{FD6461D5-FE1C-49FE-8C25-F70FB80E9A8B}"/>
              </a:ext>
            </a:extLst>
          </p:cNvPr>
          <p:cNvSpPr>
            <a:spLocks xmlns:a="http://schemas.openxmlformats.org/drawingml/2006/main" noGrp="1"/>
          </p:cNvSpPr>
          <p:nvPr/>
        </p:nvSpPr>
        <p:spPr>
          <a:xfrm xmlns:a="http://schemas.openxmlformats.org/drawingml/2006/main">
            <a:off x="666750" y="1952625"/>
            <a:ext cx="1641348"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i="0">
                <a:solidFill>
                  <a:srgbClr val="8A8178"/>
                </a:solidFill>
              </a:defRPr>
            </a:pPr>
            <a:r>
              <a:rPr sz="900" b="1" i="0">
                <a:solidFill>
                  <a:srgbClr val="8A8178"/>
                </a:solidFill>
              </a:rPr>
              <a:t>FILE</a:t>
            </a:r>
          </a:p>
        </p:txBody>
      </p:sp>
      <p:sp>
        <p:nvSpPr>
          <p:cNvPr id="10" name="text">
            <a:extLst xmlns:a="http://schemas.openxmlformats.org/drawingml/2006/main">
              <a:ext uri="{FF2B5EF4-FFF2-40B4-BE49-F238E27FC236}">
                <a16:creationId xmlns:a16="http://schemas.microsoft.com/office/drawing/2014/main" id="{B4218D47-C3C4-4B7F-AE57-82CFFB5776C2}"/>
              </a:ext>
            </a:extLst>
          </p:cNvPr>
          <p:cNvSpPr>
            <a:spLocks xmlns:a="http://schemas.openxmlformats.org/drawingml/2006/main" noGrp="1"/>
          </p:cNvSpPr>
          <p:nvPr/>
        </p:nvSpPr>
        <p:spPr>
          <a:xfrm xmlns:a="http://schemas.openxmlformats.org/drawingml/2006/main">
            <a:off x="2422398" y="1952625"/>
            <a:ext cx="1421892"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1" i="0">
                <a:solidFill>
                  <a:srgbClr val="8A8178"/>
                </a:solidFill>
              </a:defRPr>
            </a:pPr>
            <a:r>
              <a:rPr sz="900" b="1" i="0">
                <a:solidFill>
                  <a:srgbClr val="8A8178"/>
                </a:solidFill>
              </a:rPr>
              <a:t>ROWS</a:t>
            </a:r>
          </a:p>
        </p:txBody>
      </p:sp>
      <p:sp>
        <p:nvSpPr>
          <p:cNvPr id="11" name="text">
            <a:extLst xmlns:a="http://schemas.openxmlformats.org/drawingml/2006/main">
              <a:ext uri="{FF2B5EF4-FFF2-40B4-BE49-F238E27FC236}">
                <a16:creationId xmlns:a16="http://schemas.microsoft.com/office/drawing/2014/main" id="{6B725209-4081-422B-8A5F-6758346E4667}"/>
              </a:ext>
            </a:extLst>
          </p:cNvPr>
          <p:cNvSpPr>
            <a:spLocks xmlns:a="http://schemas.openxmlformats.org/drawingml/2006/main" noGrp="1"/>
          </p:cNvSpPr>
          <p:nvPr/>
        </p:nvSpPr>
        <p:spPr>
          <a:xfrm xmlns:a="http://schemas.openxmlformats.org/drawingml/2006/main">
            <a:off x="3958590" y="1952625"/>
            <a:ext cx="3396996"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i="0">
                <a:solidFill>
                  <a:srgbClr val="8A8178"/>
                </a:solidFill>
              </a:defRPr>
            </a:pPr>
            <a:r>
              <a:rPr sz="900" b="1" i="0">
                <a:solidFill>
                  <a:srgbClr val="8A8178"/>
                </a:solidFill>
              </a:rPr>
              <a:t>FIELDS</a:t>
            </a:r>
          </a:p>
        </p:txBody>
      </p:sp>
      <p:sp>
        <p:nvSpPr>
          <p:cNvPr id="12" name="text">
            <a:extLst xmlns:a="http://schemas.openxmlformats.org/drawingml/2006/main">
              <a:ext uri="{FF2B5EF4-FFF2-40B4-BE49-F238E27FC236}">
                <a16:creationId xmlns:a16="http://schemas.microsoft.com/office/drawing/2014/main" id="{5C5D3906-F808-4E13-A2FC-CE30BDCB63FC}"/>
              </a:ext>
            </a:extLst>
          </p:cNvPr>
          <p:cNvSpPr>
            <a:spLocks xmlns:a="http://schemas.openxmlformats.org/drawingml/2006/main" noGrp="1"/>
          </p:cNvSpPr>
          <p:nvPr/>
        </p:nvSpPr>
        <p:spPr>
          <a:xfrm xmlns:a="http://schemas.openxmlformats.org/drawingml/2006/main">
            <a:off x="7469886" y="1952625"/>
            <a:ext cx="4055364"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i="0">
                <a:solidFill>
                  <a:srgbClr val="8A8178"/>
                </a:solidFill>
              </a:defRPr>
            </a:pPr>
            <a:r>
              <a:rPr sz="900" b="1" i="0">
                <a:solidFill>
                  <a:srgbClr val="8A8178"/>
                </a:solidFill>
              </a:rPr>
              <a:t>ROLE</a:t>
            </a:r>
          </a:p>
        </p:txBody>
      </p:sp>
      <p:sp>
        <p:nvSpPr>
          <p:cNvPr id="13" name="rule">
            <a:extLst xmlns:a="http://schemas.openxmlformats.org/drawingml/2006/main">
              <a:ext uri="{FF2B5EF4-FFF2-40B4-BE49-F238E27FC236}">
                <a16:creationId xmlns:a16="http://schemas.microsoft.com/office/drawing/2014/main" id="{057FD025-ABC2-46BB-9929-A08C47759DEF}"/>
              </a:ext>
            </a:extLst>
          </p:cNvPr>
          <p:cNvSpPr>
            <a:spLocks xmlns:a="http://schemas.openxmlformats.org/drawingml/2006/main" noGrp="1"/>
          </p:cNvSpPr>
          <p:nvPr/>
        </p:nvSpPr>
        <p:spPr>
          <a:xfrm xmlns:a="http://schemas.openxmlformats.org/drawingml/2006/main">
            <a:off x="609600" y="2486025"/>
            <a:ext cx="10972800" cy="9525"/>
          </a:xfrm>
          <a:prstGeom xmlns:a="http://schemas.openxmlformats.org/drawingml/2006/main" prst="rect">
            <a:avLst/>
          </a:prstGeom>
          <a:solidFill xmlns:a="http://schemas.openxmlformats.org/drawingml/2006/main">
            <a:srgbClr val="1A1A1A"/>
          </a:solidFill>
          <a:ln xmlns:a="http://schemas.openxmlformats.org/drawingml/2006/main" w="9525">
            <a:solidFill>
              <a:srgbClr val="1A1A1A"/>
            </a:solidFill>
            <a:prstDash val="solid"/>
          </a:ln>
        </p:spPr>
      </p:sp>
      <p:sp>
        <p:nvSpPr>
          <p:cNvPr id="14" name="text">
            <a:extLst xmlns:a="http://schemas.openxmlformats.org/drawingml/2006/main">
              <a:ext uri="{FF2B5EF4-FFF2-40B4-BE49-F238E27FC236}">
                <a16:creationId xmlns:a16="http://schemas.microsoft.com/office/drawing/2014/main" id="{24855D07-EE7A-4123-B468-620D6A0901D9}"/>
              </a:ext>
            </a:extLst>
          </p:cNvPr>
          <p:cNvSpPr>
            <a:spLocks xmlns:a="http://schemas.openxmlformats.org/drawingml/2006/main" noGrp="1"/>
          </p:cNvSpPr>
          <p:nvPr/>
        </p:nvSpPr>
        <p:spPr>
          <a:xfrm xmlns:a="http://schemas.openxmlformats.org/drawingml/2006/main">
            <a:off x="666750" y="2552700"/>
            <a:ext cx="1641348"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i="0">
                <a:solidFill>
                  <a:srgbClr val="1A1A1A"/>
                </a:solidFill>
              </a:defRPr>
            </a:pPr>
            <a:r>
              <a:rPr sz="1200" b="1" i="0">
                <a:solidFill>
                  <a:srgbClr val="1A1A1A"/>
                </a:solidFill>
              </a:rPr>
              <a:t>rating.csv</a:t>
            </a:r>
          </a:p>
        </p:txBody>
      </p:sp>
      <p:sp>
        <p:nvSpPr>
          <p:cNvPr id="15" name="text">
            <a:extLst xmlns:a="http://schemas.openxmlformats.org/drawingml/2006/main">
              <a:ext uri="{FF2B5EF4-FFF2-40B4-BE49-F238E27FC236}">
                <a16:creationId xmlns:a16="http://schemas.microsoft.com/office/drawing/2014/main" id="{A877AA4C-A91D-40EF-964B-47B1EA029CC8}"/>
              </a:ext>
            </a:extLst>
          </p:cNvPr>
          <p:cNvSpPr>
            <a:spLocks xmlns:a="http://schemas.openxmlformats.org/drawingml/2006/main" noGrp="1"/>
          </p:cNvSpPr>
          <p:nvPr/>
        </p:nvSpPr>
        <p:spPr>
          <a:xfrm xmlns:a="http://schemas.openxmlformats.org/drawingml/2006/main">
            <a:off x="2422398" y="2552700"/>
            <a:ext cx="1421892"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200" b="0" i="0">
                <a:solidFill>
                  <a:srgbClr val="5A5A5A"/>
                </a:solidFill>
              </a:defRPr>
            </a:pPr>
            <a:r>
              <a:rPr sz="1200" b="0" i="0">
                <a:solidFill>
                  <a:srgbClr val="5A5A5A"/>
                </a:solidFill>
              </a:rPr>
              <a:t>7,813,737</a:t>
            </a:r>
          </a:p>
        </p:txBody>
      </p:sp>
      <p:sp>
        <p:nvSpPr>
          <p:cNvPr id="16" name="text">
            <a:extLst xmlns:a="http://schemas.openxmlformats.org/drawingml/2006/main">
              <a:ext uri="{FF2B5EF4-FFF2-40B4-BE49-F238E27FC236}">
                <a16:creationId xmlns:a16="http://schemas.microsoft.com/office/drawing/2014/main" id="{9AFB0461-6E12-47A0-BDEC-55099926B202}"/>
              </a:ext>
            </a:extLst>
          </p:cNvPr>
          <p:cNvSpPr>
            <a:spLocks xmlns:a="http://schemas.openxmlformats.org/drawingml/2006/main" noGrp="1"/>
          </p:cNvSpPr>
          <p:nvPr/>
        </p:nvSpPr>
        <p:spPr>
          <a:xfrm xmlns:a="http://schemas.openxmlformats.org/drawingml/2006/main">
            <a:off x="3958590" y="2552700"/>
            <a:ext cx="3396996"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0" i="0">
                <a:solidFill>
                  <a:srgbClr val="5A5A5A"/>
                </a:solidFill>
              </a:defRPr>
            </a:pPr>
            <a:r>
              <a:rPr sz="1200" b="0" i="0">
                <a:solidFill>
                  <a:srgbClr val="5A5A5A"/>
                </a:solidFill>
              </a:rPr>
              <a:t>user_id · anime_id · rating</a:t>
            </a:r>
          </a:p>
        </p:txBody>
      </p:sp>
      <p:sp>
        <p:nvSpPr>
          <p:cNvPr id="17" name="text">
            <a:extLst xmlns:a="http://schemas.openxmlformats.org/drawingml/2006/main">
              <a:ext uri="{FF2B5EF4-FFF2-40B4-BE49-F238E27FC236}">
                <a16:creationId xmlns:a16="http://schemas.microsoft.com/office/drawing/2014/main" id="{20800CA4-ACD7-42FD-8CB0-1FC700FAA876}"/>
              </a:ext>
            </a:extLst>
          </p:cNvPr>
          <p:cNvSpPr>
            <a:spLocks xmlns:a="http://schemas.openxmlformats.org/drawingml/2006/main" noGrp="1"/>
          </p:cNvSpPr>
          <p:nvPr/>
        </p:nvSpPr>
        <p:spPr>
          <a:xfrm xmlns:a="http://schemas.openxmlformats.org/drawingml/2006/main">
            <a:off x="7469886" y="2552700"/>
            <a:ext cx="4055364"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0" i="0">
                <a:solidFill>
                  <a:srgbClr val="5A5A5A"/>
                </a:solidFill>
              </a:defRPr>
            </a:pPr>
            <a:r>
              <a:rPr sz="1200" b="0" i="0">
                <a:solidFill>
                  <a:srgbClr val="5A5A5A"/>
                </a:solidFill>
              </a:rPr>
              <a:t>Learning signal after semantic cleaning</a:t>
            </a:r>
          </a:p>
        </p:txBody>
      </p:sp>
      <p:sp>
        <p:nvSpPr>
          <p:cNvPr id="18" name="rule">
            <a:extLst xmlns:a="http://schemas.openxmlformats.org/drawingml/2006/main">
              <a:ext uri="{FF2B5EF4-FFF2-40B4-BE49-F238E27FC236}">
                <a16:creationId xmlns:a16="http://schemas.microsoft.com/office/drawing/2014/main" id="{928707BF-1FD9-41BA-8541-4915EB273E2A}"/>
              </a:ext>
            </a:extLst>
          </p:cNvPr>
          <p:cNvSpPr>
            <a:spLocks xmlns:a="http://schemas.openxmlformats.org/drawingml/2006/main" noGrp="1"/>
          </p:cNvSpPr>
          <p:nvPr/>
        </p:nvSpPr>
        <p:spPr>
          <a:xfrm xmlns:a="http://schemas.openxmlformats.org/drawingml/2006/main">
            <a:off x="609600" y="3019425"/>
            <a:ext cx="10972800" cy="9525"/>
          </a:xfrm>
          <a:prstGeom xmlns:a="http://schemas.openxmlformats.org/drawingml/2006/main" prst="rect">
            <a:avLst/>
          </a:prstGeom>
          <a:solidFill xmlns:a="http://schemas.openxmlformats.org/drawingml/2006/main">
            <a:srgbClr val="B8B0A4"/>
          </a:solidFill>
          <a:ln xmlns:a="http://schemas.openxmlformats.org/drawingml/2006/main" w="9525">
            <a:solidFill>
              <a:srgbClr val="B8B0A4"/>
            </a:solidFill>
            <a:prstDash val="solid"/>
          </a:ln>
        </p:spPr>
      </p:sp>
      <p:sp>
        <p:nvSpPr>
          <p:cNvPr id="19" name="text">
            <a:extLst xmlns:a="http://schemas.openxmlformats.org/drawingml/2006/main">
              <a:ext uri="{FF2B5EF4-FFF2-40B4-BE49-F238E27FC236}">
                <a16:creationId xmlns:a16="http://schemas.microsoft.com/office/drawing/2014/main" id="{5D661B11-9ED6-408C-8B14-5F2F5A0B98E7}"/>
              </a:ext>
            </a:extLst>
          </p:cNvPr>
          <p:cNvSpPr>
            <a:spLocks xmlns:a="http://schemas.openxmlformats.org/drawingml/2006/main" noGrp="1"/>
          </p:cNvSpPr>
          <p:nvPr/>
        </p:nvSpPr>
        <p:spPr>
          <a:xfrm xmlns:a="http://schemas.openxmlformats.org/drawingml/2006/main">
            <a:off x="666750" y="3086100"/>
            <a:ext cx="1641348"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i="0">
                <a:solidFill>
                  <a:srgbClr val="1A1A1A"/>
                </a:solidFill>
              </a:defRPr>
            </a:pPr>
            <a:r>
              <a:rPr sz="1200" b="1" i="0">
                <a:solidFill>
                  <a:srgbClr val="1A1A1A"/>
                </a:solidFill>
              </a:rPr>
              <a:t>anime.csv</a:t>
            </a:r>
          </a:p>
        </p:txBody>
      </p:sp>
      <p:sp>
        <p:nvSpPr>
          <p:cNvPr id="20" name="text">
            <a:extLst xmlns:a="http://schemas.openxmlformats.org/drawingml/2006/main">
              <a:ext uri="{FF2B5EF4-FFF2-40B4-BE49-F238E27FC236}">
                <a16:creationId xmlns:a16="http://schemas.microsoft.com/office/drawing/2014/main" id="{D8E93667-1C49-430A-81F4-E6EF4B614213}"/>
              </a:ext>
            </a:extLst>
          </p:cNvPr>
          <p:cNvSpPr>
            <a:spLocks xmlns:a="http://schemas.openxmlformats.org/drawingml/2006/main" noGrp="1"/>
          </p:cNvSpPr>
          <p:nvPr/>
        </p:nvSpPr>
        <p:spPr>
          <a:xfrm xmlns:a="http://schemas.openxmlformats.org/drawingml/2006/main">
            <a:off x="2422398" y="3086100"/>
            <a:ext cx="1421892"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200" b="0" i="0">
                <a:solidFill>
                  <a:srgbClr val="5A5A5A"/>
                </a:solidFill>
              </a:defRPr>
            </a:pPr>
            <a:r>
              <a:rPr sz="1200" b="0" i="0">
                <a:solidFill>
                  <a:srgbClr val="5A5A5A"/>
                </a:solidFill>
              </a:rPr>
              <a:t>12,294</a:t>
            </a:r>
          </a:p>
        </p:txBody>
      </p:sp>
      <p:sp>
        <p:nvSpPr>
          <p:cNvPr id="21" name="text">
            <a:extLst xmlns:a="http://schemas.openxmlformats.org/drawingml/2006/main">
              <a:ext uri="{FF2B5EF4-FFF2-40B4-BE49-F238E27FC236}">
                <a16:creationId xmlns:a16="http://schemas.microsoft.com/office/drawing/2014/main" id="{8A0AC45F-1294-46CF-B1BE-F03AFA1FB3EE}"/>
              </a:ext>
            </a:extLst>
          </p:cNvPr>
          <p:cNvSpPr>
            <a:spLocks xmlns:a="http://schemas.openxmlformats.org/drawingml/2006/main" noGrp="1"/>
          </p:cNvSpPr>
          <p:nvPr/>
        </p:nvSpPr>
        <p:spPr>
          <a:xfrm xmlns:a="http://schemas.openxmlformats.org/drawingml/2006/main">
            <a:off x="3958590" y="3086100"/>
            <a:ext cx="3396996"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0" i="0">
                <a:solidFill>
                  <a:srgbClr val="5A5A5A"/>
                </a:solidFill>
              </a:defRPr>
            </a:pPr>
            <a:r>
              <a:rPr sz="1200" b="0" i="0">
                <a:solidFill>
                  <a:srgbClr val="5A5A5A"/>
                </a:solidFill>
              </a:rPr>
              <a:t>title · genre · type · episodes · average · members</a:t>
            </a:r>
          </a:p>
        </p:txBody>
      </p:sp>
      <p:sp>
        <p:nvSpPr>
          <p:cNvPr id="22" name="text">
            <a:extLst xmlns:a="http://schemas.openxmlformats.org/drawingml/2006/main">
              <a:ext uri="{FF2B5EF4-FFF2-40B4-BE49-F238E27FC236}">
                <a16:creationId xmlns:a16="http://schemas.microsoft.com/office/drawing/2014/main" id="{22960C85-72D7-4A34-9AD9-E51B1EC81E94}"/>
              </a:ext>
            </a:extLst>
          </p:cNvPr>
          <p:cNvSpPr>
            <a:spLocks xmlns:a="http://schemas.openxmlformats.org/drawingml/2006/main" noGrp="1"/>
          </p:cNvSpPr>
          <p:nvPr/>
        </p:nvSpPr>
        <p:spPr>
          <a:xfrm xmlns:a="http://schemas.openxmlformats.org/drawingml/2006/main">
            <a:off x="7469886" y="3086100"/>
            <a:ext cx="4055364"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0" i="0">
                <a:solidFill>
                  <a:srgbClr val="5A5A5A"/>
                </a:solidFill>
              </a:defRPr>
            </a:pPr>
            <a:r>
              <a:rPr sz="1200" b="0" i="0">
                <a:solidFill>
                  <a:srgbClr val="5A5A5A"/>
                </a:solidFill>
              </a:rPr>
              <a:t>Joined after ranking for readable Top-10 output</a:t>
            </a:r>
          </a:p>
        </p:txBody>
      </p:sp>
      <p:sp>
        <p:nvSpPr>
          <p:cNvPr id="23" name="rule">
            <a:extLst xmlns:a="http://schemas.openxmlformats.org/drawingml/2006/main">
              <a:ext uri="{FF2B5EF4-FFF2-40B4-BE49-F238E27FC236}">
                <a16:creationId xmlns:a16="http://schemas.microsoft.com/office/drawing/2014/main" id="{5C44368C-4FEC-434F-BBCF-78DD3868E2F5}"/>
              </a:ext>
            </a:extLst>
          </p:cNvPr>
          <p:cNvSpPr>
            <a:spLocks xmlns:a="http://schemas.openxmlformats.org/drawingml/2006/main" noGrp="1"/>
          </p:cNvSpPr>
          <p:nvPr/>
        </p:nvSpPr>
        <p:spPr>
          <a:xfrm xmlns:a="http://schemas.openxmlformats.org/drawingml/2006/main">
            <a:off x="609600" y="3552825"/>
            <a:ext cx="10972800" cy="9525"/>
          </a:xfrm>
          <a:prstGeom xmlns:a="http://schemas.openxmlformats.org/drawingml/2006/main" prst="rect">
            <a:avLst/>
          </a:prstGeom>
          <a:solidFill xmlns:a="http://schemas.openxmlformats.org/drawingml/2006/main">
            <a:srgbClr val="B8B0A4"/>
          </a:solidFill>
          <a:ln xmlns:a="http://schemas.openxmlformats.org/drawingml/2006/main" w="9525">
            <a:solidFill>
              <a:srgbClr val="B8B0A4"/>
            </a:solidFill>
            <a:prstDash val="solid"/>
          </a:ln>
        </p:spPr>
      </p:sp>
      <p:sp>
        <p:nvSpPr>
          <p:cNvPr id="24" name="rule">
            <a:extLst xmlns:a="http://schemas.openxmlformats.org/drawingml/2006/main">
              <a:ext uri="{FF2B5EF4-FFF2-40B4-BE49-F238E27FC236}">
                <a16:creationId xmlns:a16="http://schemas.microsoft.com/office/drawing/2014/main" id="{BCAABF72-0C59-499B-9D14-36D57905F136}"/>
              </a:ext>
            </a:extLst>
          </p:cNvPr>
          <p:cNvSpPr>
            <a:spLocks xmlns:a="http://schemas.openxmlformats.org/drawingml/2006/main" noGrp="1"/>
          </p:cNvSpPr>
          <p:nvPr/>
        </p:nvSpPr>
        <p:spPr>
          <a:xfrm xmlns:a="http://schemas.openxmlformats.org/drawingml/2006/main">
            <a:off x="609600" y="3667125"/>
            <a:ext cx="5143500" cy="9525"/>
          </a:xfrm>
          <a:prstGeom xmlns:a="http://schemas.openxmlformats.org/drawingml/2006/main" prst="rect">
            <a:avLst/>
          </a:prstGeom>
          <a:solidFill xmlns:a="http://schemas.openxmlformats.org/drawingml/2006/main">
            <a:srgbClr val="1A1A1A"/>
          </a:solidFill>
          <a:ln xmlns:a="http://schemas.openxmlformats.org/drawingml/2006/main" w="9525">
            <a:solidFill>
              <a:srgbClr val="1A1A1A"/>
            </a:solidFill>
            <a:prstDash val="solid"/>
          </a:ln>
        </p:spPr>
      </p:sp>
      <p:sp>
        <p:nvSpPr>
          <p:cNvPr id="25" name="text">
            <a:extLst xmlns:a="http://schemas.openxmlformats.org/drawingml/2006/main">
              <a:ext uri="{FF2B5EF4-FFF2-40B4-BE49-F238E27FC236}">
                <a16:creationId xmlns:a16="http://schemas.microsoft.com/office/drawing/2014/main" id="{00BD8140-992A-4A05-AE3A-C4815555D7CC}"/>
              </a:ext>
            </a:extLst>
          </p:cNvPr>
          <p:cNvSpPr>
            <a:spLocks xmlns:a="http://schemas.openxmlformats.org/drawingml/2006/main" noGrp="1"/>
          </p:cNvSpPr>
          <p:nvPr/>
        </p:nvSpPr>
        <p:spPr>
          <a:xfrm xmlns:a="http://schemas.openxmlformats.org/drawingml/2006/main">
            <a:off x="609600" y="3781425"/>
            <a:ext cx="5143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i="0">
                <a:solidFill>
                  <a:srgbClr val="1A1A1A"/>
                </a:solidFill>
              </a:defRPr>
            </a:pPr>
            <a:r>
              <a:rPr sz="1650" b="0" i="0">
                <a:solidFill>
                  <a:srgbClr val="1A1A1A"/>
                </a:solidFill>
              </a:rPr>
              <a:t>Personal target</a:t>
            </a:r>
          </a:p>
        </p:txBody>
      </p:sp>
      <p:sp>
        <p:nvSpPr>
          <p:cNvPr id="26" name="text">
            <a:extLst xmlns:a="http://schemas.openxmlformats.org/drawingml/2006/main">
              <a:ext uri="{FF2B5EF4-FFF2-40B4-BE49-F238E27FC236}">
                <a16:creationId xmlns:a16="http://schemas.microsoft.com/office/drawing/2014/main" id="{3195BD71-17AE-4FF8-8FD2-6BC76A7E2089}"/>
              </a:ext>
            </a:extLst>
          </p:cNvPr>
          <p:cNvSpPr>
            <a:spLocks xmlns:a="http://schemas.openxmlformats.org/drawingml/2006/main" noGrp="1"/>
          </p:cNvSpPr>
          <p:nvPr/>
        </p:nvSpPr>
        <p:spPr>
          <a:xfrm xmlns:a="http://schemas.openxmlformats.org/drawingml/2006/main">
            <a:off x="609600" y="4162425"/>
            <a:ext cx="51435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i="0">
                <a:solidFill>
                  <a:srgbClr val="5A5A5A"/>
                </a:solidFill>
              </a:defRPr>
            </a:pPr>
            <a:r>
              <a:rPr sz="1350" b="0" i="0">
                <a:solidFill>
                  <a:srgbClr val="5A5A5A"/>
                </a:solidFill>
              </a:rPr>
              <a:t>rating.csv.rating is the user’s explicit score and becomes the SVD target.</a:t>
            </a:r>
          </a:p>
        </p:txBody>
      </p:sp>
      <p:sp>
        <p:nvSpPr>
          <p:cNvPr id="27" name="rule">
            <a:extLst xmlns:a="http://schemas.openxmlformats.org/drawingml/2006/main">
              <a:ext uri="{FF2B5EF4-FFF2-40B4-BE49-F238E27FC236}">
                <a16:creationId xmlns:a16="http://schemas.microsoft.com/office/drawing/2014/main" id="{F58CC1A9-FFB7-4CFA-AAE5-532E0F949981}"/>
              </a:ext>
            </a:extLst>
          </p:cNvPr>
          <p:cNvSpPr>
            <a:spLocks xmlns:a="http://schemas.openxmlformats.org/drawingml/2006/main" noGrp="1"/>
          </p:cNvSpPr>
          <p:nvPr/>
        </p:nvSpPr>
        <p:spPr>
          <a:xfrm xmlns:a="http://schemas.openxmlformats.org/drawingml/2006/main">
            <a:off x="6438900" y="3667125"/>
            <a:ext cx="5143500" cy="9525"/>
          </a:xfrm>
          <a:prstGeom xmlns:a="http://schemas.openxmlformats.org/drawingml/2006/main" prst="rect">
            <a:avLst/>
          </a:prstGeom>
          <a:solidFill xmlns:a="http://schemas.openxmlformats.org/drawingml/2006/main">
            <a:srgbClr val="1A1A1A"/>
          </a:solidFill>
          <a:ln xmlns:a="http://schemas.openxmlformats.org/drawingml/2006/main" w="9525">
            <a:solidFill>
              <a:srgbClr val="1A1A1A"/>
            </a:solidFill>
            <a:prstDash val="solid"/>
          </a:ln>
        </p:spPr>
      </p:sp>
      <p:sp>
        <p:nvSpPr>
          <p:cNvPr id="28" name="text">
            <a:extLst xmlns:a="http://schemas.openxmlformats.org/drawingml/2006/main">
              <a:ext uri="{FF2B5EF4-FFF2-40B4-BE49-F238E27FC236}">
                <a16:creationId xmlns:a16="http://schemas.microsoft.com/office/drawing/2014/main" id="{B6107AE1-64F2-40C2-A39A-5FB9ECC546E3}"/>
              </a:ext>
            </a:extLst>
          </p:cNvPr>
          <p:cNvSpPr>
            <a:spLocks xmlns:a="http://schemas.openxmlformats.org/drawingml/2006/main" noGrp="1"/>
          </p:cNvSpPr>
          <p:nvPr/>
        </p:nvSpPr>
        <p:spPr>
          <a:xfrm xmlns:a="http://schemas.openxmlformats.org/drawingml/2006/main">
            <a:off x="6438900" y="3781425"/>
            <a:ext cx="5143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i="0">
                <a:solidFill>
                  <a:srgbClr val="1A1A1A"/>
                </a:solidFill>
              </a:defRPr>
            </a:pPr>
            <a:r>
              <a:rPr sz="1650" b="0" i="0">
                <a:solidFill>
                  <a:srgbClr val="1A1A1A"/>
                </a:solidFill>
              </a:rPr>
              <a:t>Display-only statistic</a:t>
            </a:r>
          </a:p>
        </p:txBody>
      </p:sp>
      <p:sp>
        <p:nvSpPr>
          <p:cNvPr id="29" name="text">
            <a:extLst xmlns:a="http://schemas.openxmlformats.org/drawingml/2006/main">
              <a:ext uri="{FF2B5EF4-FFF2-40B4-BE49-F238E27FC236}">
                <a16:creationId xmlns:a16="http://schemas.microsoft.com/office/drawing/2014/main" id="{DE1CACDC-CE5B-4DC3-9E44-8E588181FC2F}"/>
              </a:ext>
            </a:extLst>
          </p:cNvPr>
          <p:cNvSpPr>
            <a:spLocks xmlns:a="http://schemas.openxmlformats.org/drawingml/2006/main" noGrp="1"/>
          </p:cNvSpPr>
          <p:nvPr/>
        </p:nvSpPr>
        <p:spPr>
          <a:xfrm xmlns:a="http://schemas.openxmlformats.org/drawingml/2006/main">
            <a:off x="6438900" y="4162425"/>
            <a:ext cx="51435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i="0">
                <a:solidFill>
                  <a:srgbClr val="5A5A5A"/>
                </a:solidFill>
              </a:defRPr>
            </a:pPr>
            <a:r>
              <a:rPr sz="1350" b="0" i="0">
                <a:solidFill>
                  <a:srgbClr val="5A5A5A"/>
                </a:solidFill>
              </a:rPr>
              <a:t>anime_average_rating is a public catalogue average—not a feature or predicted personal rating.</a:t>
            </a:r>
          </a:p>
        </p:txBody>
      </p:sp>
      <p:sp>
        <p:nvSpPr>
          <p:cNvPr id="30" name="text">
            <a:extLst xmlns:a="http://schemas.openxmlformats.org/drawingml/2006/main">
              <a:ext uri="{FF2B5EF4-FFF2-40B4-BE49-F238E27FC236}">
                <a16:creationId xmlns:a16="http://schemas.microsoft.com/office/drawing/2014/main" id="{3E1EFFF1-306A-4E46-817E-CB7A44EED3A8}"/>
              </a:ext>
            </a:extLst>
          </p:cNvPr>
          <p:cNvSpPr>
            <a:spLocks xmlns:a="http://schemas.openxmlformats.org/drawingml/2006/main" noGrp="1"/>
          </p:cNvSpPr>
          <p:nvPr/>
        </p:nvSpPr>
        <p:spPr>
          <a:xfrm xmlns:a="http://schemas.openxmlformats.org/drawingml/2006/main">
            <a:off x="609600" y="5429250"/>
            <a:ext cx="1047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0" i="0">
                <a:solidFill>
                  <a:srgbClr val="1A1A1A"/>
                </a:solidFill>
              </a:defRPr>
            </a:pPr>
            <a:r>
              <a:rPr sz="1725" b="0" i="0">
                <a:solidFill>
                  <a:srgbClr val="1A1A1A"/>
                </a:solidFill>
              </a:rPr>
              <a:t>Meaning comes before modeling: similarly named rating fields answer different questions.</a:t>
            </a:r>
          </a:p>
        </p:txBody>
      </p:sp>
    </p:spTree>
    <p:extLst>
      <p:ext uri="{BB962C8B-B14F-4D97-AF65-F5344CB8AC3E}">
        <p14:creationId xmlns:p14="http://schemas.microsoft.com/office/powerpoint/2010/main" val="1384456643"/>
      </p:ext>
    </p:extLst>
  </p:cSld>
</p:sld>
</file>

<file path=ppt/slides/slide4.xml><?xml version="1.0" encoding="utf-8"?>
<p:sld xmlns:p="http://schemas.openxmlformats.org/presentationml/2006/main">
  <p:cSld>
    <p:bg>
      <p:bgPr>
        <a:solidFill xmlns:a="http://schemas.openxmlformats.org/drawingml/2006/main">
          <a:srgbClr val="EDE8E0"/>
        </a:solidFill>
      </p:bgPr>
    </p:bg>
    <p:spTree>
      <p:nvGrpSpPr>
        <p:cNvPr id="1" name=""/>
        <p:cNvGrpSpPr/>
        <p:nvPr/>
      </p:nvGrpSpPr>
      <p:grpSpPr>
        <a:xfrm xmlns:a="http://schemas.openxmlformats.org/drawingml/2006/main"/>
      </p:grpSpPr>
      <p:sp>
        <p:nvSpPr>
          <p:cNvPr id="38" name="outer-ring">
            <a:extLst xmlns:a="http://schemas.openxmlformats.org/drawingml/2006/main">
              <a:ext uri="{FF2B5EF4-FFF2-40B4-BE49-F238E27FC236}">
                <a16:creationId xmlns:a16="http://schemas.microsoft.com/office/drawing/2014/main" id="{73C5414E-AA9D-4603-9341-0A981F375A37}"/>
              </a:ext>
            </a:extLst>
          </p:cNvPr>
          <p:cNvSpPr>
            <a:spLocks xmlns:a="http://schemas.openxmlformats.org/drawingml/2006/main" noGrp="1"/>
          </p:cNvSpPr>
          <p:nvPr/>
        </p:nvSpPr>
        <p:spPr>
          <a:xfrm xmlns:a="http://schemas.openxmlformats.org/drawingml/2006/main">
            <a:off x="9620250" y="-1143000"/>
            <a:ext cx="3714750" cy="3714750"/>
          </a:xfrm>
          <a:prstGeom xmlns:a="http://schemas.openxmlformats.org/drawingml/2006/main" prst="rect">
            <a:avLst/>
          </a:prstGeom>
          <a:noFill xmlns:a="http://schemas.openxmlformats.org/drawingml/2006/main"/>
          <a:ln xmlns:a="http://schemas.openxmlformats.org/drawingml/2006/main" w="9525">
            <a:solidFill>
              <a:srgbClr val="B8B0A4"/>
            </a:solidFill>
            <a:prstDash val="solid"/>
          </a:ln>
        </p:spPr>
      </p:sp>
      <p:sp>
        <p:nvSpPr>
          <p:cNvPr id="2" name="inner-ring">
            <a:extLst xmlns:a="http://schemas.openxmlformats.org/drawingml/2006/main">
              <a:ext uri="{FF2B5EF4-FFF2-40B4-BE49-F238E27FC236}">
                <a16:creationId xmlns:a16="http://schemas.microsoft.com/office/drawing/2014/main" id="{E97AC7B8-DCED-4121-8006-56BC612F7E03}"/>
              </a:ext>
            </a:extLst>
          </p:cNvPr>
          <p:cNvSpPr>
            <a:spLocks xmlns:a="http://schemas.openxmlformats.org/drawingml/2006/main" noGrp="1"/>
          </p:cNvSpPr>
          <p:nvPr/>
        </p:nvSpPr>
        <p:spPr>
          <a:xfrm xmlns:a="http://schemas.openxmlformats.org/drawingml/2006/main">
            <a:off x="10191750" y="-571500"/>
            <a:ext cx="2571750" cy="2571750"/>
          </a:xfrm>
          <a:prstGeom xmlns:a="http://schemas.openxmlformats.org/drawingml/2006/main" prst="rect">
            <a:avLst/>
          </a:prstGeom>
          <a:noFill xmlns:a="http://schemas.openxmlformats.org/drawingml/2006/main"/>
          <a:ln xmlns:a="http://schemas.openxmlformats.org/drawingml/2006/main" w="9525">
            <a:solidFill>
              <a:srgbClr val="B8B0A4"/>
            </a:solidFill>
            <a:prstDash val="solid"/>
          </a:ln>
        </p:spPr>
      </p:sp>
      <p:sp>
        <p:nvSpPr>
          <p:cNvPr id="3" name="eyebrow">
            <a:extLst xmlns:a="http://schemas.openxmlformats.org/drawingml/2006/main">
              <a:ext uri="{FF2B5EF4-FFF2-40B4-BE49-F238E27FC236}">
                <a16:creationId xmlns:a16="http://schemas.microsoft.com/office/drawing/2014/main" id="{9DD29FC3-68D8-43E4-9DF6-49E2A437D788}"/>
              </a:ext>
            </a:extLst>
          </p:cNvPr>
          <p:cNvSpPr>
            <a:spLocks xmlns:a="http://schemas.openxmlformats.org/drawingml/2006/main" noGrp="1"/>
          </p:cNvSpPr>
          <p:nvPr/>
        </p:nvSpPr>
        <p:spPr>
          <a:xfrm xmlns:a="http://schemas.openxmlformats.org/drawingml/2006/main">
            <a:off x="609600" y="4000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i="0">
                <a:solidFill>
                  <a:srgbClr val="8A8178"/>
                </a:solidFill>
              </a:defRPr>
            </a:pPr>
            <a:r>
              <a:rPr sz="975" b="1" i="0">
                <a:solidFill>
                  <a:srgbClr val="8A8178"/>
                </a:solidFill>
              </a:rPr>
              <a:t>CLEANING AUDIT</a:t>
            </a:r>
          </a:p>
        </p:txBody>
      </p:sp>
      <p:sp>
        <p:nvSpPr>
          <p:cNvPr id="4" name="title">
            <a:extLst xmlns:a="http://schemas.openxmlformats.org/drawingml/2006/main">
              <a:ext uri="{FF2B5EF4-FFF2-40B4-BE49-F238E27FC236}">
                <a16:creationId xmlns:a16="http://schemas.microsoft.com/office/drawing/2014/main" id="{BB5FC194-7AF0-43B8-83AE-59056BFA467C}"/>
              </a:ext>
            </a:extLst>
          </p:cNvPr>
          <p:cNvSpPr>
            <a:spLocks xmlns:a="http://schemas.openxmlformats.org/drawingml/2006/main" noGrp="1"/>
          </p:cNvSpPr>
          <p:nvPr/>
        </p:nvSpPr>
        <p:spPr>
          <a:xfrm xmlns:a="http://schemas.openxmlformats.org/drawingml/2006/main">
            <a:off x="609600" y="723900"/>
            <a:ext cx="10668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150" b="0" i="0">
                <a:solidFill>
                  <a:srgbClr val="1A1A1A"/>
                </a:solidFill>
              </a:defRPr>
            </a:pPr>
            <a:r>
              <a:rPr sz="3150" b="0" i="0">
                <a:solidFill>
                  <a:srgbClr val="1A1A1A"/>
                </a:solidFill>
              </a:rPr>
              <a:t>Cleaning preserves the meaning of an explicit preference signal</a:t>
            </a:r>
          </a:p>
        </p:txBody>
      </p:sp>
      <p:sp>
        <p:nvSpPr>
          <p:cNvPr id="5" name="rule">
            <a:extLst xmlns:a="http://schemas.openxmlformats.org/drawingml/2006/main">
              <a:ext uri="{FF2B5EF4-FFF2-40B4-BE49-F238E27FC236}">
                <a16:creationId xmlns:a16="http://schemas.microsoft.com/office/drawing/2014/main" id="{D9D93622-79FA-4CFF-B7D3-34386DB6E2B1}"/>
              </a:ext>
            </a:extLst>
          </p:cNvPr>
          <p:cNvSpPr>
            <a:spLocks xmlns:a="http://schemas.openxmlformats.org/drawingml/2006/main" noGrp="1"/>
          </p:cNvSpPr>
          <p:nvPr/>
        </p:nvSpPr>
        <p:spPr>
          <a:xfrm xmlns:a="http://schemas.openxmlformats.org/drawingml/2006/main">
            <a:off x="609600" y="6429375"/>
            <a:ext cx="10972800" cy="9525"/>
          </a:xfrm>
          <a:prstGeom xmlns:a="http://schemas.openxmlformats.org/drawingml/2006/main" prst="rect">
            <a:avLst/>
          </a:prstGeom>
          <a:solidFill xmlns:a="http://schemas.openxmlformats.org/drawingml/2006/main">
            <a:srgbClr val="B8B0A4"/>
          </a:solidFill>
          <a:ln xmlns:a="http://schemas.openxmlformats.org/drawingml/2006/main" w="9525">
            <a:solidFill>
              <a:srgbClr val="B8B0A4"/>
            </a:solidFill>
            <a:prstDash val="solid"/>
          </a:ln>
        </p:spPr>
      </p:sp>
      <p:sp>
        <p:nvSpPr>
          <p:cNvPr id="6" name="text">
            <a:extLst xmlns:a="http://schemas.openxmlformats.org/drawingml/2006/main">
              <a:ext uri="{FF2B5EF4-FFF2-40B4-BE49-F238E27FC236}">
                <a16:creationId xmlns:a16="http://schemas.microsoft.com/office/drawing/2014/main" id="{DFBD41D7-DAE9-4F70-9B51-A800A444C87E}"/>
              </a:ext>
            </a:extLst>
          </p:cNvPr>
          <p:cNvSpPr>
            <a:spLocks xmlns:a="http://schemas.openxmlformats.org/drawingml/2006/main" noGrp="1"/>
          </p:cNvSpPr>
          <p:nvPr/>
        </p:nvSpPr>
        <p:spPr>
          <a:xfrm xmlns:a="http://schemas.openxmlformats.org/drawingml/2006/main">
            <a:off x="609600" y="652462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1" i="0">
                <a:solidFill>
                  <a:srgbClr val="8A8178"/>
                </a:solidFill>
              </a:defRPr>
            </a:pPr>
            <a:r>
              <a:rPr sz="750" b="1" i="0">
                <a:solidFill>
                  <a:srgbClr val="8A8178"/>
                </a:solidFill>
              </a:rPr>
              <a:t>GROUP 14 · DUY TAN UNIVERSITY, DA NANG</a:t>
            </a:r>
          </a:p>
        </p:txBody>
      </p:sp>
      <p:sp>
        <p:nvSpPr>
          <p:cNvPr id="7" name="text">
            <a:extLst xmlns:a="http://schemas.openxmlformats.org/drawingml/2006/main">
              <a:ext uri="{FF2B5EF4-FFF2-40B4-BE49-F238E27FC236}">
                <a16:creationId xmlns:a16="http://schemas.microsoft.com/office/drawing/2014/main" id="{F2DD0E97-1C2C-4836-B2E4-C76AC2008EC1}"/>
              </a:ext>
            </a:extLst>
          </p:cNvPr>
          <p:cNvSpPr>
            <a:spLocks xmlns:a="http://schemas.openxmlformats.org/drawingml/2006/main" noGrp="1"/>
          </p:cNvSpPr>
          <p:nvPr/>
        </p:nvSpPr>
        <p:spPr>
          <a:xfrm xmlns:a="http://schemas.openxmlformats.org/drawingml/2006/main">
            <a:off x="11144250" y="65246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750" b="0" i="0">
                <a:solidFill>
                  <a:srgbClr val="8A8178"/>
                </a:solidFill>
              </a:defRPr>
            </a:pPr>
            <a:r>
              <a:rPr sz="750" b="0" i="0">
                <a:solidFill>
                  <a:srgbClr val="8A8178"/>
                </a:solidFill>
              </a:rPr>
              <a:t>04</a:t>
            </a:r>
          </a:p>
        </p:txBody>
      </p:sp>
      <p:sp>
        <p:nvSpPr>
          <p:cNvPr id="8" name="text">
            <a:extLst xmlns:a="http://schemas.openxmlformats.org/drawingml/2006/main">
              <a:ext uri="{FF2B5EF4-FFF2-40B4-BE49-F238E27FC236}">
                <a16:creationId xmlns:a16="http://schemas.microsoft.com/office/drawing/2014/main" id="{B13080F1-674C-4DE5-8902-2EA672E6819B}"/>
              </a:ext>
            </a:extLst>
          </p:cNvPr>
          <p:cNvSpPr>
            <a:spLocks xmlns:a="http://schemas.openxmlformats.org/drawingml/2006/main" noGrp="1"/>
          </p:cNvSpPr>
          <p:nvPr/>
        </p:nvSpPr>
        <p:spPr>
          <a:xfrm xmlns:a="http://schemas.openxmlformats.org/drawingml/2006/main">
            <a:off x="666750" y="1619250"/>
            <a:ext cx="26289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i="0">
                <a:solidFill>
                  <a:srgbClr val="8A8178"/>
                </a:solidFill>
              </a:defRPr>
            </a:pPr>
            <a:r>
              <a:rPr sz="900" b="1" i="0">
                <a:solidFill>
                  <a:srgbClr val="8A8178"/>
                </a:solidFill>
              </a:rPr>
              <a:t>STAGE</a:t>
            </a:r>
          </a:p>
        </p:txBody>
      </p:sp>
      <p:sp>
        <p:nvSpPr>
          <p:cNvPr id="9" name="text">
            <a:extLst xmlns:a="http://schemas.openxmlformats.org/drawingml/2006/main">
              <a:ext uri="{FF2B5EF4-FFF2-40B4-BE49-F238E27FC236}">
                <a16:creationId xmlns:a16="http://schemas.microsoft.com/office/drawing/2014/main" id="{63D8FCDB-58BE-40A6-8897-A2DB6B3932DD}"/>
              </a:ext>
            </a:extLst>
          </p:cNvPr>
          <p:cNvSpPr>
            <a:spLocks xmlns:a="http://schemas.openxmlformats.org/drawingml/2006/main" noGrp="1"/>
          </p:cNvSpPr>
          <p:nvPr/>
        </p:nvSpPr>
        <p:spPr>
          <a:xfrm xmlns:a="http://schemas.openxmlformats.org/drawingml/2006/main">
            <a:off x="3409950" y="1619250"/>
            <a:ext cx="1860804"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1" i="0">
                <a:solidFill>
                  <a:srgbClr val="8A8178"/>
                </a:solidFill>
              </a:defRPr>
            </a:pPr>
            <a:r>
              <a:rPr sz="900" b="1" i="0">
                <a:solidFill>
                  <a:srgbClr val="8A8178"/>
                </a:solidFill>
              </a:rPr>
              <a:t>COUNT</a:t>
            </a:r>
          </a:p>
        </p:txBody>
      </p:sp>
      <p:sp>
        <p:nvSpPr>
          <p:cNvPr id="10" name="text">
            <a:extLst xmlns:a="http://schemas.openxmlformats.org/drawingml/2006/main">
              <a:ext uri="{FF2B5EF4-FFF2-40B4-BE49-F238E27FC236}">
                <a16:creationId xmlns:a16="http://schemas.microsoft.com/office/drawing/2014/main" id="{83454C39-6015-4783-BA8A-D0DA14BD04EB}"/>
              </a:ext>
            </a:extLst>
          </p:cNvPr>
          <p:cNvSpPr>
            <a:spLocks xmlns:a="http://schemas.openxmlformats.org/drawingml/2006/main" noGrp="1"/>
          </p:cNvSpPr>
          <p:nvPr/>
        </p:nvSpPr>
        <p:spPr>
          <a:xfrm xmlns:a="http://schemas.openxmlformats.org/drawingml/2006/main">
            <a:off x="5385054" y="1619250"/>
            <a:ext cx="6140196"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i="0">
                <a:solidFill>
                  <a:srgbClr val="8A8178"/>
                </a:solidFill>
              </a:defRPr>
            </a:pPr>
            <a:r>
              <a:rPr sz="900" b="1" i="0">
                <a:solidFill>
                  <a:srgbClr val="8A8178"/>
                </a:solidFill>
              </a:rPr>
              <a:t>MEANING</a:t>
            </a:r>
          </a:p>
        </p:txBody>
      </p:sp>
      <p:sp>
        <p:nvSpPr>
          <p:cNvPr id="11" name="rule">
            <a:extLst xmlns:a="http://schemas.openxmlformats.org/drawingml/2006/main">
              <a:ext uri="{FF2B5EF4-FFF2-40B4-BE49-F238E27FC236}">
                <a16:creationId xmlns:a16="http://schemas.microsoft.com/office/drawing/2014/main" id="{7986A324-05D8-44F6-8227-F6F7D06422AC}"/>
              </a:ext>
            </a:extLst>
          </p:cNvPr>
          <p:cNvSpPr>
            <a:spLocks xmlns:a="http://schemas.openxmlformats.org/drawingml/2006/main" noGrp="1"/>
          </p:cNvSpPr>
          <p:nvPr/>
        </p:nvSpPr>
        <p:spPr>
          <a:xfrm xmlns:a="http://schemas.openxmlformats.org/drawingml/2006/main">
            <a:off x="609600" y="2085975"/>
            <a:ext cx="10972800" cy="9525"/>
          </a:xfrm>
          <a:prstGeom xmlns:a="http://schemas.openxmlformats.org/drawingml/2006/main" prst="rect">
            <a:avLst/>
          </a:prstGeom>
          <a:solidFill xmlns:a="http://schemas.openxmlformats.org/drawingml/2006/main">
            <a:srgbClr val="1A1A1A"/>
          </a:solidFill>
          <a:ln xmlns:a="http://schemas.openxmlformats.org/drawingml/2006/main" w="9525">
            <a:solidFill>
              <a:srgbClr val="1A1A1A"/>
            </a:solidFill>
            <a:prstDash val="solid"/>
          </a:ln>
        </p:spPr>
      </p:sp>
      <p:sp>
        <p:nvSpPr>
          <p:cNvPr id="12" name="text">
            <a:extLst xmlns:a="http://schemas.openxmlformats.org/drawingml/2006/main">
              <a:ext uri="{FF2B5EF4-FFF2-40B4-BE49-F238E27FC236}">
                <a16:creationId xmlns:a16="http://schemas.microsoft.com/office/drawing/2014/main" id="{A8C6AB6B-A6F7-47CB-BB8B-DACF5BA50C20}"/>
              </a:ext>
            </a:extLst>
          </p:cNvPr>
          <p:cNvSpPr>
            <a:spLocks xmlns:a="http://schemas.openxmlformats.org/drawingml/2006/main" noGrp="1"/>
          </p:cNvSpPr>
          <p:nvPr/>
        </p:nvSpPr>
        <p:spPr>
          <a:xfrm xmlns:a="http://schemas.openxmlformats.org/drawingml/2006/main">
            <a:off x="666750" y="2152650"/>
            <a:ext cx="26289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i="0">
                <a:solidFill>
                  <a:srgbClr val="1A1A1A"/>
                </a:solidFill>
              </a:defRPr>
            </a:pPr>
            <a:r>
              <a:rPr sz="1200" b="1" i="0">
                <a:solidFill>
                  <a:srgbClr val="1A1A1A"/>
                </a:solidFill>
              </a:rPr>
              <a:t>Raw interactions</a:t>
            </a:r>
          </a:p>
        </p:txBody>
      </p:sp>
      <p:sp>
        <p:nvSpPr>
          <p:cNvPr id="13" name="text">
            <a:extLst xmlns:a="http://schemas.openxmlformats.org/drawingml/2006/main">
              <a:ext uri="{FF2B5EF4-FFF2-40B4-BE49-F238E27FC236}">
                <a16:creationId xmlns:a16="http://schemas.microsoft.com/office/drawing/2014/main" id="{96DD391B-73AF-4FF7-BEBE-2EE77784FD50}"/>
              </a:ext>
            </a:extLst>
          </p:cNvPr>
          <p:cNvSpPr>
            <a:spLocks xmlns:a="http://schemas.openxmlformats.org/drawingml/2006/main" noGrp="1"/>
          </p:cNvSpPr>
          <p:nvPr/>
        </p:nvSpPr>
        <p:spPr>
          <a:xfrm xmlns:a="http://schemas.openxmlformats.org/drawingml/2006/main">
            <a:off x="3409950" y="2152650"/>
            <a:ext cx="1860804"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200" b="0" i="0">
                <a:solidFill>
                  <a:srgbClr val="5A5A5A"/>
                </a:solidFill>
              </a:defRPr>
            </a:pPr>
            <a:r>
              <a:rPr sz="1200" b="0" i="0">
                <a:solidFill>
                  <a:srgbClr val="5A5A5A"/>
                </a:solidFill>
              </a:rPr>
              <a:t>7,813,737</a:t>
            </a:r>
          </a:p>
        </p:txBody>
      </p:sp>
      <p:sp>
        <p:nvSpPr>
          <p:cNvPr id="14" name="text">
            <a:extLst xmlns:a="http://schemas.openxmlformats.org/drawingml/2006/main">
              <a:ext uri="{FF2B5EF4-FFF2-40B4-BE49-F238E27FC236}">
                <a16:creationId xmlns:a16="http://schemas.microsoft.com/office/drawing/2014/main" id="{A7B204AD-A6C1-4B7C-974B-31BA4CFB3BC3}"/>
              </a:ext>
            </a:extLst>
          </p:cNvPr>
          <p:cNvSpPr>
            <a:spLocks xmlns:a="http://schemas.openxmlformats.org/drawingml/2006/main" noGrp="1"/>
          </p:cNvSpPr>
          <p:nvPr/>
        </p:nvSpPr>
        <p:spPr>
          <a:xfrm xmlns:a="http://schemas.openxmlformats.org/drawingml/2006/main">
            <a:off x="5385054" y="2152650"/>
            <a:ext cx="6140196"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0" i="0">
                <a:solidFill>
                  <a:srgbClr val="5A5A5A"/>
                </a:solidFill>
              </a:defRPr>
            </a:pPr>
            <a:r>
              <a:rPr sz="1200" b="0" i="0">
                <a:solidFill>
                  <a:srgbClr val="5A5A5A"/>
                </a:solidFill>
              </a:rPr>
              <a:t>All source user–anime rows</a:t>
            </a:r>
          </a:p>
        </p:txBody>
      </p:sp>
      <p:sp>
        <p:nvSpPr>
          <p:cNvPr id="15" name="rule">
            <a:extLst xmlns:a="http://schemas.openxmlformats.org/drawingml/2006/main">
              <a:ext uri="{FF2B5EF4-FFF2-40B4-BE49-F238E27FC236}">
                <a16:creationId xmlns:a16="http://schemas.microsoft.com/office/drawing/2014/main" id="{7861C023-FDBF-462B-9A2E-BBD614CA6BDA}"/>
              </a:ext>
            </a:extLst>
          </p:cNvPr>
          <p:cNvSpPr>
            <a:spLocks xmlns:a="http://schemas.openxmlformats.org/drawingml/2006/main" noGrp="1"/>
          </p:cNvSpPr>
          <p:nvPr/>
        </p:nvSpPr>
        <p:spPr>
          <a:xfrm xmlns:a="http://schemas.openxmlformats.org/drawingml/2006/main">
            <a:off x="609600" y="2552700"/>
            <a:ext cx="10972800" cy="9525"/>
          </a:xfrm>
          <a:prstGeom xmlns:a="http://schemas.openxmlformats.org/drawingml/2006/main" prst="rect">
            <a:avLst/>
          </a:prstGeom>
          <a:solidFill xmlns:a="http://schemas.openxmlformats.org/drawingml/2006/main">
            <a:srgbClr val="B8B0A4"/>
          </a:solidFill>
          <a:ln xmlns:a="http://schemas.openxmlformats.org/drawingml/2006/main" w="9525">
            <a:solidFill>
              <a:srgbClr val="B8B0A4"/>
            </a:solidFill>
            <a:prstDash val="solid"/>
          </a:ln>
        </p:spPr>
      </p:sp>
      <p:sp>
        <p:nvSpPr>
          <p:cNvPr id="16" name="text">
            <a:extLst xmlns:a="http://schemas.openxmlformats.org/drawingml/2006/main">
              <a:ext uri="{FF2B5EF4-FFF2-40B4-BE49-F238E27FC236}">
                <a16:creationId xmlns:a16="http://schemas.microsoft.com/office/drawing/2014/main" id="{A238A322-5758-405A-88A3-8FC23E947D7E}"/>
              </a:ext>
            </a:extLst>
          </p:cNvPr>
          <p:cNvSpPr>
            <a:spLocks xmlns:a="http://schemas.openxmlformats.org/drawingml/2006/main" noGrp="1"/>
          </p:cNvSpPr>
          <p:nvPr/>
        </p:nvSpPr>
        <p:spPr>
          <a:xfrm xmlns:a="http://schemas.openxmlformats.org/drawingml/2006/main">
            <a:off x="666750" y="2619375"/>
            <a:ext cx="26289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i="0">
                <a:solidFill>
                  <a:srgbClr val="1A1A1A"/>
                </a:solidFill>
              </a:defRPr>
            </a:pPr>
            <a:r>
              <a:rPr sz="1200" b="1" i="0">
                <a:solidFill>
                  <a:srgbClr val="1A1A1A"/>
                </a:solidFill>
              </a:rPr>
              <a:t>Remove rating = −1</a:t>
            </a:r>
          </a:p>
        </p:txBody>
      </p:sp>
      <p:sp>
        <p:nvSpPr>
          <p:cNvPr id="17" name="text">
            <a:extLst xmlns:a="http://schemas.openxmlformats.org/drawingml/2006/main">
              <a:ext uri="{FF2B5EF4-FFF2-40B4-BE49-F238E27FC236}">
                <a16:creationId xmlns:a16="http://schemas.microsoft.com/office/drawing/2014/main" id="{CD957C9B-561F-4B86-91F2-A3ED63482613}"/>
              </a:ext>
            </a:extLst>
          </p:cNvPr>
          <p:cNvSpPr>
            <a:spLocks xmlns:a="http://schemas.openxmlformats.org/drawingml/2006/main" noGrp="1"/>
          </p:cNvSpPr>
          <p:nvPr/>
        </p:nvSpPr>
        <p:spPr>
          <a:xfrm xmlns:a="http://schemas.openxmlformats.org/drawingml/2006/main">
            <a:off x="3409950" y="2619375"/>
            <a:ext cx="1860804"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200" b="0" i="0">
                <a:solidFill>
                  <a:srgbClr val="5A5A5A"/>
                </a:solidFill>
              </a:defRPr>
            </a:pPr>
            <a:r>
              <a:rPr sz="1200" b="0" i="0">
                <a:solidFill>
                  <a:srgbClr val="5A5A5A"/>
                </a:solidFill>
              </a:rPr>
              <a:t>−1,476,496</a:t>
            </a:r>
          </a:p>
        </p:txBody>
      </p:sp>
      <p:sp>
        <p:nvSpPr>
          <p:cNvPr id="18" name="text">
            <a:extLst xmlns:a="http://schemas.openxmlformats.org/drawingml/2006/main">
              <a:ext uri="{FF2B5EF4-FFF2-40B4-BE49-F238E27FC236}">
                <a16:creationId xmlns:a16="http://schemas.microsoft.com/office/drawing/2014/main" id="{560C7D0F-727F-4611-8268-AABF48F9AAE4}"/>
              </a:ext>
            </a:extLst>
          </p:cNvPr>
          <p:cNvSpPr>
            <a:spLocks xmlns:a="http://schemas.openxmlformats.org/drawingml/2006/main" noGrp="1"/>
          </p:cNvSpPr>
          <p:nvPr/>
        </p:nvSpPr>
        <p:spPr>
          <a:xfrm xmlns:a="http://schemas.openxmlformats.org/drawingml/2006/main">
            <a:off x="5385054" y="2619375"/>
            <a:ext cx="6140196"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0" i="0">
                <a:solidFill>
                  <a:srgbClr val="5A5A5A"/>
                </a:solidFill>
              </a:defRPr>
            </a:pPr>
            <a:r>
              <a:rPr sz="1200" b="0" i="0">
                <a:solidFill>
                  <a:srgbClr val="5A5A5A"/>
                </a:solidFill>
              </a:rPr>
              <a:t>18.90% watched but not explicitly scored; not a dislike</a:t>
            </a:r>
          </a:p>
        </p:txBody>
      </p:sp>
      <p:sp>
        <p:nvSpPr>
          <p:cNvPr id="19" name="rule">
            <a:extLst xmlns:a="http://schemas.openxmlformats.org/drawingml/2006/main">
              <a:ext uri="{FF2B5EF4-FFF2-40B4-BE49-F238E27FC236}">
                <a16:creationId xmlns:a16="http://schemas.microsoft.com/office/drawing/2014/main" id="{83CD606C-BDA5-4298-9256-DE434DDAF8D4}"/>
              </a:ext>
            </a:extLst>
          </p:cNvPr>
          <p:cNvSpPr>
            <a:spLocks xmlns:a="http://schemas.openxmlformats.org/drawingml/2006/main" noGrp="1"/>
          </p:cNvSpPr>
          <p:nvPr/>
        </p:nvSpPr>
        <p:spPr>
          <a:xfrm xmlns:a="http://schemas.openxmlformats.org/drawingml/2006/main">
            <a:off x="609600" y="3019425"/>
            <a:ext cx="10972800" cy="9525"/>
          </a:xfrm>
          <a:prstGeom xmlns:a="http://schemas.openxmlformats.org/drawingml/2006/main" prst="rect">
            <a:avLst/>
          </a:prstGeom>
          <a:solidFill xmlns:a="http://schemas.openxmlformats.org/drawingml/2006/main">
            <a:srgbClr val="B8B0A4"/>
          </a:solidFill>
          <a:ln xmlns:a="http://schemas.openxmlformats.org/drawingml/2006/main" w="9525">
            <a:solidFill>
              <a:srgbClr val="B8B0A4"/>
            </a:solidFill>
            <a:prstDash val="solid"/>
          </a:ln>
        </p:spPr>
      </p:sp>
      <p:sp>
        <p:nvSpPr>
          <p:cNvPr id="20" name="text">
            <a:extLst xmlns:a="http://schemas.openxmlformats.org/drawingml/2006/main">
              <a:ext uri="{FF2B5EF4-FFF2-40B4-BE49-F238E27FC236}">
                <a16:creationId xmlns:a16="http://schemas.microsoft.com/office/drawing/2014/main" id="{1B9503E0-A165-4A26-929E-B9B6EAA3359C}"/>
              </a:ext>
            </a:extLst>
          </p:cNvPr>
          <p:cNvSpPr>
            <a:spLocks xmlns:a="http://schemas.openxmlformats.org/drawingml/2006/main" noGrp="1"/>
          </p:cNvSpPr>
          <p:nvPr/>
        </p:nvSpPr>
        <p:spPr>
          <a:xfrm xmlns:a="http://schemas.openxmlformats.org/drawingml/2006/main">
            <a:off x="666750" y="3086100"/>
            <a:ext cx="26289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i="0">
                <a:solidFill>
                  <a:srgbClr val="1A1A1A"/>
                </a:solidFill>
              </a:defRPr>
            </a:pPr>
            <a:r>
              <a:rPr sz="1200" b="1" i="0">
                <a:solidFill>
                  <a:srgbClr val="1A1A1A"/>
                </a:solidFill>
              </a:rPr>
              <a:t>Invalid / missing ratings</a:t>
            </a:r>
          </a:p>
        </p:txBody>
      </p:sp>
      <p:sp>
        <p:nvSpPr>
          <p:cNvPr id="21" name="text">
            <a:extLst xmlns:a="http://schemas.openxmlformats.org/drawingml/2006/main">
              <a:ext uri="{FF2B5EF4-FFF2-40B4-BE49-F238E27FC236}">
                <a16:creationId xmlns:a16="http://schemas.microsoft.com/office/drawing/2014/main" id="{7E338EC5-1A79-4C3F-9D5B-A638815741B3}"/>
              </a:ext>
            </a:extLst>
          </p:cNvPr>
          <p:cNvSpPr>
            <a:spLocks xmlns:a="http://schemas.openxmlformats.org/drawingml/2006/main" noGrp="1"/>
          </p:cNvSpPr>
          <p:nvPr/>
        </p:nvSpPr>
        <p:spPr>
          <a:xfrm xmlns:a="http://schemas.openxmlformats.org/drawingml/2006/main">
            <a:off x="3409950" y="3086100"/>
            <a:ext cx="1860804"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200" b="0" i="0">
                <a:solidFill>
                  <a:srgbClr val="5A5A5A"/>
                </a:solidFill>
              </a:defRPr>
            </a:pPr>
            <a:r>
              <a:rPr sz="1200" b="0" i="0">
                <a:solidFill>
                  <a:srgbClr val="5A5A5A"/>
                </a:solidFill>
              </a:rPr>
              <a:t>−0</a:t>
            </a:r>
          </a:p>
        </p:txBody>
      </p:sp>
      <p:sp>
        <p:nvSpPr>
          <p:cNvPr id="22" name="text">
            <a:extLst xmlns:a="http://schemas.openxmlformats.org/drawingml/2006/main">
              <a:ext uri="{FF2B5EF4-FFF2-40B4-BE49-F238E27FC236}">
                <a16:creationId xmlns:a16="http://schemas.microsoft.com/office/drawing/2014/main" id="{D973470C-70C4-4D55-BB13-6DEC5742D9C3}"/>
              </a:ext>
            </a:extLst>
          </p:cNvPr>
          <p:cNvSpPr>
            <a:spLocks xmlns:a="http://schemas.openxmlformats.org/drawingml/2006/main" noGrp="1"/>
          </p:cNvSpPr>
          <p:nvPr/>
        </p:nvSpPr>
        <p:spPr>
          <a:xfrm xmlns:a="http://schemas.openxmlformats.org/drawingml/2006/main">
            <a:off x="5385054" y="3086100"/>
            <a:ext cx="6140196"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0" i="0">
                <a:solidFill>
                  <a:srgbClr val="5A5A5A"/>
                </a:solidFill>
              </a:defRPr>
            </a:pPr>
            <a:r>
              <a:rPr sz="1200" b="0" i="0">
                <a:solidFill>
                  <a:srgbClr val="5A5A5A"/>
                </a:solidFill>
              </a:rPr>
              <a:t>Required rating values are complete and parseable</a:t>
            </a:r>
          </a:p>
        </p:txBody>
      </p:sp>
      <p:sp>
        <p:nvSpPr>
          <p:cNvPr id="23" name="rule">
            <a:extLst xmlns:a="http://schemas.openxmlformats.org/drawingml/2006/main">
              <a:ext uri="{FF2B5EF4-FFF2-40B4-BE49-F238E27FC236}">
                <a16:creationId xmlns:a16="http://schemas.microsoft.com/office/drawing/2014/main" id="{1EE62514-F721-4E63-8EB5-87836955FD03}"/>
              </a:ext>
            </a:extLst>
          </p:cNvPr>
          <p:cNvSpPr>
            <a:spLocks xmlns:a="http://schemas.openxmlformats.org/drawingml/2006/main" noGrp="1"/>
          </p:cNvSpPr>
          <p:nvPr/>
        </p:nvSpPr>
        <p:spPr>
          <a:xfrm xmlns:a="http://schemas.openxmlformats.org/drawingml/2006/main">
            <a:off x="609600" y="3486150"/>
            <a:ext cx="10972800" cy="9525"/>
          </a:xfrm>
          <a:prstGeom xmlns:a="http://schemas.openxmlformats.org/drawingml/2006/main" prst="rect">
            <a:avLst/>
          </a:prstGeom>
          <a:solidFill xmlns:a="http://schemas.openxmlformats.org/drawingml/2006/main">
            <a:srgbClr val="B8B0A4"/>
          </a:solidFill>
          <a:ln xmlns:a="http://schemas.openxmlformats.org/drawingml/2006/main" w="9525">
            <a:solidFill>
              <a:srgbClr val="B8B0A4"/>
            </a:solidFill>
            <a:prstDash val="solid"/>
          </a:ln>
        </p:spPr>
      </p:sp>
      <p:sp>
        <p:nvSpPr>
          <p:cNvPr id="24" name="text">
            <a:extLst xmlns:a="http://schemas.openxmlformats.org/drawingml/2006/main">
              <a:ext uri="{FF2B5EF4-FFF2-40B4-BE49-F238E27FC236}">
                <a16:creationId xmlns:a16="http://schemas.microsoft.com/office/drawing/2014/main" id="{995708C1-1775-41FB-A2F0-26F00755F148}"/>
              </a:ext>
            </a:extLst>
          </p:cNvPr>
          <p:cNvSpPr>
            <a:spLocks xmlns:a="http://schemas.openxmlformats.org/drawingml/2006/main" noGrp="1"/>
          </p:cNvSpPr>
          <p:nvPr/>
        </p:nvSpPr>
        <p:spPr>
          <a:xfrm xmlns:a="http://schemas.openxmlformats.org/drawingml/2006/main">
            <a:off x="666750" y="3552825"/>
            <a:ext cx="26289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i="0">
                <a:solidFill>
                  <a:srgbClr val="1A1A1A"/>
                </a:solidFill>
              </a:defRPr>
            </a:pPr>
            <a:r>
              <a:rPr sz="1200" b="1" i="0">
                <a:solidFill>
                  <a:srgbClr val="1A1A1A"/>
                </a:solidFill>
              </a:rPr>
              <a:t>Merge duplicate keys</a:t>
            </a:r>
          </a:p>
        </p:txBody>
      </p:sp>
      <p:sp>
        <p:nvSpPr>
          <p:cNvPr id="25" name="text">
            <a:extLst xmlns:a="http://schemas.openxmlformats.org/drawingml/2006/main">
              <a:ext uri="{FF2B5EF4-FFF2-40B4-BE49-F238E27FC236}">
                <a16:creationId xmlns:a16="http://schemas.microsoft.com/office/drawing/2014/main" id="{F8692EA5-0573-4C6F-8E1A-4FE5E51B1981}"/>
              </a:ext>
            </a:extLst>
          </p:cNvPr>
          <p:cNvSpPr>
            <a:spLocks xmlns:a="http://schemas.openxmlformats.org/drawingml/2006/main" noGrp="1"/>
          </p:cNvSpPr>
          <p:nvPr/>
        </p:nvSpPr>
        <p:spPr>
          <a:xfrm xmlns:a="http://schemas.openxmlformats.org/drawingml/2006/main">
            <a:off x="3409950" y="3552825"/>
            <a:ext cx="1860804"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200" b="0" i="0">
                <a:solidFill>
                  <a:srgbClr val="5A5A5A"/>
                </a:solidFill>
              </a:defRPr>
            </a:pPr>
            <a:r>
              <a:rPr sz="1200" b="0" i="0">
                <a:solidFill>
                  <a:srgbClr val="5A5A5A"/>
                </a:solidFill>
              </a:rPr>
              <a:t>−7</a:t>
            </a:r>
          </a:p>
        </p:txBody>
      </p:sp>
      <p:sp>
        <p:nvSpPr>
          <p:cNvPr id="26" name="text">
            <a:extLst xmlns:a="http://schemas.openxmlformats.org/drawingml/2006/main">
              <a:ext uri="{FF2B5EF4-FFF2-40B4-BE49-F238E27FC236}">
                <a16:creationId xmlns:a16="http://schemas.microsoft.com/office/drawing/2014/main" id="{D4DD302F-6D55-42EB-BAD8-996336587F4A}"/>
              </a:ext>
            </a:extLst>
          </p:cNvPr>
          <p:cNvSpPr>
            <a:spLocks xmlns:a="http://schemas.openxmlformats.org/drawingml/2006/main" noGrp="1"/>
          </p:cNvSpPr>
          <p:nvPr/>
        </p:nvSpPr>
        <p:spPr>
          <a:xfrm xmlns:a="http://schemas.openxmlformats.org/drawingml/2006/main">
            <a:off x="5385054" y="3552825"/>
            <a:ext cx="6140196"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0" i="0">
                <a:solidFill>
                  <a:srgbClr val="5A5A5A"/>
                </a:solidFill>
              </a:defRPr>
            </a:pPr>
            <a:r>
              <a:rPr sz="1200" b="0" i="0">
                <a:solidFill>
                  <a:srgbClr val="5A5A5A"/>
                </a:solidFill>
              </a:rPr>
              <a:t>Mean retains one target per matrix cell</a:t>
            </a:r>
          </a:p>
        </p:txBody>
      </p:sp>
      <p:sp>
        <p:nvSpPr>
          <p:cNvPr id="27" name="rule">
            <a:extLst xmlns:a="http://schemas.openxmlformats.org/drawingml/2006/main">
              <a:ext uri="{FF2B5EF4-FFF2-40B4-BE49-F238E27FC236}">
                <a16:creationId xmlns:a16="http://schemas.microsoft.com/office/drawing/2014/main" id="{7A680147-B442-4C15-9BDA-CB6BCB4B969D}"/>
              </a:ext>
            </a:extLst>
          </p:cNvPr>
          <p:cNvSpPr>
            <a:spLocks xmlns:a="http://schemas.openxmlformats.org/drawingml/2006/main" noGrp="1"/>
          </p:cNvSpPr>
          <p:nvPr/>
        </p:nvSpPr>
        <p:spPr>
          <a:xfrm xmlns:a="http://schemas.openxmlformats.org/drawingml/2006/main">
            <a:off x="609600" y="3952875"/>
            <a:ext cx="10972800" cy="9525"/>
          </a:xfrm>
          <a:prstGeom xmlns:a="http://schemas.openxmlformats.org/drawingml/2006/main" prst="rect">
            <a:avLst/>
          </a:prstGeom>
          <a:solidFill xmlns:a="http://schemas.openxmlformats.org/drawingml/2006/main">
            <a:srgbClr val="B8B0A4"/>
          </a:solidFill>
          <a:ln xmlns:a="http://schemas.openxmlformats.org/drawingml/2006/main" w="9525">
            <a:solidFill>
              <a:srgbClr val="B8B0A4"/>
            </a:solidFill>
            <a:prstDash val="solid"/>
          </a:ln>
        </p:spPr>
      </p:sp>
      <p:sp>
        <p:nvSpPr>
          <p:cNvPr id="28" name="text">
            <a:extLst xmlns:a="http://schemas.openxmlformats.org/drawingml/2006/main">
              <a:ext uri="{FF2B5EF4-FFF2-40B4-BE49-F238E27FC236}">
                <a16:creationId xmlns:a16="http://schemas.microsoft.com/office/drawing/2014/main" id="{DC503285-8BBE-4A03-ADF8-DEF4D6C12D44}"/>
              </a:ext>
            </a:extLst>
          </p:cNvPr>
          <p:cNvSpPr>
            <a:spLocks xmlns:a="http://schemas.openxmlformats.org/drawingml/2006/main" noGrp="1"/>
          </p:cNvSpPr>
          <p:nvPr/>
        </p:nvSpPr>
        <p:spPr>
          <a:xfrm xmlns:a="http://schemas.openxmlformats.org/drawingml/2006/main">
            <a:off x="666750" y="4019550"/>
            <a:ext cx="26289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i="0">
                <a:solidFill>
                  <a:srgbClr val="1A1A1A"/>
                </a:solidFill>
              </a:defRPr>
            </a:pPr>
            <a:r>
              <a:rPr sz="1200" b="1" i="0">
                <a:solidFill>
                  <a:srgbClr val="1A1A1A"/>
                </a:solidFill>
              </a:rPr>
              <a:t>Clean explicit interactions</a:t>
            </a:r>
          </a:p>
        </p:txBody>
      </p:sp>
      <p:sp>
        <p:nvSpPr>
          <p:cNvPr id="29" name="text">
            <a:extLst xmlns:a="http://schemas.openxmlformats.org/drawingml/2006/main">
              <a:ext uri="{FF2B5EF4-FFF2-40B4-BE49-F238E27FC236}">
                <a16:creationId xmlns:a16="http://schemas.microsoft.com/office/drawing/2014/main" id="{2F22147D-D8CD-4226-B622-D30C7383F1CF}"/>
              </a:ext>
            </a:extLst>
          </p:cNvPr>
          <p:cNvSpPr>
            <a:spLocks xmlns:a="http://schemas.openxmlformats.org/drawingml/2006/main" noGrp="1"/>
          </p:cNvSpPr>
          <p:nvPr/>
        </p:nvSpPr>
        <p:spPr>
          <a:xfrm xmlns:a="http://schemas.openxmlformats.org/drawingml/2006/main">
            <a:off x="3409950" y="4019550"/>
            <a:ext cx="1860804"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200" b="0" i="0">
                <a:solidFill>
                  <a:srgbClr val="5A5A5A"/>
                </a:solidFill>
              </a:defRPr>
            </a:pPr>
            <a:r>
              <a:rPr sz="1200" b="0" i="0">
                <a:solidFill>
                  <a:srgbClr val="5A5A5A"/>
                </a:solidFill>
              </a:rPr>
              <a:t>6,337,234</a:t>
            </a:r>
          </a:p>
        </p:txBody>
      </p:sp>
      <p:sp>
        <p:nvSpPr>
          <p:cNvPr id="30" name="text">
            <a:extLst xmlns:a="http://schemas.openxmlformats.org/drawingml/2006/main">
              <a:ext uri="{FF2B5EF4-FFF2-40B4-BE49-F238E27FC236}">
                <a16:creationId xmlns:a16="http://schemas.microsoft.com/office/drawing/2014/main" id="{D7E703D4-3D11-4751-A8E2-5EB132C6E3E1}"/>
              </a:ext>
            </a:extLst>
          </p:cNvPr>
          <p:cNvSpPr>
            <a:spLocks xmlns:a="http://schemas.openxmlformats.org/drawingml/2006/main" noGrp="1"/>
          </p:cNvSpPr>
          <p:nvPr/>
        </p:nvSpPr>
        <p:spPr>
          <a:xfrm xmlns:a="http://schemas.openxmlformats.org/drawingml/2006/main">
            <a:off x="5385054" y="4019550"/>
            <a:ext cx="6140196"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0" i="0">
                <a:solidFill>
                  <a:srgbClr val="5A5A5A"/>
                </a:solidFill>
              </a:defRPr>
            </a:pPr>
            <a:r>
              <a:rPr sz="1200" b="0" i="0">
                <a:solidFill>
                  <a:srgbClr val="5A5A5A"/>
                </a:solidFill>
              </a:rPr>
              <a:t>69,600 users · 9,927 anime · 0.9172% density</a:t>
            </a:r>
          </a:p>
        </p:txBody>
      </p:sp>
      <p:sp>
        <p:nvSpPr>
          <p:cNvPr id="31" name="rule">
            <a:extLst xmlns:a="http://schemas.openxmlformats.org/drawingml/2006/main">
              <a:ext uri="{FF2B5EF4-FFF2-40B4-BE49-F238E27FC236}">
                <a16:creationId xmlns:a16="http://schemas.microsoft.com/office/drawing/2014/main" id="{9AD37C96-86DE-46AB-AC56-B3C4237CB97A}"/>
              </a:ext>
            </a:extLst>
          </p:cNvPr>
          <p:cNvSpPr>
            <a:spLocks xmlns:a="http://schemas.openxmlformats.org/drawingml/2006/main" noGrp="1"/>
          </p:cNvSpPr>
          <p:nvPr/>
        </p:nvSpPr>
        <p:spPr>
          <a:xfrm xmlns:a="http://schemas.openxmlformats.org/drawingml/2006/main">
            <a:off x="609600" y="4419600"/>
            <a:ext cx="10972800" cy="9525"/>
          </a:xfrm>
          <a:prstGeom xmlns:a="http://schemas.openxmlformats.org/drawingml/2006/main" prst="rect">
            <a:avLst/>
          </a:prstGeom>
          <a:solidFill xmlns:a="http://schemas.openxmlformats.org/drawingml/2006/main">
            <a:srgbClr val="B8B0A4"/>
          </a:solidFill>
          <a:ln xmlns:a="http://schemas.openxmlformats.org/drawingml/2006/main" w="9525">
            <a:solidFill>
              <a:srgbClr val="B8B0A4"/>
            </a:solidFill>
            <a:prstDash val="solid"/>
          </a:ln>
        </p:spPr>
      </p:sp>
      <p:sp>
        <p:nvSpPr>
          <p:cNvPr id="32" name="rule">
            <a:extLst xmlns:a="http://schemas.openxmlformats.org/drawingml/2006/main">
              <a:ext uri="{FF2B5EF4-FFF2-40B4-BE49-F238E27FC236}">
                <a16:creationId xmlns:a16="http://schemas.microsoft.com/office/drawing/2014/main" id="{BA60E765-DD97-4A1E-8A4E-B3F48281D1E9}"/>
              </a:ext>
            </a:extLst>
          </p:cNvPr>
          <p:cNvSpPr>
            <a:spLocks xmlns:a="http://schemas.openxmlformats.org/drawingml/2006/main" noGrp="1"/>
          </p:cNvSpPr>
          <p:nvPr/>
        </p:nvSpPr>
        <p:spPr>
          <a:xfrm xmlns:a="http://schemas.openxmlformats.org/drawingml/2006/main">
            <a:off x="609600" y="4429125"/>
            <a:ext cx="5143500" cy="9525"/>
          </a:xfrm>
          <a:prstGeom xmlns:a="http://schemas.openxmlformats.org/drawingml/2006/main" prst="rect">
            <a:avLst/>
          </a:prstGeom>
          <a:solidFill xmlns:a="http://schemas.openxmlformats.org/drawingml/2006/main">
            <a:srgbClr val="1A1A1A"/>
          </a:solidFill>
          <a:ln xmlns:a="http://schemas.openxmlformats.org/drawingml/2006/main" w="9525">
            <a:solidFill>
              <a:srgbClr val="1A1A1A"/>
            </a:solidFill>
            <a:prstDash val="solid"/>
          </a:ln>
        </p:spPr>
      </p:sp>
      <p:sp>
        <p:nvSpPr>
          <p:cNvPr id="33" name="text">
            <a:extLst xmlns:a="http://schemas.openxmlformats.org/drawingml/2006/main">
              <a:ext uri="{FF2B5EF4-FFF2-40B4-BE49-F238E27FC236}">
                <a16:creationId xmlns:a16="http://schemas.microsoft.com/office/drawing/2014/main" id="{483FAE6A-A2F7-47FB-86A0-48D4864B5C33}"/>
              </a:ext>
            </a:extLst>
          </p:cNvPr>
          <p:cNvSpPr>
            <a:spLocks xmlns:a="http://schemas.openxmlformats.org/drawingml/2006/main" noGrp="1"/>
          </p:cNvSpPr>
          <p:nvPr/>
        </p:nvSpPr>
        <p:spPr>
          <a:xfrm xmlns:a="http://schemas.openxmlformats.org/drawingml/2006/main">
            <a:off x="609600" y="4543425"/>
            <a:ext cx="5143500" cy="3038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i="0">
                <a:solidFill>
                  <a:srgbClr val="1A1A1A"/>
                </a:solidFill>
              </a:defRPr>
            </a:pPr>
            <a:r>
              <a:rPr sz="1650" b="0" i="0">
                <a:solidFill>
                  <a:srgbClr val="1A1A1A"/>
                </a:solidFill>
              </a:rPr>
              <a:t>Why not map −1 to 0 or 1?</a:t>
            </a:r>
          </a:p>
        </p:txBody>
      </p:sp>
      <p:sp>
        <p:nvSpPr>
          <p:cNvPr id="34" name="text">
            <a:extLst xmlns:a="http://schemas.openxmlformats.org/drawingml/2006/main">
              <a:ext uri="{FF2B5EF4-FFF2-40B4-BE49-F238E27FC236}">
                <a16:creationId xmlns:a16="http://schemas.microsoft.com/office/drawing/2014/main" id="{F3497CA8-F5E9-4A9E-9C05-D5405CE3E387}"/>
              </a:ext>
            </a:extLst>
          </p:cNvPr>
          <p:cNvSpPr>
            <a:spLocks xmlns:a="http://schemas.openxmlformats.org/drawingml/2006/main" noGrp="1"/>
          </p:cNvSpPr>
          <p:nvPr/>
        </p:nvSpPr>
        <p:spPr>
          <a:xfrm xmlns:a="http://schemas.openxmlformats.org/drawingml/2006/main">
            <a:off x="609600" y="4924425"/>
            <a:ext cx="5143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i="0">
                <a:solidFill>
                  <a:srgbClr val="5A5A5A"/>
                </a:solidFill>
              </a:defRPr>
            </a:pPr>
            <a:r>
              <a:rPr sz="1350" b="0" i="0">
                <a:solidFill>
                  <a:srgbClr val="5A5A5A"/>
                </a:solidFill>
              </a:rPr>
              <a:t>It would teach that “watched but unrated” is negative preference, changing the signal’s meaning.</a:t>
            </a:r>
          </a:p>
        </p:txBody>
      </p:sp>
      <p:sp>
        <p:nvSpPr>
          <p:cNvPr id="35" name="rule">
            <a:extLst xmlns:a="http://schemas.openxmlformats.org/drawingml/2006/main">
              <a:ext uri="{FF2B5EF4-FFF2-40B4-BE49-F238E27FC236}">
                <a16:creationId xmlns:a16="http://schemas.microsoft.com/office/drawing/2014/main" id="{72033B99-516F-4CB4-BF5A-5CC8DF574E85}"/>
              </a:ext>
            </a:extLst>
          </p:cNvPr>
          <p:cNvSpPr>
            <a:spLocks xmlns:a="http://schemas.openxmlformats.org/drawingml/2006/main" noGrp="1"/>
          </p:cNvSpPr>
          <p:nvPr/>
        </p:nvSpPr>
        <p:spPr>
          <a:xfrm xmlns:a="http://schemas.openxmlformats.org/drawingml/2006/main">
            <a:off x="6438900" y="4429125"/>
            <a:ext cx="5143500" cy="9525"/>
          </a:xfrm>
          <a:prstGeom xmlns:a="http://schemas.openxmlformats.org/drawingml/2006/main" prst="rect">
            <a:avLst/>
          </a:prstGeom>
          <a:solidFill xmlns:a="http://schemas.openxmlformats.org/drawingml/2006/main">
            <a:srgbClr val="1A1A1A"/>
          </a:solidFill>
          <a:ln xmlns:a="http://schemas.openxmlformats.org/drawingml/2006/main" w="9525">
            <a:solidFill>
              <a:srgbClr val="1A1A1A"/>
            </a:solidFill>
            <a:prstDash val="solid"/>
          </a:ln>
        </p:spPr>
      </p:sp>
      <p:sp>
        <p:nvSpPr>
          <p:cNvPr id="36" name="text">
            <a:extLst xmlns:a="http://schemas.openxmlformats.org/drawingml/2006/main">
              <a:ext uri="{FF2B5EF4-FFF2-40B4-BE49-F238E27FC236}">
                <a16:creationId xmlns:a16="http://schemas.microsoft.com/office/drawing/2014/main" id="{525019A6-78E9-4808-8637-BBE36E2E2034}"/>
              </a:ext>
            </a:extLst>
          </p:cNvPr>
          <p:cNvSpPr>
            <a:spLocks xmlns:a="http://schemas.openxmlformats.org/drawingml/2006/main" noGrp="1"/>
          </p:cNvSpPr>
          <p:nvPr/>
        </p:nvSpPr>
        <p:spPr>
          <a:xfrm xmlns:a="http://schemas.openxmlformats.org/drawingml/2006/main">
            <a:off x="6438900" y="4543425"/>
            <a:ext cx="5143500" cy="3038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i="0">
                <a:solidFill>
                  <a:srgbClr val="1A1A1A"/>
                </a:solidFill>
              </a:defRPr>
            </a:pPr>
            <a:r>
              <a:rPr sz="1650" b="0" i="0">
                <a:solidFill>
                  <a:srgbClr val="1A1A1A"/>
                </a:solidFill>
              </a:rPr>
              <a:t>Why can ratings be fractional?</a:t>
            </a:r>
          </a:p>
        </p:txBody>
      </p:sp>
      <p:sp>
        <p:nvSpPr>
          <p:cNvPr id="37" name="text">
            <a:extLst xmlns:a="http://schemas.openxmlformats.org/drawingml/2006/main">
              <a:ext uri="{FF2B5EF4-FFF2-40B4-BE49-F238E27FC236}">
                <a16:creationId xmlns:a16="http://schemas.microsoft.com/office/drawing/2014/main" id="{D27A521B-9887-4A35-B85D-85F9EB81987F}"/>
              </a:ext>
            </a:extLst>
          </p:cNvPr>
          <p:cNvSpPr>
            <a:spLocks xmlns:a="http://schemas.openxmlformats.org/drawingml/2006/main" noGrp="1"/>
          </p:cNvSpPr>
          <p:nvPr/>
        </p:nvSpPr>
        <p:spPr>
          <a:xfrm xmlns:a="http://schemas.openxmlformats.org/drawingml/2006/main">
            <a:off x="6438900" y="4924425"/>
            <a:ext cx="5143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i="0">
                <a:solidFill>
                  <a:srgbClr val="5A5A5A"/>
                </a:solidFill>
              </a:defRPr>
            </a:pPr>
            <a:r>
              <a:rPr sz="1350" b="0" i="0">
                <a:solidFill>
                  <a:srgbClr val="5A5A5A"/>
                </a:solidFill>
              </a:rPr>
              <a:t>Duplicate averaging creates valid 6.5 and 8.5 targets while remaining inside [1, 10].</a:t>
            </a:r>
          </a:p>
        </p:txBody>
      </p:sp>
    </p:spTree>
    <p:extLst>
      <p:ext uri="{BB962C8B-B14F-4D97-AF65-F5344CB8AC3E}">
        <p14:creationId xmlns:p14="http://schemas.microsoft.com/office/powerpoint/2010/main" val="1956003454"/>
      </p:ext>
    </p:extLst>
  </p:cSld>
</p:sld>
</file>

<file path=ppt/slides/slide5.xml><?xml version="1.0" encoding="utf-8"?>
<p:sld xmlns:p="http://schemas.openxmlformats.org/presentationml/2006/main">
  <p:cSld>
    <p:bg>
      <p:bgPr>
        <a:solidFill xmlns:a="http://schemas.openxmlformats.org/drawingml/2006/main">
          <a:srgbClr val="EDE8E0"/>
        </a:solidFill>
      </p:bgPr>
    </p:bg>
    <p:spTree>
      <p:nvGrpSpPr>
        <p:cNvPr id="1" name=""/>
        <p:cNvGrpSpPr/>
        <p:nvPr/>
      </p:nvGrpSpPr>
      <p:grpSpPr>
        <a:xfrm xmlns:a="http://schemas.openxmlformats.org/drawingml/2006/main"/>
      </p:grpSpPr>
      <p:sp>
        <p:nvSpPr>
          <p:cNvPr id="23" name="outer-ring">
            <a:extLst xmlns:a="http://schemas.openxmlformats.org/drawingml/2006/main">
              <a:ext uri="{FF2B5EF4-FFF2-40B4-BE49-F238E27FC236}">
                <a16:creationId xmlns:a16="http://schemas.microsoft.com/office/drawing/2014/main" id="{2C773964-6E16-426B-A839-F706A6345C2E}"/>
              </a:ext>
            </a:extLst>
          </p:cNvPr>
          <p:cNvSpPr>
            <a:spLocks xmlns:a="http://schemas.openxmlformats.org/drawingml/2006/main" noGrp="1"/>
          </p:cNvSpPr>
          <p:nvPr/>
        </p:nvSpPr>
        <p:spPr>
          <a:xfrm xmlns:a="http://schemas.openxmlformats.org/drawingml/2006/main">
            <a:off x="9620250" y="-1143000"/>
            <a:ext cx="3714750" cy="3714750"/>
          </a:xfrm>
          <a:prstGeom xmlns:a="http://schemas.openxmlformats.org/drawingml/2006/main" prst="rect">
            <a:avLst/>
          </a:prstGeom>
          <a:noFill xmlns:a="http://schemas.openxmlformats.org/drawingml/2006/main"/>
          <a:ln xmlns:a="http://schemas.openxmlformats.org/drawingml/2006/main" w="9525">
            <a:solidFill>
              <a:srgbClr val="B8B0A4"/>
            </a:solidFill>
            <a:prstDash val="solid"/>
          </a:ln>
        </p:spPr>
      </p:sp>
      <p:sp>
        <p:nvSpPr>
          <p:cNvPr id="2" name="inner-ring">
            <a:extLst xmlns:a="http://schemas.openxmlformats.org/drawingml/2006/main">
              <a:ext uri="{FF2B5EF4-FFF2-40B4-BE49-F238E27FC236}">
                <a16:creationId xmlns:a16="http://schemas.microsoft.com/office/drawing/2014/main" id="{E771CB21-892A-442F-97A5-EB1BB1092E9D}"/>
              </a:ext>
            </a:extLst>
          </p:cNvPr>
          <p:cNvSpPr>
            <a:spLocks xmlns:a="http://schemas.openxmlformats.org/drawingml/2006/main" noGrp="1"/>
          </p:cNvSpPr>
          <p:nvPr/>
        </p:nvSpPr>
        <p:spPr>
          <a:xfrm xmlns:a="http://schemas.openxmlformats.org/drawingml/2006/main">
            <a:off x="10191750" y="-571500"/>
            <a:ext cx="2571750" cy="2571750"/>
          </a:xfrm>
          <a:prstGeom xmlns:a="http://schemas.openxmlformats.org/drawingml/2006/main" prst="rect">
            <a:avLst/>
          </a:prstGeom>
          <a:noFill xmlns:a="http://schemas.openxmlformats.org/drawingml/2006/main"/>
          <a:ln xmlns:a="http://schemas.openxmlformats.org/drawingml/2006/main" w="9525">
            <a:solidFill>
              <a:srgbClr val="B8B0A4"/>
            </a:solidFill>
            <a:prstDash val="solid"/>
          </a:ln>
        </p:spPr>
      </p:sp>
      <p:sp>
        <p:nvSpPr>
          <p:cNvPr id="3" name="eyebrow">
            <a:extLst xmlns:a="http://schemas.openxmlformats.org/drawingml/2006/main">
              <a:ext uri="{FF2B5EF4-FFF2-40B4-BE49-F238E27FC236}">
                <a16:creationId xmlns:a16="http://schemas.microsoft.com/office/drawing/2014/main" id="{6863E621-CBB1-4CC2-8C19-E19075C65525}"/>
              </a:ext>
            </a:extLst>
          </p:cNvPr>
          <p:cNvSpPr>
            <a:spLocks xmlns:a="http://schemas.openxmlformats.org/drawingml/2006/main" noGrp="1"/>
          </p:cNvSpPr>
          <p:nvPr/>
        </p:nvSpPr>
        <p:spPr>
          <a:xfrm xmlns:a="http://schemas.openxmlformats.org/drawingml/2006/main">
            <a:off x="609600" y="4000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i="0">
                <a:solidFill>
                  <a:srgbClr val="8A8178"/>
                </a:solidFill>
              </a:defRPr>
            </a:pPr>
            <a:r>
              <a:rPr sz="975" b="1" i="0">
                <a:solidFill>
                  <a:srgbClr val="8A8178"/>
                </a:solidFill>
              </a:rPr>
              <a:t>EXPLORATORY DATA ANALYSIS</a:t>
            </a:r>
          </a:p>
        </p:txBody>
      </p:sp>
      <p:sp>
        <p:nvSpPr>
          <p:cNvPr id="4" name="title">
            <a:extLst xmlns:a="http://schemas.openxmlformats.org/drawingml/2006/main">
              <a:ext uri="{FF2B5EF4-FFF2-40B4-BE49-F238E27FC236}">
                <a16:creationId xmlns:a16="http://schemas.microsoft.com/office/drawing/2014/main" id="{CF51AD5A-068C-4FCD-8527-F316D3E8A4C3}"/>
              </a:ext>
            </a:extLst>
          </p:cNvPr>
          <p:cNvSpPr>
            <a:spLocks xmlns:a="http://schemas.openxmlformats.org/drawingml/2006/main" noGrp="1"/>
          </p:cNvSpPr>
          <p:nvPr/>
        </p:nvSpPr>
        <p:spPr>
          <a:xfrm xmlns:a="http://schemas.openxmlformats.org/drawingml/2006/main">
            <a:off x="609600" y="723900"/>
            <a:ext cx="10668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150" b="0" i="0">
                <a:solidFill>
                  <a:srgbClr val="1A1A1A"/>
                </a:solidFill>
              </a:defRPr>
            </a:pPr>
            <a:r>
              <a:rPr sz="3150" b="0" i="0">
                <a:solidFill>
                  <a:srgbClr val="1A1A1A"/>
                </a:solidFill>
              </a:rPr>
              <a:t>EDA exposes sparsity, positive skew, and unequal evidence</a:t>
            </a:r>
          </a:p>
        </p:txBody>
      </p:sp>
      <p:sp>
        <p:nvSpPr>
          <p:cNvPr id="5" name="rule">
            <a:extLst xmlns:a="http://schemas.openxmlformats.org/drawingml/2006/main">
              <a:ext uri="{FF2B5EF4-FFF2-40B4-BE49-F238E27FC236}">
                <a16:creationId xmlns:a16="http://schemas.microsoft.com/office/drawing/2014/main" id="{952410C4-B344-4863-AE2D-6A4AB25DBAC9}"/>
              </a:ext>
            </a:extLst>
          </p:cNvPr>
          <p:cNvSpPr>
            <a:spLocks xmlns:a="http://schemas.openxmlformats.org/drawingml/2006/main" noGrp="1"/>
          </p:cNvSpPr>
          <p:nvPr/>
        </p:nvSpPr>
        <p:spPr>
          <a:xfrm xmlns:a="http://schemas.openxmlformats.org/drawingml/2006/main">
            <a:off x="609600" y="6429375"/>
            <a:ext cx="10972800" cy="9525"/>
          </a:xfrm>
          <a:prstGeom xmlns:a="http://schemas.openxmlformats.org/drawingml/2006/main" prst="rect">
            <a:avLst/>
          </a:prstGeom>
          <a:solidFill xmlns:a="http://schemas.openxmlformats.org/drawingml/2006/main">
            <a:srgbClr val="B8B0A4"/>
          </a:solidFill>
          <a:ln xmlns:a="http://schemas.openxmlformats.org/drawingml/2006/main" w="9525">
            <a:solidFill>
              <a:srgbClr val="B8B0A4"/>
            </a:solidFill>
            <a:prstDash val="solid"/>
          </a:ln>
        </p:spPr>
      </p:sp>
      <p:sp>
        <p:nvSpPr>
          <p:cNvPr id="6" name="text">
            <a:extLst xmlns:a="http://schemas.openxmlformats.org/drawingml/2006/main">
              <a:ext uri="{FF2B5EF4-FFF2-40B4-BE49-F238E27FC236}">
                <a16:creationId xmlns:a16="http://schemas.microsoft.com/office/drawing/2014/main" id="{3E46741C-DFA5-4EA6-BCFC-B1AD4E59A812}"/>
              </a:ext>
            </a:extLst>
          </p:cNvPr>
          <p:cNvSpPr>
            <a:spLocks xmlns:a="http://schemas.openxmlformats.org/drawingml/2006/main" noGrp="1"/>
          </p:cNvSpPr>
          <p:nvPr/>
        </p:nvSpPr>
        <p:spPr>
          <a:xfrm xmlns:a="http://schemas.openxmlformats.org/drawingml/2006/main">
            <a:off x="609600" y="652462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1" i="0">
                <a:solidFill>
                  <a:srgbClr val="8A8178"/>
                </a:solidFill>
              </a:defRPr>
            </a:pPr>
            <a:r>
              <a:rPr sz="750" b="1" i="0">
                <a:solidFill>
                  <a:srgbClr val="8A8178"/>
                </a:solidFill>
              </a:rPr>
              <a:t>GROUP 14 · DUY TAN UNIVERSITY, DA NANG</a:t>
            </a:r>
          </a:p>
        </p:txBody>
      </p:sp>
      <p:sp>
        <p:nvSpPr>
          <p:cNvPr id="7" name="text">
            <a:extLst xmlns:a="http://schemas.openxmlformats.org/drawingml/2006/main">
              <a:ext uri="{FF2B5EF4-FFF2-40B4-BE49-F238E27FC236}">
                <a16:creationId xmlns:a16="http://schemas.microsoft.com/office/drawing/2014/main" id="{FE15DACE-5082-4266-9F76-C51A24D0913F}"/>
              </a:ext>
            </a:extLst>
          </p:cNvPr>
          <p:cNvSpPr>
            <a:spLocks xmlns:a="http://schemas.openxmlformats.org/drawingml/2006/main" noGrp="1"/>
          </p:cNvSpPr>
          <p:nvPr/>
        </p:nvSpPr>
        <p:spPr>
          <a:xfrm xmlns:a="http://schemas.openxmlformats.org/drawingml/2006/main">
            <a:off x="11144250" y="65246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750" b="0" i="0">
                <a:solidFill>
                  <a:srgbClr val="8A8178"/>
                </a:solidFill>
              </a:defRPr>
            </a:pPr>
            <a:r>
              <a:rPr sz="750" b="0" i="0">
                <a:solidFill>
                  <a:srgbClr val="8A8178"/>
                </a:solidFill>
              </a:rPr>
              <a:t>05</a:t>
            </a:r>
          </a:p>
        </p:txBody>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3721fa59ca984a11"/>
          <a:stretch xmlns:a="http://schemas.openxmlformats.org/drawingml/2006/main"/>
        </p:blipFill>
        <p:spPr>
          <a:xfrm xmlns:a="http://schemas.openxmlformats.org/drawingml/2006/main">
            <a:off x="609600" y="1660576"/>
            <a:ext cx="5095875" cy="2774848"/>
          </a:xfrm>
          <a:prstGeom xmlns:a="http://schemas.openxmlformats.org/drawingml/2006/main" prst="rect">
            <a:avLst/>
          </a:prstGeom>
        </p:spPr>
      </p:pic>
      <p:sp>
        <p:nvSpPr>
          <p:cNvPr id="9" name="image-frame">
            <a:extLst xmlns:a="http://schemas.openxmlformats.org/drawingml/2006/main">
              <a:ext uri="{FF2B5EF4-FFF2-40B4-BE49-F238E27FC236}">
                <a16:creationId xmlns:a16="http://schemas.microsoft.com/office/drawing/2014/main" id="{29DA03A4-803C-4181-98CA-6F9A0074F070}"/>
              </a:ext>
            </a:extLst>
          </p:cNvPr>
          <p:cNvSpPr>
            <a:spLocks xmlns:a="http://schemas.openxmlformats.org/drawingml/2006/main" noGrp="1"/>
          </p:cNvSpPr>
          <p:nvPr/>
        </p:nvSpPr>
        <p:spPr>
          <a:xfrm xmlns:a="http://schemas.openxmlformats.org/drawingml/2006/main">
            <a:off x="609600" y="1619250"/>
            <a:ext cx="5095875" cy="2857500"/>
          </a:xfrm>
          <a:prstGeom xmlns:a="http://schemas.openxmlformats.org/drawingml/2006/main" prst="rect">
            <a:avLst/>
          </a:prstGeom>
          <a:noFill xmlns:a="http://schemas.openxmlformats.org/drawingml/2006/main"/>
          <a:ln xmlns:a="http://schemas.openxmlformats.org/drawingml/2006/main" w="9525">
            <a:solidFill>
              <a:srgbClr val="B8B0A4"/>
            </a:solidFill>
            <a:prstDash val="solid"/>
          </a:ln>
        </p:spPr>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fbdd3511f8e24557"/>
          <a:stretch xmlns:a="http://schemas.openxmlformats.org/drawingml/2006/main"/>
        </p:blipFill>
        <p:spPr>
          <a:xfrm xmlns:a="http://schemas.openxmlformats.org/drawingml/2006/main">
            <a:off x="6486525" y="1675103"/>
            <a:ext cx="5095875" cy="2745794"/>
          </a:xfrm>
          <a:prstGeom xmlns:a="http://schemas.openxmlformats.org/drawingml/2006/main" prst="rect">
            <a:avLst/>
          </a:prstGeom>
        </p:spPr>
      </p:pic>
      <p:sp>
        <p:nvSpPr>
          <p:cNvPr id="11" name="image-frame">
            <a:extLst xmlns:a="http://schemas.openxmlformats.org/drawingml/2006/main">
              <a:ext uri="{FF2B5EF4-FFF2-40B4-BE49-F238E27FC236}">
                <a16:creationId xmlns:a16="http://schemas.microsoft.com/office/drawing/2014/main" id="{397C1C7D-055C-4312-A2ED-0A488BE9C32E}"/>
              </a:ext>
            </a:extLst>
          </p:cNvPr>
          <p:cNvSpPr>
            <a:spLocks xmlns:a="http://schemas.openxmlformats.org/drawingml/2006/main" noGrp="1"/>
          </p:cNvSpPr>
          <p:nvPr/>
        </p:nvSpPr>
        <p:spPr>
          <a:xfrm xmlns:a="http://schemas.openxmlformats.org/drawingml/2006/main">
            <a:off x="6486525" y="1619250"/>
            <a:ext cx="5095875" cy="2857500"/>
          </a:xfrm>
          <a:prstGeom xmlns:a="http://schemas.openxmlformats.org/drawingml/2006/main" prst="rect">
            <a:avLst/>
          </a:prstGeom>
          <a:noFill xmlns:a="http://schemas.openxmlformats.org/drawingml/2006/main"/>
          <a:ln xmlns:a="http://schemas.openxmlformats.org/drawingml/2006/main" w="9525">
            <a:solidFill>
              <a:srgbClr val="B8B0A4"/>
            </a:solidFill>
            <a:prstDash val="solid"/>
          </a:ln>
        </p:spPr>
      </p:sp>
      <p:sp>
        <p:nvSpPr>
          <p:cNvPr id="12" name="text">
            <a:extLst xmlns:a="http://schemas.openxmlformats.org/drawingml/2006/main">
              <a:ext uri="{FF2B5EF4-FFF2-40B4-BE49-F238E27FC236}">
                <a16:creationId xmlns:a16="http://schemas.microsoft.com/office/drawing/2014/main" id="{A638C9AF-BA62-4865-B185-B3D509A6CE8F}"/>
              </a:ext>
            </a:extLst>
          </p:cNvPr>
          <p:cNvSpPr>
            <a:spLocks xmlns:a="http://schemas.openxmlformats.org/drawingml/2006/main" noGrp="1"/>
          </p:cNvSpPr>
          <p:nvPr/>
        </p:nvSpPr>
        <p:spPr>
          <a:xfrm xmlns:a="http://schemas.openxmlformats.org/drawingml/2006/main">
            <a:off x="609600" y="4572000"/>
            <a:ext cx="5095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i="0">
                <a:solidFill>
                  <a:srgbClr val="5A5A5A"/>
                </a:solidFill>
              </a:defRPr>
            </a:pPr>
            <a:r>
              <a:rPr sz="1275" b="1" i="0">
                <a:solidFill>
                  <a:srgbClr val="5A5A5A"/>
                </a:solidFill>
              </a:rPr>
              <a:t>Mean 7.81 · mode 8 · 82.55% of ratings ≥7</a:t>
            </a:r>
          </a:p>
        </p:txBody>
      </p:sp>
      <p:sp>
        <p:nvSpPr>
          <p:cNvPr id="13" name="text">
            <a:extLst xmlns:a="http://schemas.openxmlformats.org/drawingml/2006/main">
              <a:ext uri="{FF2B5EF4-FFF2-40B4-BE49-F238E27FC236}">
                <a16:creationId xmlns:a16="http://schemas.microsoft.com/office/drawing/2014/main" id="{34CEE62E-F5DD-4736-A235-450A112F9DBD}"/>
              </a:ext>
            </a:extLst>
          </p:cNvPr>
          <p:cNvSpPr>
            <a:spLocks xmlns:a="http://schemas.openxmlformats.org/drawingml/2006/main" noGrp="1"/>
          </p:cNvSpPr>
          <p:nvPr/>
        </p:nvSpPr>
        <p:spPr>
          <a:xfrm xmlns:a="http://schemas.openxmlformats.org/drawingml/2006/main">
            <a:off x="6486525" y="4572000"/>
            <a:ext cx="5095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i="0">
                <a:solidFill>
                  <a:srgbClr val="5A5A5A"/>
                </a:solidFill>
              </a:defRPr>
            </a:pPr>
            <a:r>
              <a:rPr sz="1275" b="1" i="0">
                <a:solidFill>
                  <a:srgbClr val="5A5A5A"/>
                </a:solidFill>
              </a:rPr>
              <a:t>Median 45 · P90 230 · P99 640 ratings per user</a:t>
            </a:r>
          </a:p>
        </p:txBody>
      </p:sp>
      <p:sp>
        <p:nvSpPr>
          <p:cNvPr id="14" name="rule">
            <a:extLst xmlns:a="http://schemas.openxmlformats.org/drawingml/2006/main">
              <a:ext uri="{FF2B5EF4-FFF2-40B4-BE49-F238E27FC236}">
                <a16:creationId xmlns:a16="http://schemas.microsoft.com/office/drawing/2014/main" id="{EA8435DD-6D45-4334-B333-B966179CA45A}"/>
              </a:ext>
            </a:extLst>
          </p:cNvPr>
          <p:cNvSpPr>
            <a:spLocks xmlns:a="http://schemas.openxmlformats.org/drawingml/2006/main" noGrp="1"/>
          </p:cNvSpPr>
          <p:nvPr/>
        </p:nvSpPr>
        <p:spPr>
          <a:xfrm xmlns:a="http://schemas.openxmlformats.org/drawingml/2006/main">
            <a:off x="609600" y="5048250"/>
            <a:ext cx="3371850" cy="9525"/>
          </a:xfrm>
          <a:prstGeom xmlns:a="http://schemas.openxmlformats.org/drawingml/2006/main" prst="rect">
            <a:avLst/>
          </a:prstGeom>
          <a:solidFill xmlns:a="http://schemas.openxmlformats.org/drawingml/2006/main">
            <a:srgbClr val="1A1A1A"/>
          </a:solidFill>
          <a:ln xmlns:a="http://schemas.openxmlformats.org/drawingml/2006/main" w="9525">
            <a:solidFill>
              <a:srgbClr val="1A1A1A"/>
            </a:solidFill>
            <a:prstDash val="solid"/>
          </a:ln>
        </p:spPr>
      </p:sp>
      <p:sp>
        <p:nvSpPr>
          <p:cNvPr id="15" name="text">
            <a:extLst xmlns:a="http://schemas.openxmlformats.org/drawingml/2006/main">
              <a:ext uri="{FF2B5EF4-FFF2-40B4-BE49-F238E27FC236}">
                <a16:creationId xmlns:a16="http://schemas.microsoft.com/office/drawing/2014/main" id="{7B1085F2-1F15-4C84-8330-93EA86C40443}"/>
              </a:ext>
            </a:extLst>
          </p:cNvPr>
          <p:cNvSpPr>
            <a:spLocks xmlns:a="http://schemas.openxmlformats.org/drawingml/2006/main" noGrp="1"/>
          </p:cNvSpPr>
          <p:nvPr/>
        </p:nvSpPr>
        <p:spPr>
          <a:xfrm xmlns:a="http://schemas.openxmlformats.org/drawingml/2006/main">
            <a:off x="609600" y="5162550"/>
            <a:ext cx="3371850" cy="19907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i="0">
                <a:solidFill>
                  <a:srgbClr val="1A1A1A"/>
                </a:solidFill>
              </a:defRPr>
            </a:pPr>
            <a:r>
              <a:rPr sz="1650" b="0" i="0">
                <a:solidFill>
                  <a:srgbClr val="1A1A1A"/>
                </a:solidFill>
              </a:rPr>
              <a:t>0.9172% density</a:t>
            </a:r>
          </a:p>
        </p:txBody>
      </p:sp>
      <p:sp>
        <p:nvSpPr>
          <p:cNvPr id="16" name="text">
            <a:extLst xmlns:a="http://schemas.openxmlformats.org/drawingml/2006/main">
              <a:ext uri="{FF2B5EF4-FFF2-40B4-BE49-F238E27FC236}">
                <a16:creationId xmlns:a16="http://schemas.microsoft.com/office/drawing/2014/main" id="{79CFF23C-BAE1-4BA1-87E5-F2C824A3ED2F}"/>
              </a:ext>
            </a:extLst>
          </p:cNvPr>
          <p:cNvSpPr>
            <a:spLocks xmlns:a="http://schemas.openxmlformats.org/drawingml/2006/main" noGrp="1"/>
          </p:cNvSpPr>
          <p:nvPr/>
        </p:nvSpPr>
        <p:spPr>
          <a:xfrm xmlns:a="http://schemas.openxmlformats.org/drawingml/2006/main">
            <a:off x="609600" y="5543550"/>
            <a:ext cx="3371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i="0">
                <a:solidFill>
                  <a:srgbClr val="5A5A5A"/>
                </a:solidFill>
              </a:defRPr>
            </a:pPr>
            <a:r>
              <a:rPr sz="1350" b="0" i="0">
                <a:solidFill>
                  <a:srgbClr val="5A5A5A"/>
                </a:solidFill>
              </a:rPr>
              <a:t>Extreme missingness supports collaborative filtering.</a:t>
            </a:r>
          </a:p>
        </p:txBody>
      </p:sp>
      <p:sp>
        <p:nvSpPr>
          <p:cNvPr id="17" name="rule">
            <a:extLst xmlns:a="http://schemas.openxmlformats.org/drawingml/2006/main">
              <a:ext uri="{FF2B5EF4-FFF2-40B4-BE49-F238E27FC236}">
                <a16:creationId xmlns:a16="http://schemas.microsoft.com/office/drawing/2014/main" id="{50881A4A-5D37-4DEE-A1AD-C4CC74B57118}"/>
              </a:ext>
            </a:extLst>
          </p:cNvPr>
          <p:cNvSpPr>
            <a:spLocks xmlns:a="http://schemas.openxmlformats.org/drawingml/2006/main" noGrp="1"/>
          </p:cNvSpPr>
          <p:nvPr/>
        </p:nvSpPr>
        <p:spPr>
          <a:xfrm xmlns:a="http://schemas.openxmlformats.org/drawingml/2006/main">
            <a:off x="4410075" y="5048250"/>
            <a:ext cx="3371850" cy="9525"/>
          </a:xfrm>
          <a:prstGeom xmlns:a="http://schemas.openxmlformats.org/drawingml/2006/main" prst="rect">
            <a:avLst/>
          </a:prstGeom>
          <a:solidFill xmlns:a="http://schemas.openxmlformats.org/drawingml/2006/main">
            <a:srgbClr val="1A1A1A"/>
          </a:solidFill>
          <a:ln xmlns:a="http://schemas.openxmlformats.org/drawingml/2006/main" w="9525">
            <a:solidFill>
              <a:srgbClr val="1A1A1A"/>
            </a:solidFill>
            <a:prstDash val="solid"/>
          </a:ln>
        </p:spPr>
      </p:sp>
      <p:sp>
        <p:nvSpPr>
          <p:cNvPr id="18" name="text">
            <a:extLst xmlns:a="http://schemas.openxmlformats.org/drawingml/2006/main">
              <a:ext uri="{FF2B5EF4-FFF2-40B4-BE49-F238E27FC236}">
                <a16:creationId xmlns:a16="http://schemas.microsoft.com/office/drawing/2014/main" id="{7E4FBAB1-8D15-442A-849F-F30B646AB19B}"/>
              </a:ext>
            </a:extLst>
          </p:cNvPr>
          <p:cNvSpPr>
            <a:spLocks xmlns:a="http://schemas.openxmlformats.org/drawingml/2006/main" noGrp="1"/>
          </p:cNvSpPr>
          <p:nvPr/>
        </p:nvSpPr>
        <p:spPr>
          <a:xfrm xmlns:a="http://schemas.openxmlformats.org/drawingml/2006/main">
            <a:off x="4410075" y="5162550"/>
            <a:ext cx="3371850" cy="19907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i="0">
                <a:solidFill>
                  <a:srgbClr val="1A1A1A"/>
                </a:solidFill>
              </a:defRPr>
            </a:pPr>
            <a:r>
              <a:rPr sz="1650" b="0" i="0">
                <a:solidFill>
                  <a:srgbClr val="1A1A1A"/>
                </a:solidFill>
              </a:rPr>
              <a:t>34,226 ratings</a:t>
            </a:r>
          </a:p>
        </p:txBody>
      </p:sp>
      <p:sp>
        <p:nvSpPr>
          <p:cNvPr id="19" name="text">
            <a:extLst xmlns:a="http://schemas.openxmlformats.org/drawingml/2006/main">
              <a:ext uri="{FF2B5EF4-FFF2-40B4-BE49-F238E27FC236}">
                <a16:creationId xmlns:a16="http://schemas.microsoft.com/office/drawing/2014/main" id="{70B558CD-CA70-41B8-8EB4-808EE97E7908}"/>
              </a:ext>
            </a:extLst>
          </p:cNvPr>
          <p:cNvSpPr>
            <a:spLocks xmlns:a="http://schemas.openxmlformats.org/drawingml/2006/main" noGrp="1"/>
          </p:cNvSpPr>
          <p:nvPr/>
        </p:nvSpPr>
        <p:spPr>
          <a:xfrm xmlns:a="http://schemas.openxmlformats.org/drawingml/2006/main">
            <a:off x="4410075" y="5543550"/>
            <a:ext cx="3371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i="0">
                <a:solidFill>
                  <a:srgbClr val="5A5A5A"/>
                </a:solidFill>
              </a:defRPr>
            </a:pPr>
            <a:r>
              <a:rPr sz="1350" b="0" i="0">
                <a:solidFill>
                  <a:srgbClr val="5A5A5A"/>
                </a:solidFill>
              </a:rPr>
              <a:t>Death Note shows concentrated popularity.</a:t>
            </a:r>
          </a:p>
        </p:txBody>
      </p:sp>
      <p:sp>
        <p:nvSpPr>
          <p:cNvPr id="20" name="rule">
            <a:extLst xmlns:a="http://schemas.openxmlformats.org/drawingml/2006/main">
              <a:ext uri="{FF2B5EF4-FFF2-40B4-BE49-F238E27FC236}">
                <a16:creationId xmlns:a16="http://schemas.microsoft.com/office/drawing/2014/main" id="{F34FA57D-CE90-4534-9CDA-54A8FCAA7EFB}"/>
              </a:ext>
            </a:extLst>
          </p:cNvPr>
          <p:cNvSpPr>
            <a:spLocks xmlns:a="http://schemas.openxmlformats.org/drawingml/2006/main" noGrp="1"/>
          </p:cNvSpPr>
          <p:nvPr/>
        </p:nvSpPr>
        <p:spPr>
          <a:xfrm xmlns:a="http://schemas.openxmlformats.org/drawingml/2006/main">
            <a:off x="8210550" y="5048250"/>
            <a:ext cx="3371850" cy="9525"/>
          </a:xfrm>
          <a:prstGeom xmlns:a="http://schemas.openxmlformats.org/drawingml/2006/main" prst="rect">
            <a:avLst/>
          </a:prstGeom>
          <a:solidFill xmlns:a="http://schemas.openxmlformats.org/drawingml/2006/main">
            <a:srgbClr val="1A1A1A"/>
          </a:solidFill>
          <a:ln xmlns:a="http://schemas.openxmlformats.org/drawingml/2006/main" w="9525">
            <a:solidFill>
              <a:srgbClr val="1A1A1A"/>
            </a:solidFill>
            <a:prstDash val="solid"/>
          </a:ln>
        </p:spPr>
      </p:sp>
      <p:sp>
        <p:nvSpPr>
          <p:cNvPr id="21" name="text">
            <a:extLst xmlns:a="http://schemas.openxmlformats.org/drawingml/2006/main">
              <a:ext uri="{FF2B5EF4-FFF2-40B4-BE49-F238E27FC236}">
                <a16:creationId xmlns:a16="http://schemas.microsoft.com/office/drawing/2014/main" id="{EF6F996D-EAE9-4E2A-8709-2E61ED3F4B42}"/>
              </a:ext>
            </a:extLst>
          </p:cNvPr>
          <p:cNvSpPr>
            <a:spLocks xmlns:a="http://schemas.openxmlformats.org/drawingml/2006/main" noGrp="1"/>
          </p:cNvSpPr>
          <p:nvPr/>
        </p:nvSpPr>
        <p:spPr>
          <a:xfrm xmlns:a="http://schemas.openxmlformats.org/drawingml/2006/main">
            <a:off x="8210550" y="5162550"/>
            <a:ext cx="3371850" cy="19907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i="0">
                <a:solidFill>
                  <a:srgbClr val="1A1A1A"/>
                </a:solidFill>
              </a:defRPr>
            </a:pPr>
            <a:r>
              <a:rPr sz="1650" b="0" i="0">
                <a:solidFill>
                  <a:srgbClr val="1A1A1A"/>
                </a:solidFill>
              </a:rPr>
              <a:t>Implication</a:t>
            </a:r>
          </a:p>
        </p:txBody>
      </p:sp>
      <p:sp>
        <p:nvSpPr>
          <p:cNvPr id="22" name="text">
            <a:extLst xmlns:a="http://schemas.openxmlformats.org/drawingml/2006/main">
              <a:ext uri="{FF2B5EF4-FFF2-40B4-BE49-F238E27FC236}">
                <a16:creationId xmlns:a16="http://schemas.microsoft.com/office/drawing/2014/main" id="{4232E843-6A44-4F85-9FEE-B2126A3D343A}"/>
              </a:ext>
            </a:extLst>
          </p:cNvPr>
          <p:cNvSpPr>
            <a:spLocks xmlns:a="http://schemas.openxmlformats.org/drawingml/2006/main" noGrp="1"/>
          </p:cNvSpPr>
          <p:nvPr/>
        </p:nvSpPr>
        <p:spPr>
          <a:xfrm xmlns:a="http://schemas.openxmlformats.org/drawingml/2006/main">
            <a:off x="8210550" y="5543550"/>
            <a:ext cx="3371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i="0">
                <a:solidFill>
                  <a:srgbClr val="5A5A5A"/>
                </a:solidFill>
              </a:defRPr>
            </a:pPr>
            <a:r>
              <a:rPr sz="1350" b="0" i="0">
                <a:solidFill>
                  <a:srgbClr val="5A5A5A"/>
                </a:solidFill>
              </a:rPr>
              <a:t>Cold start, unequal evidence, popularity bias.</a:t>
            </a:r>
          </a:p>
        </p:txBody>
      </p:sp>
    </p:spTree>
    <p:extLst>
      <p:ext uri="{BB962C8B-B14F-4D97-AF65-F5344CB8AC3E}">
        <p14:creationId xmlns:p14="http://schemas.microsoft.com/office/powerpoint/2010/main" val="194956472"/>
      </p:ext>
    </p:extLst>
  </p:cSld>
</p:sld>
</file>

<file path=ppt/slides/slide6.xml><?xml version="1.0" encoding="utf-8"?>
<p:sld xmlns:p="http://schemas.openxmlformats.org/presentationml/2006/main">
  <p:cSld>
    <p:bg>
      <p:bgPr>
        <a:solidFill xmlns:a="http://schemas.openxmlformats.org/drawingml/2006/main">
          <a:srgbClr val="EDE8E0"/>
        </a:solidFill>
      </p:bgPr>
    </p:bg>
    <p:spTree>
      <p:nvGrpSpPr>
        <p:cNvPr id="1" name=""/>
        <p:cNvGrpSpPr/>
        <p:nvPr/>
      </p:nvGrpSpPr>
      <p:grpSpPr>
        <a:xfrm xmlns:a="http://schemas.openxmlformats.org/drawingml/2006/main"/>
      </p:grpSpPr>
      <p:sp>
        <p:nvSpPr>
          <p:cNvPr id="26" name="outer-ring">
            <a:extLst xmlns:a="http://schemas.openxmlformats.org/drawingml/2006/main">
              <a:ext uri="{FF2B5EF4-FFF2-40B4-BE49-F238E27FC236}">
                <a16:creationId xmlns:a16="http://schemas.microsoft.com/office/drawing/2014/main" id="{6B7DF91E-81EC-4786-B98D-5098C36DCF2A}"/>
              </a:ext>
            </a:extLst>
          </p:cNvPr>
          <p:cNvSpPr>
            <a:spLocks xmlns:a="http://schemas.openxmlformats.org/drawingml/2006/main" noGrp="1"/>
          </p:cNvSpPr>
          <p:nvPr/>
        </p:nvSpPr>
        <p:spPr>
          <a:xfrm xmlns:a="http://schemas.openxmlformats.org/drawingml/2006/main">
            <a:off x="9620250" y="-1143000"/>
            <a:ext cx="3714750" cy="3714750"/>
          </a:xfrm>
          <a:prstGeom xmlns:a="http://schemas.openxmlformats.org/drawingml/2006/main" prst="rect">
            <a:avLst/>
          </a:prstGeom>
          <a:noFill xmlns:a="http://schemas.openxmlformats.org/drawingml/2006/main"/>
          <a:ln xmlns:a="http://schemas.openxmlformats.org/drawingml/2006/main" w="9525">
            <a:solidFill>
              <a:srgbClr val="B8B0A4"/>
            </a:solidFill>
            <a:prstDash val="solid"/>
          </a:ln>
        </p:spPr>
      </p:sp>
      <p:sp>
        <p:nvSpPr>
          <p:cNvPr id="2" name="inner-ring">
            <a:extLst xmlns:a="http://schemas.openxmlformats.org/drawingml/2006/main">
              <a:ext uri="{FF2B5EF4-FFF2-40B4-BE49-F238E27FC236}">
                <a16:creationId xmlns:a16="http://schemas.microsoft.com/office/drawing/2014/main" id="{80E384D9-6A6F-4C14-9BBC-3C0F06705AB2}"/>
              </a:ext>
            </a:extLst>
          </p:cNvPr>
          <p:cNvSpPr>
            <a:spLocks xmlns:a="http://schemas.openxmlformats.org/drawingml/2006/main" noGrp="1"/>
          </p:cNvSpPr>
          <p:nvPr/>
        </p:nvSpPr>
        <p:spPr>
          <a:xfrm xmlns:a="http://schemas.openxmlformats.org/drawingml/2006/main">
            <a:off x="10191750" y="-571500"/>
            <a:ext cx="2571750" cy="2571750"/>
          </a:xfrm>
          <a:prstGeom xmlns:a="http://schemas.openxmlformats.org/drawingml/2006/main" prst="rect">
            <a:avLst/>
          </a:prstGeom>
          <a:noFill xmlns:a="http://schemas.openxmlformats.org/drawingml/2006/main"/>
          <a:ln xmlns:a="http://schemas.openxmlformats.org/drawingml/2006/main" w="9525">
            <a:solidFill>
              <a:srgbClr val="B8B0A4"/>
            </a:solidFill>
            <a:prstDash val="solid"/>
          </a:ln>
        </p:spPr>
      </p:sp>
      <p:sp>
        <p:nvSpPr>
          <p:cNvPr id="3" name="eyebrow">
            <a:extLst xmlns:a="http://schemas.openxmlformats.org/drawingml/2006/main">
              <a:ext uri="{FF2B5EF4-FFF2-40B4-BE49-F238E27FC236}">
                <a16:creationId xmlns:a16="http://schemas.microsoft.com/office/drawing/2014/main" id="{55319A0F-42DA-447C-930A-EAB3E770AADE}"/>
              </a:ext>
            </a:extLst>
          </p:cNvPr>
          <p:cNvSpPr>
            <a:spLocks xmlns:a="http://schemas.openxmlformats.org/drawingml/2006/main" noGrp="1"/>
          </p:cNvSpPr>
          <p:nvPr/>
        </p:nvSpPr>
        <p:spPr>
          <a:xfrm xmlns:a="http://schemas.openxmlformats.org/drawingml/2006/main">
            <a:off x="609600" y="4000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i="0">
                <a:solidFill>
                  <a:srgbClr val="8A8178"/>
                </a:solidFill>
              </a:defRPr>
            </a:pPr>
            <a:r>
              <a:rPr sz="975" b="1" i="0">
                <a:solidFill>
                  <a:srgbClr val="8A8178"/>
                </a:solidFill>
              </a:rPr>
              <a:t>IMPLEMENTATION</a:t>
            </a:r>
          </a:p>
        </p:txBody>
      </p:sp>
      <p:sp>
        <p:nvSpPr>
          <p:cNvPr id="4" name="title">
            <a:extLst xmlns:a="http://schemas.openxmlformats.org/drawingml/2006/main">
              <a:ext uri="{FF2B5EF4-FFF2-40B4-BE49-F238E27FC236}">
                <a16:creationId xmlns:a16="http://schemas.microsoft.com/office/drawing/2014/main" id="{C69B2101-A906-4DCC-BC28-04223E532273}"/>
              </a:ext>
            </a:extLst>
          </p:cNvPr>
          <p:cNvSpPr>
            <a:spLocks xmlns:a="http://schemas.openxmlformats.org/drawingml/2006/main" noGrp="1"/>
          </p:cNvSpPr>
          <p:nvPr/>
        </p:nvSpPr>
        <p:spPr>
          <a:xfrm xmlns:a="http://schemas.openxmlformats.org/drawingml/2006/main">
            <a:off x="609600" y="723900"/>
            <a:ext cx="10668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150" b="0" i="0">
                <a:solidFill>
                  <a:srgbClr val="1A1A1A"/>
                </a:solidFill>
              </a:defRPr>
            </a:pPr>
            <a:r>
              <a:rPr sz="3150" b="0" i="0">
                <a:solidFill>
                  <a:srgbClr val="1A1A1A"/>
                </a:solidFill>
              </a:rPr>
              <a:t>Two notebooks create an auditable path from raw CSVs to Top-10 output</a:t>
            </a:r>
          </a:p>
        </p:txBody>
      </p:sp>
      <p:sp>
        <p:nvSpPr>
          <p:cNvPr id="5" name="rule">
            <a:extLst xmlns:a="http://schemas.openxmlformats.org/drawingml/2006/main">
              <a:ext uri="{FF2B5EF4-FFF2-40B4-BE49-F238E27FC236}">
                <a16:creationId xmlns:a16="http://schemas.microsoft.com/office/drawing/2014/main" id="{E48E2A0D-7B70-47EE-A4E1-F8922DF670CE}"/>
              </a:ext>
            </a:extLst>
          </p:cNvPr>
          <p:cNvSpPr>
            <a:spLocks xmlns:a="http://schemas.openxmlformats.org/drawingml/2006/main" noGrp="1"/>
          </p:cNvSpPr>
          <p:nvPr/>
        </p:nvSpPr>
        <p:spPr>
          <a:xfrm xmlns:a="http://schemas.openxmlformats.org/drawingml/2006/main">
            <a:off x="609600" y="6429375"/>
            <a:ext cx="10972800" cy="9525"/>
          </a:xfrm>
          <a:prstGeom xmlns:a="http://schemas.openxmlformats.org/drawingml/2006/main" prst="rect">
            <a:avLst/>
          </a:prstGeom>
          <a:solidFill xmlns:a="http://schemas.openxmlformats.org/drawingml/2006/main">
            <a:srgbClr val="B8B0A4"/>
          </a:solidFill>
          <a:ln xmlns:a="http://schemas.openxmlformats.org/drawingml/2006/main" w="9525">
            <a:solidFill>
              <a:srgbClr val="B8B0A4"/>
            </a:solidFill>
            <a:prstDash val="solid"/>
          </a:ln>
        </p:spPr>
      </p:sp>
      <p:sp>
        <p:nvSpPr>
          <p:cNvPr id="6" name="text">
            <a:extLst xmlns:a="http://schemas.openxmlformats.org/drawingml/2006/main">
              <a:ext uri="{FF2B5EF4-FFF2-40B4-BE49-F238E27FC236}">
                <a16:creationId xmlns:a16="http://schemas.microsoft.com/office/drawing/2014/main" id="{633704AE-E6C2-4E6E-AF28-F62CB97A59E0}"/>
              </a:ext>
            </a:extLst>
          </p:cNvPr>
          <p:cNvSpPr>
            <a:spLocks xmlns:a="http://schemas.openxmlformats.org/drawingml/2006/main" noGrp="1"/>
          </p:cNvSpPr>
          <p:nvPr/>
        </p:nvSpPr>
        <p:spPr>
          <a:xfrm xmlns:a="http://schemas.openxmlformats.org/drawingml/2006/main">
            <a:off x="609600" y="652462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1" i="0">
                <a:solidFill>
                  <a:srgbClr val="8A8178"/>
                </a:solidFill>
              </a:defRPr>
            </a:pPr>
            <a:r>
              <a:rPr sz="750" b="1" i="0">
                <a:solidFill>
                  <a:srgbClr val="8A8178"/>
                </a:solidFill>
              </a:rPr>
              <a:t>GROUP 14 · DUY TAN UNIVERSITY, DA NANG</a:t>
            </a:r>
          </a:p>
        </p:txBody>
      </p:sp>
      <p:sp>
        <p:nvSpPr>
          <p:cNvPr id="7" name="text">
            <a:extLst xmlns:a="http://schemas.openxmlformats.org/drawingml/2006/main">
              <a:ext uri="{FF2B5EF4-FFF2-40B4-BE49-F238E27FC236}">
                <a16:creationId xmlns:a16="http://schemas.microsoft.com/office/drawing/2014/main" id="{26E1C707-9C80-4238-8587-734BD70FA5E7}"/>
              </a:ext>
            </a:extLst>
          </p:cNvPr>
          <p:cNvSpPr>
            <a:spLocks xmlns:a="http://schemas.openxmlformats.org/drawingml/2006/main" noGrp="1"/>
          </p:cNvSpPr>
          <p:nvPr/>
        </p:nvSpPr>
        <p:spPr>
          <a:xfrm xmlns:a="http://schemas.openxmlformats.org/drawingml/2006/main">
            <a:off x="11144250" y="65246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750" b="0" i="0">
                <a:solidFill>
                  <a:srgbClr val="8A8178"/>
                </a:solidFill>
              </a:defRPr>
            </a:pPr>
            <a:r>
              <a:rPr sz="750" b="0" i="0">
                <a:solidFill>
                  <a:srgbClr val="8A8178"/>
                </a:solidFill>
              </a:rPr>
              <a:t>06</a:t>
            </a:r>
          </a:p>
        </p:txBody>
      </p:sp>
      <p:sp>
        <p:nvSpPr>
          <p:cNvPr id="8" name="rule">
            <a:extLst xmlns:a="http://schemas.openxmlformats.org/drawingml/2006/main">
              <a:ext uri="{FF2B5EF4-FFF2-40B4-BE49-F238E27FC236}">
                <a16:creationId xmlns:a16="http://schemas.microsoft.com/office/drawing/2014/main" id="{9BC20689-922D-40E5-93BC-475B4A68E537}"/>
              </a:ext>
            </a:extLst>
          </p:cNvPr>
          <p:cNvSpPr>
            <a:spLocks xmlns:a="http://schemas.openxmlformats.org/drawingml/2006/main" noGrp="1"/>
          </p:cNvSpPr>
          <p:nvPr/>
        </p:nvSpPr>
        <p:spPr>
          <a:xfrm xmlns:a="http://schemas.openxmlformats.org/drawingml/2006/main">
            <a:off x="609600" y="1714500"/>
            <a:ext cx="1809750" cy="9525"/>
          </a:xfrm>
          <a:prstGeom xmlns:a="http://schemas.openxmlformats.org/drawingml/2006/main" prst="rect">
            <a:avLst/>
          </a:prstGeom>
          <a:solidFill xmlns:a="http://schemas.openxmlformats.org/drawingml/2006/main">
            <a:srgbClr val="1A1A1A"/>
          </a:solidFill>
          <a:ln xmlns:a="http://schemas.openxmlformats.org/drawingml/2006/main" w="9525">
            <a:solidFill>
              <a:srgbClr val="1A1A1A"/>
            </a:solidFill>
            <a:prstDash val="solid"/>
          </a:ln>
        </p:spPr>
      </p:sp>
      <p:sp>
        <p:nvSpPr>
          <p:cNvPr id="9" name="text">
            <a:extLst xmlns:a="http://schemas.openxmlformats.org/drawingml/2006/main">
              <a:ext uri="{FF2B5EF4-FFF2-40B4-BE49-F238E27FC236}">
                <a16:creationId xmlns:a16="http://schemas.microsoft.com/office/drawing/2014/main" id="{8137C4F8-DB0A-47B1-A1A1-AE3C1FB32A63}"/>
              </a:ext>
            </a:extLst>
          </p:cNvPr>
          <p:cNvSpPr>
            <a:spLocks xmlns:a="http://schemas.openxmlformats.org/drawingml/2006/main" noGrp="1"/>
          </p:cNvSpPr>
          <p:nvPr/>
        </p:nvSpPr>
        <p:spPr>
          <a:xfrm xmlns:a="http://schemas.openxmlformats.org/drawingml/2006/main">
            <a:off x="609600" y="1828800"/>
            <a:ext cx="1809750" cy="42957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i="0">
                <a:solidFill>
                  <a:srgbClr val="1A1A1A"/>
                </a:solidFill>
              </a:defRPr>
            </a:pPr>
            <a:r>
              <a:rPr sz="1650" b="0" i="0">
                <a:solidFill>
                  <a:srgbClr val="1A1A1A"/>
                </a:solidFill>
              </a:rPr>
              <a:t>Load &amp; validate</a:t>
            </a:r>
          </a:p>
        </p:txBody>
      </p:sp>
      <p:sp>
        <p:nvSpPr>
          <p:cNvPr id="10" name="text">
            <a:extLst xmlns:a="http://schemas.openxmlformats.org/drawingml/2006/main">
              <a:ext uri="{FF2B5EF4-FFF2-40B4-BE49-F238E27FC236}">
                <a16:creationId xmlns:a16="http://schemas.microsoft.com/office/drawing/2014/main" id="{E157ECEA-3C9D-4D96-9002-30E6A88DB320}"/>
              </a:ext>
            </a:extLst>
          </p:cNvPr>
          <p:cNvSpPr>
            <a:spLocks xmlns:a="http://schemas.openxmlformats.org/drawingml/2006/main" noGrp="1"/>
          </p:cNvSpPr>
          <p:nvPr/>
        </p:nvSpPr>
        <p:spPr>
          <a:xfrm xmlns:a="http://schemas.openxmlformats.org/drawingml/2006/main">
            <a:off x="609600" y="2209800"/>
            <a:ext cx="1809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i="0">
                <a:solidFill>
                  <a:srgbClr val="5A5A5A"/>
                </a:solidFill>
              </a:defRPr>
            </a:pPr>
            <a:r>
              <a:rPr sz="1350" b="0" i="0">
                <a:solidFill>
                  <a:srgbClr val="5A5A5A"/>
                </a:solidFill>
              </a:rPr>
              <a:t>Schemas, types, missing values, duplicates, sentinel</a:t>
            </a:r>
          </a:p>
        </p:txBody>
      </p:sp>
      <p:sp>
        <p:nvSpPr>
          <p:cNvPr id="11" name="rule">
            <a:extLst xmlns:a="http://schemas.openxmlformats.org/drawingml/2006/main">
              <a:ext uri="{FF2B5EF4-FFF2-40B4-BE49-F238E27FC236}">
                <a16:creationId xmlns:a16="http://schemas.microsoft.com/office/drawing/2014/main" id="{1EECF4E2-DEE6-4725-8689-82ED15046659}"/>
              </a:ext>
            </a:extLst>
          </p:cNvPr>
          <p:cNvSpPr>
            <a:spLocks xmlns:a="http://schemas.openxmlformats.org/drawingml/2006/main" noGrp="1"/>
          </p:cNvSpPr>
          <p:nvPr/>
        </p:nvSpPr>
        <p:spPr>
          <a:xfrm xmlns:a="http://schemas.openxmlformats.org/drawingml/2006/main">
            <a:off x="2857500" y="1714500"/>
            <a:ext cx="1809750" cy="9525"/>
          </a:xfrm>
          <a:prstGeom xmlns:a="http://schemas.openxmlformats.org/drawingml/2006/main" prst="rect">
            <a:avLst/>
          </a:prstGeom>
          <a:solidFill xmlns:a="http://schemas.openxmlformats.org/drawingml/2006/main">
            <a:srgbClr val="1A1A1A"/>
          </a:solidFill>
          <a:ln xmlns:a="http://schemas.openxmlformats.org/drawingml/2006/main" w="9525">
            <a:solidFill>
              <a:srgbClr val="1A1A1A"/>
            </a:solidFill>
            <a:prstDash val="solid"/>
          </a:ln>
        </p:spPr>
      </p:sp>
      <p:sp>
        <p:nvSpPr>
          <p:cNvPr id="12" name="text">
            <a:extLst xmlns:a="http://schemas.openxmlformats.org/drawingml/2006/main">
              <a:ext uri="{FF2B5EF4-FFF2-40B4-BE49-F238E27FC236}">
                <a16:creationId xmlns:a16="http://schemas.microsoft.com/office/drawing/2014/main" id="{32A404FD-A359-423A-954B-777CEEF567B1}"/>
              </a:ext>
            </a:extLst>
          </p:cNvPr>
          <p:cNvSpPr>
            <a:spLocks xmlns:a="http://schemas.openxmlformats.org/drawingml/2006/main" noGrp="1"/>
          </p:cNvSpPr>
          <p:nvPr/>
        </p:nvSpPr>
        <p:spPr>
          <a:xfrm xmlns:a="http://schemas.openxmlformats.org/drawingml/2006/main">
            <a:off x="2857500" y="1828800"/>
            <a:ext cx="1809750" cy="42957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i="0">
                <a:solidFill>
                  <a:srgbClr val="1A1A1A"/>
                </a:solidFill>
              </a:defRPr>
            </a:pPr>
            <a:r>
              <a:rPr sz="1650" b="0" i="0">
                <a:solidFill>
                  <a:srgbClr val="1A1A1A"/>
                </a:solidFill>
              </a:rPr>
              <a:t>Clean &amp; export</a:t>
            </a:r>
          </a:p>
        </p:txBody>
      </p:sp>
      <p:sp>
        <p:nvSpPr>
          <p:cNvPr id="13" name="text">
            <a:extLst xmlns:a="http://schemas.openxmlformats.org/drawingml/2006/main">
              <a:ext uri="{FF2B5EF4-FFF2-40B4-BE49-F238E27FC236}">
                <a16:creationId xmlns:a16="http://schemas.microsoft.com/office/drawing/2014/main" id="{9409C964-3E3B-4C83-B767-BAF3327253A3}"/>
              </a:ext>
            </a:extLst>
          </p:cNvPr>
          <p:cNvSpPr>
            <a:spLocks xmlns:a="http://schemas.openxmlformats.org/drawingml/2006/main" noGrp="1"/>
          </p:cNvSpPr>
          <p:nvPr/>
        </p:nvSpPr>
        <p:spPr>
          <a:xfrm xmlns:a="http://schemas.openxmlformats.org/drawingml/2006/main">
            <a:off x="2857500" y="2209800"/>
            <a:ext cx="1809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i="0">
                <a:solidFill>
                  <a:srgbClr val="5A5A5A"/>
                </a:solidFill>
              </a:defRPr>
            </a:pPr>
            <a:r>
              <a:rPr sz="1350" b="0" i="0">
                <a:solidFill>
                  <a:srgbClr val="5A5A5A"/>
                </a:solidFill>
              </a:rPr>
              <a:t>Remove −1, merge keys, save clean CSVs and EDA</a:t>
            </a:r>
          </a:p>
        </p:txBody>
      </p:sp>
      <p:sp>
        <p:nvSpPr>
          <p:cNvPr id="14" name="rule">
            <a:extLst xmlns:a="http://schemas.openxmlformats.org/drawingml/2006/main">
              <a:ext uri="{FF2B5EF4-FFF2-40B4-BE49-F238E27FC236}">
                <a16:creationId xmlns:a16="http://schemas.microsoft.com/office/drawing/2014/main" id="{6964F3FC-9383-4BC9-912B-C4AEDAEC1962}"/>
              </a:ext>
            </a:extLst>
          </p:cNvPr>
          <p:cNvSpPr>
            <a:spLocks xmlns:a="http://schemas.openxmlformats.org/drawingml/2006/main" noGrp="1"/>
          </p:cNvSpPr>
          <p:nvPr/>
        </p:nvSpPr>
        <p:spPr>
          <a:xfrm xmlns:a="http://schemas.openxmlformats.org/drawingml/2006/main">
            <a:off x="5105400" y="1714500"/>
            <a:ext cx="1809750" cy="9525"/>
          </a:xfrm>
          <a:prstGeom xmlns:a="http://schemas.openxmlformats.org/drawingml/2006/main" prst="rect">
            <a:avLst/>
          </a:prstGeom>
          <a:solidFill xmlns:a="http://schemas.openxmlformats.org/drawingml/2006/main">
            <a:srgbClr val="1A1A1A"/>
          </a:solidFill>
          <a:ln xmlns:a="http://schemas.openxmlformats.org/drawingml/2006/main" w="9525">
            <a:solidFill>
              <a:srgbClr val="1A1A1A"/>
            </a:solidFill>
            <a:prstDash val="solid"/>
          </a:ln>
        </p:spPr>
      </p:sp>
      <p:sp>
        <p:nvSpPr>
          <p:cNvPr id="15" name="text">
            <a:extLst xmlns:a="http://schemas.openxmlformats.org/drawingml/2006/main">
              <a:ext uri="{FF2B5EF4-FFF2-40B4-BE49-F238E27FC236}">
                <a16:creationId xmlns:a16="http://schemas.microsoft.com/office/drawing/2014/main" id="{4B5A8932-289E-47E1-BDE1-1676997DA56D}"/>
              </a:ext>
            </a:extLst>
          </p:cNvPr>
          <p:cNvSpPr>
            <a:spLocks xmlns:a="http://schemas.openxmlformats.org/drawingml/2006/main" noGrp="1"/>
          </p:cNvSpPr>
          <p:nvPr/>
        </p:nvSpPr>
        <p:spPr>
          <a:xfrm xmlns:a="http://schemas.openxmlformats.org/drawingml/2006/main">
            <a:off x="5105400" y="1828800"/>
            <a:ext cx="1809750" cy="42957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i="0">
                <a:solidFill>
                  <a:srgbClr val="1A1A1A"/>
                </a:solidFill>
              </a:defRPr>
            </a:pPr>
            <a:r>
              <a:rPr sz="1650" b="0" i="0">
                <a:solidFill>
                  <a:srgbClr val="1A1A1A"/>
                </a:solidFill>
              </a:rPr>
              <a:t>Define scope</a:t>
            </a:r>
          </a:p>
        </p:txBody>
      </p:sp>
      <p:sp>
        <p:nvSpPr>
          <p:cNvPr id="16" name="text">
            <a:extLst xmlns:a="http://schemas.openxmlformats.org/drawingml/2006/main">
              <a:ext uri="{FF2B5EF4-FFF2-40B4-BE49-F238E27FC236}">
                <a16:creationId xmlns:a16="http://schemas.microsoft.com/office/drawing/2014/main" id="{2A8E2F0B-F7E5-4C7C-92BD-CDFA7E6BEE1D}"/>
              </a:ext>
            </a:extLst>
          </p:cNvPr>
          <p:cNvSpPr>
            <a:spLocks xmlns:a="http://schemas.openxmlformats.org/drawingml/2006/main" noGrp="1"/>
          </p:cNvSpPr>
          <p:nvPr/>
        </p:nvSpPr>
        <p:spPr>
          <a:xfrm xmlns:a="http://schemas.openxmlformats.org/drawingml/2006/main">
            <a:off x="5105400" y="2209800"/>
            <a:ext cx="1809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i="0">
                <a:solidFill>
                  <a:srgbClr val="5A5A5A"/>
                </a:solidFill>
              </a:defRPr>
            </a:pPr>
            <a:r>
              <a:rPr sz="1350" b="0" i="0">
                <a:solidFill>
                  <a:srgbClr val="5A5A5A"/>
                </a:solidFill>
              </a:rPr>
              <a:t>Seeded 1M sample, min-5 k-core, outer split</a:t>
            </a:r>
          </a:p>
        </p:txBody>
      </p:sp>
      <p:sp>
        <p:nvSpPr>
          <p:cNvPr id="17" name="rule">
            <a:extLst xmlns:a="http://schemas.openxmlformats.org/drawingml/2006/main">
              <a:ext uri="{FF2B5EF4-FFF2-40B4-BE49-F238E27FC236}">
                <a16:creationId xmlns:a16="http://schemas.microsoft.com/office/drawing/2014/main" id="{01FE0076-F706-441A-863D-5BE0B0117131}"/>
              </a:ext>
            </a:extLst>
          </p:cNvPr>
          <p:cNvSpPr>
            <a:spLocks xmlns:a="http://schemas.openxmlformats.org/drawingml/2006/main" noGrp="1"/>
          </p:cNvSpPr>
          <p:nvPr/>
        </p:nvSpPr>
        <p:spPr>
          <a:xfrm xmlns:a="http://schemas.openxmlformats.org/drawingml/2006/main">
            <a:off x="7353300" y="1714500"/>
            <a:ext cx="1809750" cy="9525"/>
          </a:xfrm>
          <a:prstGeom xmlns:a="http://schemas.openxmlformats.org/drawingml/2006/main" prst="rect">
            <a:avLst/>
          </a:prstGeom>
          <a:solidFill xmlns:a="http://schemas.openxmlformats.org/drawingml/2006/main">
            <a:srgbClr val="1A1A1A"/>
          </a:solidFill>
          <a:ln xmlns:a="http://schemas.openxmlformats.org/drawingml/2006/main" w="9525">
            <a:solidFill>
              <a:srgbClr val="1A1A1A"/>
            </a:solidFill>
            <a:prstDash val="solid"/>
          </a:ln>
        </p:spPr>
      </p:sp>
      <p:sp>
        <p:nvSpPr>
          <p:cNvPr id="18" name="text">
            <a:extLst xmlns:a="http://schemas.openxmlformats.org/drawingml/2006/main">
              <a:ext uri="{FF2B5EF4-FFF2-40B4-BE49-F238E27FC236}">
                <a16:creationId xmlns:a16="http://schemas.microsoft.com/office/drawing/2014/main" id="{81785467-1D4A-4B0B-9B69-DEC7E4B8876C}"/>
              </a:ext>
            </a:extLst>
          </p:cNvPr>
          <p:cNvSpPr>
            <a:spLocks xmlns:a="http://schemas.openxmlformats.org/drawingml/2006/main" noGrp="1"/>
          </p:cNvSpPr>
          <p:nvPr/>
        </p:nvSpPr>
        <p:spPr>
          <a:xfrm xmlns:a="http://schemas.openxmlformats.org/drawingml/2006/main">
            <a:off x="7353300" y="1828800"/>
            <a:ext cx="1809750" cy="42957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i="0">
                <a:solidFill>
                  <a:srgbClr val="1A1A1A"/>
                </a:solidFill>
              </a:defRPr>
            </a:pPr>
            <a:r>
              <a:rPr sz="1650" b="0" i="0">
                <a:solidFill>
                  <a:srgbClr val="1A1A1A"/>
                </a:solidFill>
              </a:rPr>
              <a:t>Tune &amp; evaluate</a:t>
            </a:r>
          </a:p>
        </p:txBody>
      </p:sp>
      <p:sp>
        <p:nvSpPr>
          <p:cNvPr id="19" name="text">
            <a:extLst xmlns:a="http://schemas.openxmlformats.org/drawingml/2006/main">
              <a:ext uri="{FF2B5EF4-FFF2-40B4-BE49-F238E27FC236}">
                <a16:creationId xmlns:a16="http://schemas.microsoft.com/office/drawing/2014/main" id="{40780D0D-2B9C-409A-9800-8144C2093623}"/>
              </a:ext>
            </a:extLst>
          </p:cNvPr>
          <p:cNvSpPr>
            <a:spLocks xmlns:a="http://schemas.openxmlformats.org/drawingml/2006/main" noGrp="1"/>
          </p:cNvSpPr>
          <p:nvPr/>
        </p:nvSpPr>
        <p:spPr>
          <a:xfrm xmlns:a="http://schemas.openxmlformats.org/drawingml/2006/main">
            <a:off x="7353300" y="2209800"/>
            <a:ext cx="1809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i="0">
                <a:solidFill>
                  <a:srgbClr val="5A5A5A"/>
                </a:solidFill>
              </a:defRPr>
            </a:pPr>
            <a:r>
              <a:rPr sz="1350" b="0" i="0">
                <a:solidFill>
                  <a:srgbClr val="5A5A5A"/>
                </a:solidFill>
              </a:rPr>
              <a:t>Select factors inside train; test untouched holdout</a:t>
            </a:r>
          </a:p>
        </p:txBody>
      </p:sp>
      <p:sp>
        <p:nvSpPr>
          <p:cNvPr id="20" name="rule">
            <a:extLst xmlns:a="http://schemas.openxmlformats.org/drawingml/2006/main">
              <a:ext uri="{FF2B5EF4-FFF2-40B4-BE49-F238E27FC236}">
                <a16:creationId xmlns:a16="http://schemas.microsoft.com/office/drawing/2014/main" id="{BA92C771-18B8-4F06-8D97-50D4F687BCFB}"/>
              </a:ext>
            </a:extLst>
          </p:cNvPr>
          <p:cNvSpPr>
            <a:spLocks xmlns:a="http://schemas.openxmlformats.org/drawingml/2006/main" noGrp="1"/>
          </p:cNvSpPr>
          <p:nvPr/>
        </p:nvSpPr>
        <p:spPr>
          <a:xfrm xmlns:a="http://schemas.openxmlformats.org/drawingml/2006/main">
            <a:off x="9601200" y="1714500"/>
            <a:ext cx="1809750" cy="9525"/>
          </a:xfrm>
          <a:prstGeom xmlns:a="http://schemas.openxmlformats.org/drawingml/2006/main" prst="rect">
            <a:avLst/>
          </a:prstGeom>
          <a:solidFill xmlns:a="http://schemas.openxmlformats.org/drawingml/2006/main">
            <a:srgbClr val="1A1A1A"/>
          </a:solidFill>
          <a:ln xmlns:a="http://schemas.openxmlformats.org/drawingml/2006/main" w="9525">
            <a:solidFill>
              <a:srgbClr val="1A1A1A"/>
            </a:solidFill>
            <a:prstDash val="solid"/>
          </a:ln>
        </p:spPr>
      </p:sp>
      <p:sp>
        <p:nvSpPr>
          <p:cNvPr id="21" name="text">
            <a:extLst xmlns:a="http://schemas.openxmlformats.org/drawingml/2006/main">
              <a:ext uri="{FF2B5EF4-FFF2-40B4-BE49-F238E27FC236}">
                <a16:creationId xmlns:a16="http://schemas.microsoft.com/office/drawing/2014/main" id="{537A2930-192B-452B-8B48-7281BE694ACF}"/>
              </a:ext>
            </a:extLst>
          </p:cNvPr>
          <p:cNvSpPr>
            <a:spLocks xmlns:a="http://schemas.openxmlformats.org/drawingml/2006/main" noGrp="1"/>
          </p:cNvSpPr>
          <p:nvPr/>
        </p:nvSpPr>
        <p:spPr>
          <a:xfrm xmlns:a="http://schemas.openxmlformats.org/drawingml/2006/main">
            <a:off x="9601200" y="1828800"/>
            <a:ext cx="1809750" cy="42957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i="0">
                <a:solidFill>
                  <a:srgbClr val="1A1A1A"/>
                </a:solidFill>
              </a:defRPr>
            </a:pPr>
            <a:r>
              <a:rPr sz="1650" b="0" i="0">
                <a:solidFill>
                  <a:srgbClr val="1A1A1A"/>
                </a:solidFill>
              </a:rPr>
              <a:t>Refit &amp; rank</a:t>
            </a:r>
          </a:p>
        </p:txBody>
      </p:sp>
      <p:sp>
        <p:nvSpPr>
          <p:cNvPr id="22" name="text">
            <a:extLst xmlns:a="http://schemas.openxmlformats.org/drawingml/2006/main">
              <a:ext uri="{FF2B5EF4-FFF2-40B4-BE49-F238E27FC236}">
                <a16:creationId xmlns:a16="http://schemas.microsoft.com/office/drawing/2014/main" id="{DA1C2913-B0E2-4F18-8F30-A0050D88FBDB}"/>
              </a:ext>
            </a:extLst>
          </p:cNvPr>
          <p:cNvSpPr>
            <a:spLocks xmlns:a="http://schemas.openxmlformats.org/drawingml/2006/main" noGrp="1"/>
          </p:cNvSpPr>
          <p:nvPr/>
        </p:nvSpPr>
        <p:spPr>
          <a:xfrm xmlns:a="http://schemas.openxmlformats.org/drawingml/2006/main">
            <a:off x="9601200" y="2209800"/>
            <a:ext cx="1809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i="0">
                <a:solidFill>
                  <a:srgbClr val="5A5A5A"/>
                </a:solidFill>
              </a:defRPr>
            </a:pPr>
            <a:r>
              <a:rPr sz="1350" b="0" i="0">
                <a:solidFill>
                  <a:srgbClr val="5A5A5A"/>
                </a:solidFill>
              </a:rPr>
              <a:t>Fit all model data; score unseen candidates</a:t>
            </a:r>
          </a:p>
        </p:txBody>
      </p:sp>
      <p:sp>
        <p:nvSpPr>
          <p:cNvPr id="23" name="code-box">
            <a:extLst xmlns:a="http://schemas.openxmlformats.org/drawingml/2006/main">
              <a:ext uri="{FF2B5EF4-FFF2-40B4-BE49-F238E27FC236}">
                <a16:creationId xmlns:a16="http://schemas.microsoft.com/office/drawing/2014/main" id="{729C3347-FEB8-41D6-8B12-B3EAB779AC26}"/>
              </a:ext>
            </a:extLst>
          </p:cNvPr>
          <p:cNvSpPr>
            <a:spLocks xmlns:a="http://schemas.openxmlformats.org/drawingml/2006/main" noGrp="1"/>
          </p:cNvSpPr>
          <p:nvPr/>
        </p:nvSpPr>
        <p:spPr>
          <a:xfrm xmlns:a="http://schemas.openxmlformats.org/drawingml/2006/main">
            <a:off x="609600" y="4095750"/>
            <a:ext cx="10972800" cy="952500"/>
          </a:xfrm>
          <a:prstGeom xmlns:a="http://schemas.openxmlformats.org/drawingml/2006/main" prst="rect">
            <a:avLst/>
          </a:prstGeom>
          <a:solidFill xmlns:a="http://schemas.openxmlformats.org/drawingml/2006/main">
            <a:srgbClr val="F7F3ED"/>
          </a:solidFill>
          <a:ln xmlns:a="http://schemas.openxmlformats.org/drawingml/2006/main" w="9525">
            <a:solidFill>
              <a:srgbClr val="B8B0A4"/>
            </a:solidFill>
            <a:prstDash val="solid"/>
          </a:ln>
        </p:spPr>
      </p:sp>
      <p:sp>
        <p:nvSpPr>
          <p:cNvPr id="24" name="text">
            <a:extLst xmlns:a="http://schemas.openxmlformats.org/drawingml/2006/main">
              <a:ext uri="{FF2B5EF4-FFF2-40B4-BE49-F238E27FC236}">
                <a16:creationId xmlns:a16="http://schemas.microsoft.com/office/drawing/2014/main" id="{721A567A-DF2C-4704-A173-D90B5320FCB5}"/>
              </a:ext>
            </a:extLst>
          </p:cNvPr>
          <p:cNvSpPr>
            <a:spLocks xmlns:a="http://schemas.openxmlformats.org/drawingml/2006/main" noGrp="1"/>
          </p:cNvSpPr>
          <p:nvPr/>
        </p:nvSpPr>
        <p:spPr>
          <a:xfrm xmlns:a="http://schemas.openxmlformats.org/drawingml/2006/main">
            <a:off x="800100" y="4267200"/>
            <a:ext cx="1057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i="0">
                <a:solidFill>
                  <a:srgbClr val="1A1A1A"/>
                </a:solidFill>
              </a:defRPr>
            </a:pPr>
            <a:r>
              <a:rPr sz="1350" b="0" i="0">
                <a:solidFill>
                  <a:srgbClr val="1A1A1A"/>
                </a:solidFill>
              </a:rPr>
              <a:t>ratings = ratings[ratings.rating != -1]</a:t>
            </a:r>
          </a:p>
          <a:p xmlns:a="http://schemas.openxmlformats.org/drawingml/2006/main">
            <a:pPr algn="l">
              <a:buNone/>
              <a:defRPr sz="1350" b="0" i="0">
                <a:solidFill>
                  <a:srgbClr val="1A1A1A"/>
                </a:solidFill>
              </a:defRPr>
            </a:pPr>
            <a:r>
              <a:rPr sz="1350" b="0" i="0">
                <a:solidFill>
                  <a:srgbClr val="1A1A1A"/>
                </a:solidFill>
              </a:rPr>
              <a:t>train, test = train_test_split(data, test_size=.20, random_state=42)</a:t>
            </a:r>
          </a:p>
          <a:p xmlns:a="http://schemas.openxmlformats.org/drawingml/2006/main">
            <a:pPr algn="l">
              <a:buNone/>
              <a:defRPr sz="1350" b="0" i="0">
                <a:solidFill>
                  <a:srgbClr val="1A1A1A"/>
                </a:solidFill>
              </a:defRPr>
            </a:pPr>
            <a:r>
              <a:rPr sz="1350" b="0" i="0">
                <a:solidFill>
                  <a:srgbClr val="1A1A1A"/>
                </a:solidFill>
              </a:rPr>
              <a:t>candidates = all_model_anime - set(user_rated_anime)</a:t>
            </a:r>
          </a:p>
        </p:txBody>
      </p:sp>
      <p:sp>
        <p:nvSpPr>
          <p:cNvPr id="25" name="text">
            <a:extLst xmlns:a="http://schemas.openxmlformats.org/drawingml/2006/main">
              <a:ext uri="{FF2B5EF4-FFF2-40B4-BE49-F238E27FC236}">
                <a16:creationId xmlns:a16="http://schemas.microsoft.com/office/drawing/2014/main" id="{22D43279-F381-4EDB-BEEE-4B6418B839D5}"/>
              </a:ext>
            </a:extLst>
          </p:cNvPr>
          <p:cNvSpPr>
            <a:spLocks xmlns:a="http://schemas.openxmlformats.org/drawingml/2006/main" noGrp="1"/>
          </p:cNvSpPr>
          <p:nvPr/>
        </p:nvSpPr>
        <p:spPr>
          <a:xfrm xmlns:a="http://schemas.openxmlformats.org/drawingml/2006/main">
            <a:off x="609600" y="5334000"/>
            <a:ext cx="10972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0" i="0">
                <a:solidFill>
                  <a:srgbClr val="8A8178"/>
                </a:solidFill>
              </a:defRPr>
            </a:pPr>
            <a:r>
              <a:rPr sz="1125" b="0" i="0">
                <a:solidFill>
                  <a:srgbClr val="8A8178"/>
                </a:solidFill>
              </a:rPr>
              <a:t>Artifacts: ratings_clean.csv · anime_clean.csv · model_evaluation_metrics.csv · figures/*.png · top_10_recommendations.csv</a:t>
            </a:r>
          </a:p>
        </p:txBody>
      </p:sp>
    </p:spTree>
    <p:extLst>
      <p:ext uri="{BB962C8B-B14F-4D97-AF65-F5344CB8AC3E}">
        <p14:creationId xmlns:p14="http://schemas.microsoft.com/office/powerpoint/2010/main" val="498706129"/>
      </p:ext>
    </p:extLst>
  </p:cSld>
</p:sld>
</file>

<file path=ppt/slides/slide7.xml><?xml version="1.0" encoding="utf-8"?>
<p:sld xmlns:p="http://schemas.openxmlformats.org/presentationml/2006/main">
  <p:cSld>
    <p:bg>
      <p:bgPr>
        <a:solidFill xmlns:a="http://schemas.openxmlformats.org/drawingml/2006/main">
          <a:srgbClr val="EDE8E0"/>
        </a:solidFill>
      </p:bgPr>
    </p:bg>
    <p:spTree>
      <p:nvGrpSpPr>
        <p:cNvPr id="1" name=""/>
        <p:cNvGrpSpPr/>
        <p:nvPr/>
      </p:nvGrpSpPr>
      <p:grpSpPr>
        <a:xfrm xmlns:a="http://schemas.openxmlformats.org/drawingml/2006/main"/>
      </p:grpSpPr>
      <p:sp>
        <p:nvSpPr>
          <p:cNvPr id="21" name="outer-ring">
            <a:extLst xmlns:a="http://schemas.openxmlformats.org/drawingml/2006/main">
              <a:ext uri="{FF2B5EF4-FFF2-40B4-BE49-F238E27FC236}">
                <a16:creationId xmlns:a16="http://schemas.microsoft.com/office/drawing/2014/main" id="{030409FF-C8F9-45F6-97BE-B66207F3B9A9}"/>
              </a:ext>
            </a:extLst>
          </p:cNvPr>
          <p:cNvSpPr>
            <a:spLocks xmlns:a="http://schemas.openxmlformats.org/drawingml/2006/main" noGrp="1"/>
          </p:cNvSpPr>
          <p:nvPr/>
        </p:nvSpPr>
        <p:spPr>
          <a:xfrm xmlns:a="http://schemas.openxmlformats.org/drawingml/2006/main">
            <a:off x="9620250" y="-1143000"/>
            <a:ext cx="3714750" cy="3714750"/>
          </a:xfrm>
          <a:prstGeom xmlns:a="http://schemas.openxmlformats.org/drawingml/2006/main" prst="rect">
            <a:avLst/>
          </a:prstGeom>
          <a:noFill xmlns:a="http://schemas.openxmlformats.org/drawingml/2006/main"/>
          <a:ln xmlns:a="http://schemas.openxmlformats.org/drawingml/2006/main" w="9525">
            <a:solidFill>
              <a:srgbClr val="B8B0A4"/>
            </a:solidFill>
            <a:prstDash val="solid"/>
          </a:ln>
        </p:spPr>
      </p:sp>
      <p:sp>
        <p:nvSpPr>
          <p:cNvPr id="2" name="inner-ring">
            <a:extLst xmlns:a="http://schemas.openxmlformats.org/drawingml/2006/main">
              <a:ext uri="{FF2B5EF4-FFF2-40B4-BE49-F238E27FC236}">
                <a16:creationId xmlns:a16="http://schemas.microsoft.com/office/drawing/2014/main" id="{A40F003A-2F90-4C3B-B0EE-49B9D8DE20DB}"/>
              </a:ext>
            </a:extLst>
          </p:cNvPr>
          <p:cNvSpPr>
            <a:spLocks xmlns:a="http://schemas.openxmlformats.org/drawingml/2006/main" noGrp="1"/>
          </p:cNvSpPr>
          <p:nvPr/>
        </p:nvSpPr>
        <p:spPr>
          <a:xfrm xmlns:a="http://schemas.openxmlformats.org/drawingml/2006/main">
            <a:off x="10191750" y="-571500"/>
            <a:ext cx="2571750" cy="2571750"/>
          </a:xfrm>
          <a:prstGeom xmlns:a="http://schemas.openxmlformats.org/drawingml/2006/main" prst="rect">
            <a:avLst/>
          </a:prstGeom>
          <a:noFill xmlns:a="http://schemas.openxmlformats.org/drawingml/2006/main"/>
          <a:ln xmlns:a="http://schemas.openxmlformats.org/drawingml/2006/main" w="9525">
            <a:solidFill>
              <a:srgbClr val="B8B0A4"/>
            </a:solidFill>
            <a:prstDash val="solid"/>
          </a:ln>
        </p:spPr>
      </p:sp>
      <p:sp>
        <p:nvSpPr>
          <p:cNvPr id="3" name="eyebrow">
            <a:extLst xmlns:a="http://schemas.openxmlformats.org/drawingml/2006/main">
              <a:ext uri="{FF2B5EF4-FFF2-40B4-BE49-F238E27FC236}">
                <a16:creationId xmlns:a16="http://schemas.microsoft.com/office/drawing/2014/main" id="{07B139D1-FB1C-4F3B-AA62-7CE75B2102DA}"/>
              </a:ext>
            </a:extLst>
          </p:cNvPr>
          <p:cNvSpPr>
            <a:spLocks xmlns:a="http://schemas.openxmlformats.org/drawingml/2006/main" noGrp="1"/>
          </p:cNvSpPr>
          <p:nvPr/>
        </p:nvSpPr>
        <p:spPr>
          <a:xfrm xmlns:a="http://schemas.openxmlformats.org/drawingml/2006/main">
            <a:off x="609600" y="4000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i="0">
                <a:solidFill>
                  <a:srgbClr val="8A8178"/>
                </a:solidFill>
              </a:defRPr>
            </a:pPr>
            <a:r>
              <a:rPr sz="975" b="1" i="0">
                <a:solidFill>
                  <a:srgbClr val="8A8178"/>
                </a:solidFill>
              </a:rPr>
              <a:t>METHODOLOGY</a:t>
            </a:r>
          </a:p>
        </p:txBody>
      </p:sp>
      <p:sp>
        <p:nvSpPr>
          <p:cNvPr id="4" name="title">
            <a:extLst xmlns:a="http://schemas.openxmlformats.org/drawingml/2006/main">
              <a:ext uri="{FF2B5EF4-FFF2-40B4-BE49-F238E27FC236}">
                <a16:creationId xmlns:a16="http://schemas.microsoft.com/office/drawing/2014/main" id="{5FFAD5A2-2A7D-4347-A7DF-DB8953AECBCD}"/>
              </a:ext>
            </a:extLst>
          </p:cNvPr>
          <p:cNvSpPr>
            <a:spLocks xmlns:a="http://schemas.openxmlformats.org/drawingml/2006/main" noGrp="1"/>
          </p:cNvSpPr>
          <p:nvPr/>
        </p:nvSpPr>
        <p:spPr>
          <a:xfrm xmlns:a="http://schemas.openxmlformats.org/drawingml/2006/main">
            <a:off x="609600" y="723900"/>
            <a:ext cx="10668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150" b="0" i="0">
                <a:solidFill>
                  <a:srgbClr val="1A1A1A"/>
                </a:solidFill>
              </a:defRPr>
            </a:pPr>
            <a:r>
              <a:rPr sz="3150" b="0" i="0">
                <a:solidFill>
                  <a:srgbClr val="1A1A1A"/>
                </a:solidFill>
              </a:rPr>
              <a:t>Biased SVD estimates ratings from shared user–anime patterns</a:t>
            </a:r>
          </a:p>
        </p:txBody>
      </p:sp>
      <p:sp>
        <p:nvSpPr>
          <p:cNvPr id="5" name="rule">
            <a:extLst xmlns:a="http://schemas.openxmlformats.org/drawingml/2006/main">
              <a:ext uri="{FF2B5EF4-FFF2-40B4-BE49-F238E27FC236}">
                <a16:creationId xmlns:a16="http://schemas.microsoft.com/office/drawing/2014/main" id="{7ED968C4-48EA-4B38-8130-8C367AB9F78F}"/>
              </a:ext>
            </a:extLst>
          </p:cNvPr>
          <p:cNvSpPr>
            <a:spLocks xmlns:a="http://schemas.openxmlformats.org/drawingml/2006/main" noGrp="1"/>
          </p:cNvSpPr>
          <p:nvPr/>
        </p:nvSpPr>
        <p:spPr>
          <a:xfrm xmlns:a="http://schemas.openxmlformats.org/drawingml/2006/main">
            <a:off x="609600" y="6429375"/>
            <a:ext cx="10972800" cy="9525"/>
          </a:xfrm>
          <a:prstGeom xmlns:a="http://schemas.openxmlformats.org/drawingml/2006/main" prst="rect">
            <a:avLst/>
          </a:prstGeom>
          <a:solidFill xmlns:a="http://schemas.openxmlformats.org/drawingml/2006/main">
            <a:srgbClr val="B8B0A4"/>
          </a:solidFill>
          <a:ln xmlns:a="http://schemas.openxmlformats.org/drawingml/2006/main" w="9525">
            <a:solidFill>
              <a:srgbClr val="B8B0A4"/>
            </a:solidFill>
            <a:prstDash val="solid"/>
          </a:ln>
        </p:spPr>
      </p:sp>
      <p:sp>
        <p:nvSpPr>
          <p:cNvPr id="6" name="text">
            <a:extLst xmlns:a="http://schemas.openxmlformats.org/drawingml/2006/main">
              <a:ext uri="{FF2B5EF4-FFF2-40B4-BE49-F238E27FC236}">
                <a16:creationId xmlns:a16="http://schemas.microsoft.com/office/drawing/2014/main" id="{BEEE524A-AA47-4DEA-922D-BF29ED579E45}"/>
              </a:ext>
            </a:extLst>
          </p:cNvPr>
          <p:cNvSpPr>
            <a:spLocks xmlns:a="http://schemas.openxmlformats.org/drawingml/2006/main" noGrp="1"/>
          </p:cNvSpPr>
          <p:nvPr/>
        </p:nvSpPr>
        <p:spPr>
          <a:xfrm xmlns:a="http://schemas.openxmlformats.org/drawingml/2006/main">
            <a:off x="609600" y="652462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1" i="0">
                <a:solidFill>
                  <a:srgbClr val="8A8178"/>
                </a:solidFill>
              </a:defRPr>
            </a:pPr>
            <a:r>
              <a:rPr sz="750" b="1" i="0">
                <a:solidFill>
                  <a:srgbClr val="8A8178"/>
                </a:solidFill>
              </a:rPr>
              <a:t>GROUP 14 · DUY TAN UNIVERSITY, DA NANG</a:t>
            </a:r>
          </a:p>
        </p:txBody>
      </p:sp>
      <p:sp>
        <p:nvSpPr>
          <p:cNvPr id="7" name="text">
            <a:extLst xmlns:a="http://schemas.openxmlformats.org/drawingml/2006/main">
              <a:ext uri="{FF2B5EF4-FFF2-40B4-BE49-F238E27FC236}">
                <a16:creationId xmlns:a16="http://schemas.microsoft.com/office/drawing/2014/main" id="{0EC74746-D22D-4843-AB17-8EC71A696ABB}"/>
              </a:ext>
            </a:extLst>
          </p:cNvPr>
          <p:cNvSpPr>
            <a:spLocks xmlns:a="http://schemas.openxmlformats.org/drawingml/2006/main" noGrp="1"/>
          </p:cNvSpPr>
          <p:nvPr/>
        </p:nvSpPr>
        <p:spPr>
          <a:xfrm xmlns:a="http://schemas.openxmlformats.org/drawingml/2006/main">
            <a:off x="11144250" y="65246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750" b="0" i="0">
                <a:solidFill>
                  <a:srgbClr val="8A8178"/>
                </a:solidFill>
              </a:defRPr>
            </a:pPr>
            <a:r>
              <a:rPr sz="750" b="0" i="0">
                <a:solidFill>
                  <a:srgbClr val="8A8178"/>
                </a:solidFill>
              </a:rPr>
              <a:t>07</a:t>
            </a:r>
          </a:p>
        </p:txBody>
      </p:sp>
      <p:sp>
        <p:nvSpPr>
          <p:cNvPr id="8" name="rule">
            <a:extLst xmlns:a="http://schemas.openxmlformats.org/drawingml/2006/main">
              <a:ext uri="{FF2B5EF4-FFF2-40B4-BE49-F238E27FC236}">
                <a16:creationId xmlns:a16="http://schemas.microsoft.com/office/drawing/2014/main" id="{19C45C5C-484C-42CB-A8A0-B9C48637ED32}"/>
              </a:ext>
            </a:extLst>
          </p:cNvPr>
          <p:cNvSpPr>
            <a:spLocks xmlns:a="http://schemas.openxmlformats.org/drawingml/2006/main" noGrp="1"/>
          </p:cNvSpPr>
          <p:nvPr/>
        </p:nvSpPr>
        <p:spPr>
          <a:xfrm xmlns:a="http://schemas.openxmlformats.org/drawingml/2006/main">
            <a:off x="1619250" y="1809750"/>
            <a:ext cx="8953500" cy="9525"/>
          </a:xfrm>
          <a:prstGeom xmlns:a="http://schemas.openxmlformats.org/drawingml/2006/main" prst="rect">
            <a:avLst/>
          </a:prstGeom>
          <a:solidFill xmlns:a="http://schemas.openxmlformats.org/drawingml/2006/main">
            <a:srgbClr val="1A1A1A"/>
          </a:solidFill>
          <a:ln xmlns:a="http://schemas.openxmlformats.org/drawingml/2006/main" w="9525">
            <a:solidFill>
              <a:srgbClr val="1A1A1A"/>
            </a:solidFill>
            <a:prstDash val="solid"/>
          </a:ln>
        </p:spPr>
      </p:sp>
      <p:sp>
        <p:nvSpPr>
          <p:cNvPr id="9" name="text">
            <a:extLst xmlns:a="http://schemas.openxmlformats.org/drawingml/2006/main">
              <a:ext uri="{FF2B5EF4-FFF2-40B4-BE49-F238E27FC236}">
                <a16:creationId xmlns:a16="http://schemas.microsoft.com/office/drawing/2014/main" id="{2939D874-6500-4148-9552-82425BF0D52F}"/>
              </a:ext>
            </a:extLst>
          </p:cNvPr>
          <p:cNvSpPr>
            <a:spLocks xmlns:a="http://schemas.openxmlformats.org/drawingml/2006/main" noGrp="1"/>
          </p:cNvSpPr>
          <p:nvPr/>
        </p:nvSpPr>
        <p:spPr>
          <a:xfrm xmlns:a="http://schemas.openxmlformats.org/drawingml/2006/main">
            <a:off x="1619250" y="2047875"/>
            <a:ext cx="8953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3750" b="0" i="0">
                <a:solidFill>
                  <a:srgbClr val="1A1A1A"/>
                </a:solidFill>
              </a:defRPr>
            </a:pPr>
            <a:r>
              <a:rPr sz="3750" b="0" i="0">
                <a:solidFill>
                  <a:srgbClr val="1A1A1A"/>
                </a:solidFill>
              </a:rPr>
              <a:t>r̂ᵤᵢ = μ + bᵤ + bᵢ + qᵢᵀpᵤ</a:t>
            </a:r>
          </a:p>
        </p:txBody>
      </p:sp>
      <p:sp>
        <p:nvSpPr>
          <p:cNvPr id="10" name="rule">
            <a:extLst xmlns:a="http://schemas.openxmlformats.org/drawingml/2006/main">
              <a:ext uri="{FF2B5EF4-FFF2-40B4-BE49-F238E27FC236}">
                <a16:creationId xmlns:a16="http://schemas.microsoft.com/office/drawing/2014/main" id="{FE54BF88-EC65-43A4-AF89-80B08ACC7C85}"/>
              </a:ext>
            </a:extLst>
          </p:cNvPr>
          <p:cNvSpPr>
            <a:spLocks xmlns:a="http://schemas.openxmlformats.org/drawingml/2006/main" noGrp="1"/>
          </p:cNvSpPr>
          <p:nvPr/>
        </p:nvSpPr>
        <p:spPr>
          <a:xfrm xmlns:a="http://schemas.openxmlformats.org/drawingml/2006/main">
            <a:off x="1619250" y="3000375"/>
            <a:ext cx="8953500" cy="9525"/>
          </a:xfrm>
          <a:prstGeom xmlns:a="http://schemas.openxmlformats.org/drawingml/2006/main" prst="rect">
            <a:avLst/>
          </a:prstGeom>
          <a:solidFill xmlns:a="http://schemas.openxmlformats.org/drawingml/2006/main">
            <a:srgbClr val="B8B0A4"/>
          </a:solidFill>
          <a:ln xmlns:a="http://schemas.openxmlformats.org/drawingml/2006/main" w="9525">
            <a:solidFill>
              <a:srgbClr val="B8B0A4"/>
            </a:solidFill>
            <a:prstDash val="solid"/>
          </a:ln>
        </p:spPr>
      </p:sp>
      <p:sp>
        <p:nvSpPr>
          <p:cNvPr id="11" name="rule">
            <a:extLst xmlns:a="http://schemas.openxmlformats.org/drawingml/2006/main">
              <a:ext uri="{FF2B5EF4-FFF2-40B4-BE49-F238E27FC236}">
                <a16:creationId xmlns:a16="http://schemas.microsoft.com/office/drawing/2014/main" id="{5A79F4D0-178F-4054-884A-D5F638442AEA}"/>
              </a:ext>
            </a:extLst>
          </p:cNvPr>
          <p:cNvSpPr>
            <a:spLocks xmlns:a="http://schemas.openxmlformats.org/drawingml/2006/main" noGrp="1"/>
          </p:cNvSpPr>
          <p:nvPr/>
        </p:nvSpPr>
        <p:spPr>
          <a:xfrm xmlns:a="http://schemas.openxmlformats.org/drawingml/2006/main">
            <a:off x="609600" y="3476625"/>
            <a:ext cx="3371850" cy="9525"/>
          </a:xfrm>
          <a:prstGeom xmlns:a="http://schemas.openxmlformats.org/drawingml/2006/main" prst="rect">
            <a:avLst/>
          </a:prstGeom>
          <a:solidFill xmlns:a="http://schemas.openxmlformats.org/drawingml/2006/main">
            <a:srgbClr val="1A1A1A"/>
          </a:solidFill>
          <a:ln xmlns:a="http://schemas.openxmlformats.org/drawingml/2006/main" w="9525">
            <a:solidFill>
              <a:srgbClr val="1A1A1A"/>
            </a:solidFill>
            <a:prstDash val="solid"/>
          </a:ln>
        </p:spPr>
      </p:sp>
      <p:sp>
        <p:nvSpPr>
          <p:cNvPr id="12" name="text">
            <a:extLst xmlns:a="http://schemas.openxmlformats.org/drawingml/2006/main">
              <a:ext uri="{FF2B5EF4-FFF2-40B4-BE49-F238E27FC236}">
                <a16:creationId xmlns:a16="http://schemas.microsoft.com/office/drawing/2014/main" id="{441EBCF0-F830-49BD-8FC0-3C9F3163B4F4}"/>
              </a:ext>
            </a:extLst>
          </p:cNvPr>
          <p:cNvSpPr>
            <a:spLocks xmlns:a="http://schemas.openxmlformats.org/drawingml/2006/main" noGrp="1"/>
          </p:cNvSpPr>
          <p:nvPr/>
        </p:nvSpPr>
        <p:spPr>
          <a:xfrm xmlns:a="http://schemas.openxmlformats.org/drawingml/2006/main">
            <a:off x="609600" y="3590925"/>
            <a:ext cx="3371850" cy="3562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i="0">
                <a:solidFill>
                  <a:srgbClr val="1A1A1A"/>
                </a:solidFill>
              </a:defRPr>
            </a:pPr>
            <a:r>
              <a:rPr sz="1650" b="0" i="0">
                <a:solidFill>
                  <a:srgbClr val="1A1A1A"/>
                </a:solidFill>
              </a:rPr>
              <a:t>Baseline level</a:t>
            </a:r>
          </a:p>
        </p:txBody>
      </p:sp>
      <p:sp>
        <p:nvSpPr>
          <p:cNvPr id="13" name="text">
            <a:extLst xmlns:a="http://schemas.openxmlformats.org/drawingml/2006/main">
              <a:ext uri="{FF2B5EF4-FFF2-40B4-BE49-F238E27FC236}">
                <a16:creationId xmlns:a16="http://schemas.microsoft.com/office/drawing/2014/main" id="{3CAA9E23-69D0-471A-9542-D8F1296021D8}"/>
              </a:ext>
            </a:extLst>
          </p:cNvPr>
          <p:cNvSpPr>
            <a:spLocks xmlns:a="http://schemas.openxmlformats.org/drawingml/2006/main" noGrp="1"/>
          </p:cNvSpPr>
          <p:nvPr/>
        </p:nvSpPr>
        <p:spPr>
          <a:xfrm xmlns:a="http://schemas.openxmlformats.org/drawingml/2006/main">
            <a:off x="609600" y="3971925"/>
            <a:ext cx="33718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i="0">
                <a:solidFill>
                  <a:srgbClr val="5A5A5A"/>
                </a:solidFill>
              </a:defRPr>
            </a:pPr>
            <a:r>
              <a:rPr sz="1350" b="0" i="0">
                <a:solidFill>
                  <a:srgbClr val="5A5A5A"/>
                </a:solidFill>
              </a:rPr>
              <a:t>μ is the global mean; bᵤ and bᵢ adjust for user and anime rating tendencies.</a:t>
            </a:r>
          </a:p>
        </p:txBody>
      </p:sp>
      <p:sp>
        <p:nvSpPr>
          <p:cNvPr id="14" name="rule">
            <a:extLst xmlns:a="http://schemas.openxmlformats.org/drawingml/2006/main">
              <a:ext uri="{FF2B5EF4-FFF2-40B4-BE49-F238E27FC236}">
                <a16:creationId xmlns:a16="http://schemas.microsoft.com/office/drawing/2014/main" id="{553EF479-7500-41CF-807C-48C1A976F617}"/>
              </a:ext>
            </a:extLst>
          </p:cNvPr>
          <p:cNvSpPr>
            <a:spLocks xmlns:a="http://schemas.openxmlformats.org/drawingml/2006/main" noGrp="1"/>
          </p:cNvSpPr>
          <p:nvPr/>
        </p:nvSpPr>
        <p:spPr>
          <a:xfrm xmlns:a="http://schemas.openxmlformats.org/drawingml/2006/main">
            <a:off x="4410075" y="3476625"/>
            <a:ext cx="3371850" cy="9525"/>
          </a:xfrm>
          <a:prstGeom xmlns:a="http://schemas.openxmlformats.org/drawingml/2006/main" prst="rect">
            <a:avLst/>
          </a:prstGeom>
          <a:solidFill xmlns:a="http://schemas.openxmlformats.org/drawingml/2006/main">
            <a:srgbClr val="1A1A1A"/>
          </a:solidFill>
          <a:ln xmlns:a="http://schemas.openxmlformats.org/drawingml/2006/main" w="9525">
            <a:solidFill>
              <a:srgbClr val="1A1A1A"/>
            </a:solidFill>
            <a:prstDash val="solid"/>
          </a:ln>
        </p:spPr>
      </p:sp>
      <p:sp>
        <p:nvSpPr>
          <p:cNvPr id="15" name="text">
            <a:extLst xmlns:a="http://schemas.openxmlformats.org/drawingml/2006/main">
              <a:ext uri="{FF2B5EF4-FFF2-40B4-BE49-F238E27FC236}">
                <a16:creationId xmlns:a16="http://schemas.microsoft.com/office/drawing/2014/main" id="{29998916-D6C3-4CBD-9382-10F8C7A77350}"/>
              </a:ext>
            </a:extLst>
          </p:cNvPr>
          <p:cNvSpPr>
            <a:spLocks xmlns:a="http://schemas.openxmlformats.org/drawingml/2006/main" noGrp="1"/>
          </p:cNvSpPr>
          <p:nvPr/>
        </p:nvSpPr>
        <p:spPr>
          <a:xfrm xmlns:a="http://schemas.openxmlformats.org/drawingml/2006/main">
            <a:off x="4410075" y="3590925"/>
            <a:ext cx="3371850" cy="3562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i="0">
                <a:solidFill>
                  <a:srgbClr val="1A1A1A"/>
                </a:solidFill>
              </a:defRPr>
            </a:pPr>
            <a:r>
              <a:rPr sz="1650" b="0" i="0">
                <a:solidFill>
                  <a:srgbClr val="1A1A1A"/>
                </a:solidFill>
              </a:rPr>
              <a:t>Personal interaction</a:t>
            </a:r>
          </a:p>
        </p:txBody>
      </p:sp>
      <p:sp>
        <p:nvSpPr>
          <p:cNvPr id="16" name="text">
            <a:extLst xmlns:a="http://schemas.openxmlformats.org/drawingml/2006/main">
              <a:ext uri="{FF2B5EF4-FFF2-40B4-BE49-F238E27FC236}">
                <a16:creationId xmlns:a16="http://schemas.microsoft.com/office/drawing/2014/main" id="{20536A21-D758-47D6-9E28-637006F156FA}"/>
              </a:ext>
            </a:extLst>
          </p:cNvPr>
          <p:cNvSpPr>
            <a:spLocks xmlns:a="http://schemas.openxmlformats.org/drawingml/2006/main" noGrp="1"/>
          </p:cNvSpPr>
          <p:nvPr/>
        </p:nvSpPr>
        <p:spPr>
          <a:xfrm xmlns:a="http://schemas.openxmlformats.org/drawingml/2006/main">
            <a:off x="4410075" y="3971925"/>
            <a:ext cx="33718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i="0">
                <a:solidFill>
                  <a:srgbClr val="5A5A5A"/>
                </a:solidFill>
              </a:defRPr>
            </a:pPr>
            <a:r>
              <a:rPr sz="1350" b="0" i="0">
                <a:solidFill>
                  <a:srgbClr val="5A5A5A"/>
                </a:solidFill>
              </a:rPr>
              <a:t>pᵤ and qᵢ are learned latent vectors; their dot product captures alignment.</a:t>
            </a:r>
          </a:p>
        </p:txBody>
      </p:sp>
      <p:sp>
        <p:nvSpPr>
          <p:cNvPr id="17" name="rule">
            <a:extLst xmlns:a="http://schemas.openxmlformats.org/drawingml/2006/main">
              <a:ext uri="{FF2B5EF4-FFF2-40B4-BE49-F238E27FC236}">
                <a16:creationId xmlns:a16="http://schemas.microsoft.com/office/drawing/2014/main" id="{F4252732-4FE7-4829-890F-02D2B38D14F1}"/>
              </a:ext>
            </a:extLst>
          </p:cNvPr>
          <p:cNvSpPr>
            <a:spLocks xmlns:a="http://schemas.openxmlformats.org/drawingml/2006/main" noGrp="1"/>
          </p:cNvSpPr>
          <p:nvPr/>
        </p:nvSpPr>
        <p:spPr>
          <a:xfrm xmlns:a="http://schemas.openxmlformats.org/drawingml/2006/main">
            <a:off x="8210550" y="3476625"/>
            <a:ext cx="3371850" cy="9525"/>
          </a:xfrm>
          <a:prstGeom xmlns:a="http://schemas.openxmlformats.org/drawingml/2006/main" prst="rect">
            <a:avLst/>
          </a:prstGeom>
          <a:solidFill xmlns:a="http://schemas.openxmlformats.org/drawingml/2006/main">
            <a:srgbClr val="1A1A1A"/>
          </a:solidFill>
          <a:ln xmlns:a="http://schemas.openxmlformats.org/drawingml/2006/main" w="9525">
            <a:solidFill>
              <a:srgbClr val="1A1A1A"/>
            </a:solidFill>
            <a:prstDash val="solid"/>
          </a:ln>
        </p:spPr>
      </p:sp>
      <p:sp>
        <p:nvSpPr>
          <p:cNvPr id="18" name="text">
            <a:extLst xmlns:a="http://schemas.openxmlformats.org/drawingml/2006/main">
              <a:ext uri="{FF2B5EF4-FFF2-40B4-BE49-F238E27FC236}">
                <a16:creationId xmlns:a16="http://schemas.microsoft.com/office/drawing/2014/main" id="{BCF11372-BCC1-437A-93FB-E51C3A2A6E49}"/>
              </a:ext>
            </a:extLst>
          </p:cNvPr>
          <p:cNvSpPr>
            <a:spLocks xmlns:a="http://schemas.openxmlformats.org/drawingml/2006/main" noGrp="1"/>
          </p:cNvSpPr>
          <p:nvPr/>
        </p:nvSpPr>
        <p:spPr>
          <a:xfrm xmlns:a="http://schemas.openxmlformats.org/drawingml/2006/main">
            <a:off x="8210550" y="3590925"/>
            <a:ext cx="3371850" cy="3562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i="0">
                <a:solidFill>
                  <a:srgbClr val="1A1A1A"/>
                </a:solidFill>
              </a:defRPr>
            </a:pPr>
            <a:r>
              <a:rPr sz="1650" b="0" i="0">
                <a:solidFill>
                  <a:srgbClr val="1A1A1A"/>
                </a:solidFill>
              </a:rPr>
              <a:t>Training</a:t>
            </a:r>
          </a:p>
        </p:txBody>
      </p:sp>
      <p:sp>
        <p:nvSpPr>
          <p:cNvPr id="19" name="text">
            <a:extLst xmlns:a="http://schemas.openxmlformats.org/drawingml/2006/main">
              <a:ext uri="{FF2B5EF4-FFF2-40B4-BE49-F238E27FC236}">
                <a16:creationId xmlns:a16="http://schemas.microsoft.com/office/drawing/2014/main" id="{0D559807-447E-47BC-8052-59B7662A5968}"/>
              </a:ext>
            </a:extLst>
          </p:cNvPr>
          <p:cNvSpPr>
            <a:spLocks xmlns:a="http://schemas.openxmlformats.org/drawingml/2006/main" noGrp="1"/>
          </p:cNvSpPr>
          <p:nvPr/>
        </p:nvSpPr>
        <p:spPr>
          <a:xfrm xmlns:a="http://schemas.openxmlformats.org/drawingml/2006/main">
            <a:off x="8210550" y="3971925"/>
            <a:ext cx="33718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i="0">
                <a:solidFill>
                  <a:srgbClr val="5A5A5A"/>
                </a:solidFill>
              </a:defRPr>
            </a:pPr>
            <a:r>
              <a:rPr sz="1350" b="0" i="0">
                <a:solidFill>
                  <a:srgbClr val="5A5A5A"/>
                </a:solidFill>
              </a:rPr>
              <a:t>SGD minimizes regularized squared error over observed ratings, without zero-filling missing pairs.</a:t>
            </a:r>
          </a:p>
        </p:txBody>
      </p:sp>
      <p:sp>
        <p:nvSpPr>
          <p:cNvPr id="20" name="text">
            <a:extLst xmlns:a="http://schemas.openxmlformats.org/drawingml/2006/main">
              <a:ext uri="{FF2B5EF4-FFF2-40B4-BE49-F238E27FC236}">
                <a16:creationId xmlns:a16="http://schemas.microsoft.com/office/drawing/2014/main" id="{100F82A5-CB0E-4105-A7E9-87C820C65D5B}"/>
              </a:ext>
            </a:extLst>
          </p:cNvPr>
          <p:cNvSpPr>
            <a:spLocks xmlns:a="http://schemas.openxmlformats.org/drawingml/2006/main" noGrp="1"/>
          </p:cNvSpPr>
          <p:nvPr/>
        </p:nvSpPr>
        <p:spPr>
          <a:xfrm xmlns:a="http://schemas.openxmlformats.org/drawingml/2006/main">
            <a:off x="609600" y="5429250"/>
            <a:ext cx="109728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i="0">
                <a:solidFill>
                  <a:srgbClr val="1A1A1A"/>
                </a:solidFill>
              </a:defRPr>
            </a:pPr>
            <a:r>
              <a:rPr sz="1650" b="0" i="0">
                <a:solidFill>
                  <a:srgbClr val="1A1A1A"/>
                </a:solidFill>
              </a:rPr>
              <a:t>Latent factors are inferred patterns—not automatic genre labels. SVD also cannot solve pure cold start.</a:t>
            </a:r>
          </a:p>
        </p:txBody>
      </p:sp>
    </p:spTree>
    <p:extLst>
      <p:ext uri="{BB962C8B-B14F-4D97-AF65-F5344CB8AC3E}">
        <p14:creationId xmlns:p14="http://schemas.microsoft.com/office/powerpoint/2010/main" val="1839257928"/>
      </p:ext>
    </p:extLst>
  </p:cSld>
</p:sld>
</file>

<file path=ppt/slides/slide8.xml><?xml version="1.0" encoding="utf-8"?>
<p:sld xmlns:p="http://schemas.openxmlformats.org/presentationml/2006/main">
  <p:cSld>
    <p:bg>
      <p:bgPr>
        <a:solidFill xmlns:a="http://schemas.openxmlformats.org/drawingml/2006/main">
          <a:srgbClr val="EDE8E0"/>
        </a:solidFill>
      </p:bgPr>
    </p:bg>
    <p:spTree>
      <p:nvGrpSpPr>
        <p:cNvPr id="1" name=""/>
        <p:cNvGrpSpPr/>
        <p:nvPr/>
      </p:nvGrpSpPr>
      <p:grpSpPr>
        <a:xfrm xmlns:a="http://schemas.openxmlformats.org/drawingml/2006/main"/>
      </p:grpSpPr>
      <p:sp>
        <p:nvSpPr>
          <p:cNvPr id="21" name="outer-ring">
            <a:extLst xmlns:a="http://schemas.openxmlformats.org/drawingml/2006/main">
              <a:ext uri="{FF2B5EF4-FFF2-40B4-BE49-F238E27FC236}">
                <a16:creationId xmlns:a16="http://schemas.microsoft.com/office/drawing/2014/main" id="{030409FF-C8F9-45F6-97BE-B66207F3B9A9}"/>
              </a:ext>
            </a:extLst>
          </p:cNvPr>
          <p:cNvSpPr>
            <a:spLocks xmlns:a="http://schemas.openxmlformats.org/drawingml/2006/main" noGrp="1"/>
          </p:cNvSpPr>
          <p:nvPr/>
        </p:nvSpPr>
        <p:spPr>
          <a:xfrm xmlns:a="http://schemas.openxmlformats.org/drawingml/2006/main">
            <a:off x="9620250" y="-1143000"/>
            <a:ext cx="3714750" cy="3714750"/>
          </a:xfrm>
          <a:prstGeom xmlns:a="http://schemas.openxmlformats.org/drawingml/2006/main" prst="rect">
            <a:avLst/>
          </a:prstGeom>
          <a:noFill xmlns:a="http://schemas.openxmlformats.org/drawingml/2006/main"/>
          <a:ln xmlns:a="http://schemas.openxmlformats.org/drawingml/2006/main" w="9525">
            <a:solidFill>
              <a:srgbClr val="B8B0A4"/>
            </a:solidFill>
            <a:prstDash val="solid"/>
          </a:ln>
        </p:spPr>
      </p:sp>
      <p:sp>
        <p:nvSpPr>
          <p:cNvPr id="2" name="inner-ring">
            <a:extLst xmlns:a="http://schemas.openxmlformats.org/drawingml/2006/main">
              <a:ext uri="{FF2B5EF4-FFF2-40B4-BE49-F238E27FC236}">
                <a16:creationId xmlns:a16="http://schemas.microsoft.com/office/drawing/2014/main" id="{A40F003A-2F90-4C3B-B0EE-49B9D8DE20DB}"/>
              </a:ext>
            </a:extLst>
          </p:cNvPr>
          <p:cNvSpPr>
            <a:spLocks xmlns:a="http://schemas.openxmlformats.org/drawingml/2006/main" noGrp="1"/>
          </p:cNvSpPr>
          <p:nvPr/>
        </p:nvSpPr>
        <p:spPr>
          <a:xfrm xmlns:a="http://schemas.openxmlformats.org/drawingml/2006/main">
            <a:off x="10191750" y="-571500"/>
            <a:ext cx="2571750" cy="2571750"/>
          </a:xfrm>
          <a:prstGeom xmlns:a="http://schemas.openxmlformats.org/drawingml/2006/main" prst="rect">
            <a:avLst/>
          </a:prstGeom>
          <a:noFill xmlns:a="http://schemas.openxmlformats.org/drawingml/2006/main"/>
          <a:ln xmlns:a="http://schemas.openxmlformats.org/drawingml/2006/main" w="9525">
            <a:solidFill>
              <a:srgbClr val="B8B0A4"/>
            </a:solidFill>
            <a:prstDash val="solid"/>
          </a:ln>
        </p:spPr>
      </p:sp>
      <p:sp>
        <p:nvSpPr>
          <p:cNvPr id="3" name="eyebrow">
            <a:extLst xmlns:a="http://schemas.openxmlformats.org/drawingml/2006/main">
              <a:ext uri="{FF2B5EF4-FFF2-40B4-BE49-F238E27FC236}">
                <a16:creationId xmlns:a16="http://schemas.microsoft.com/office/drawing/2014/main" id="{07B139D1-FB1C-4F3B-AA62-7CE75B2102DA}"/>
              </a:ext>
            </a:extLst>
          </p:cNvPr>
          <p:cNvSpPr>
            <a:spLocks xmlns:a="http://schemas.openxmlformats.org/drawingml/2006/main" noGrp="1"/>
          </p:cNvSpPr>
          <p:nvPr/>
        </p:nvSpPr>
        <p:spPr>
          <a:xfrm xmlns:a="http://schemas.openxmlformats.org/drawingml/2006/main">
            <a:off x="609600" y="4000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i="0">
                <a:solidFill>
                  <a:srgbClr val="8A8178"/>
                </a:solidFill>
              </a:defRPr>
            </a:pPr>
            <a:r>
              <a:rPr sz="975" b="1" i="0">
                <a:solidFill>
                  <a:srgbClr val="8A8178"/>
                </a:solidFill>
              </a:rPr>
              <a:t>HOW SVD LEARNS</a:t>
            </a:r>
          </a:p>
        </p:txBody>
      </p:sp>
      <p:sp>
        <p:nvSpPr>
          <p:cNvPr id="4" name="title">
            <a:extLst xmlns:a="http://schemas.openxmlformats.org/drawingml/2006/main">
              <a:ext uri="{FF2B5EF4-FFF2-40B4-BE49-F238E27FC236}">
                <a16:creationId xmlns:a16="http://schemas.microsoft.com/office/drawing/2014/main" id="{5FFAD5A2-2A7D-4347-A7DF-DB8953AECBCD}"/>
              </a:ext>
            </a:extLst>
          </p:cNvPr>
          <p:cNvSpPr>
            <a:spLocks xmlns:a="http://schemas.openxmlformats.org/drawingml/2006/main" noGrp="1"/>
          </p:cNvSpPr>
          <p:nvPr/>
        </p:nvSpPr>
        <p:spPr>
          <a:xfrm xmlns:a="http://schemas.openxmlformats.org/drawingml/2006/main">
            <a:off x="609600" y="723900"/>
            <a:ext cx="10668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150" b="0" i="0">
                <a:solidFill>
                  <a:srgbClr val="1A1A1A"/>
                </a:solidFill>
              </a:defRPr>
            </a:pPr>
            <a:r>
              <a:rPr sz="3150" b="0" i="0">
                <a:solidFill>
                  <a:srgbClr val="1A1A1A"/>
                </a:solidFill>
              </a:rPr>
              <a:t>Each observed rating nudges the model toward a better prediction</a:t>
            </a:r>
          </a:p>
        </p:txBody>
      </p:sp>
      <p:sp>
        <p:nvSpPr>
          <p:cNvPr id="5" name="rule">
            <a:extLst xmlns:a="http://schemas.openxmlformats.org/drawingml/2006/main">
              <a:ext uri="{FF2B5EF4-FFF2-40B4-BE49-F238E27FC236}">
                <a16:creationId xmlns:a16="http://schemas.microsoft.com/office/drawing/2014/main" id="{7ED968C4-48EA-4B38-8130-8C367AB9F78F}"/>
              </a:ext>
            </a:extLst>
          </p:cNvPr>
          <p:cNvSpPr>
            <a:spLocks xmlns:a="http://schemas.openxmlformats.org/drawingml/2006/main" noGrp="1"/>
          </p:cNvSpPr>
          <p:nvPr/>
        </p:nvSpPr>
        <p:spPr>
          <a:xfrm xmlns:a="http://schemas.openxmlformats.org/drawingml/2006/main">
            <a:off x="609600" y="6429375"/>
            <a:ext cx="10972800" cy="9525"/>
          </a:xfrm>
          <a:prstGeom xmlns:a="http://schemas.openxmlformats.org/drawingml/2006/main" prst="rect">
            <a:avLst/>
          </a:prstGeom>
          <a:solidFill xmlns:a="http://schemas.openxmlformats.org/drawingml/2006/main">
            <a:srgbClr val="B8B0A4"/>
          </a:solidFill>
          <a:ln xmlns:a="http://schemas.openxmlformats.org/drawingml/2006/main" w="9525">
            <a:solidFill>
              <a:srgbClr val="B8B0A4"/>
            </a:solidFill>
            <a:prstDash val="solid"/>
          </a:ln>
        </p:spPr>
      </p:sp>
      <p:sp>
        <p:nvSpPr>
          <p:cNvPr id="6" name="text">
            <a:extLst xmlns:a="http://schemas.openxmlformats.org/drawingml/2006/main">
              <a:ext uri="{FF2B5EF4-FFF2-40B4-BE49-F238E27FC236}">
                <a16:creationId xmlns:a16="http://schemas.microsoft.com/office/drawing/2014/main" id="{BEEE524A-AA47-4DEA-922D-BF29ED579E45}"/>
              </a:ext>
            </a:extLst>
          </p:cNvPr>
          <p:cNvSpPr>
            <a:spLocks xmlns:a="http://schemas.openxmlformats.org/drawingml/2006/main" noGrp="1"/>
          </p:cNvSpPr>
          <p:nvPr/>
        </p:nvSpPr>
        <p:spPr>
          <a:xfrm xmlns:a="http://schemas.openxmlformats.org/drawingml/2006/main">
            <a:off x="609600" y="652462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1" i="0">
                <a:solidFill>
                  <a:srgbClr val="8A8178"/>
                </a:solidFill>
              </a:defRPr>
            </a:pPr>
            <a:r>
              <a:rPr sz="750" b="1" i="0">
                <a:solidFill>
                  <a:srgbClr val="8A8178"/>
                </a:solidFill>
              </a:rPr>
              <a:t>GROUP 14 · DUY TAN UNIVERSITY, DA NANG</a:t>
            </a:r>
          </a:p>
        </p:txBody>
      </p:sp>
      <p:sp>
        <p:nvSpPr>
          <p:cNvPr id="7" name="text">
            <a:extLst xmlns:a="http://schemas.openxmlformats.org/drawingml/2006/main">
              <a:ext uri="{FF2B5EF4-FFF2-40B4-BE49-F238E27FC236}">
                <a16:creationId xmlns:a16="http://schemas.microsoft.com/office/drawing/2014/main" id="{0EC74746-D22D-4843-AB17-8EC71A696ABB}"/>
              </a:ext>
            </a:extLst>
          </p:cNvPr>
          <p:cNvSpPr>
            <a:spLocks xmlns:a="http://schemas.openxmlformats.org/drawingml/2006/main" noGrp="1"/>
          </p:cNvSpPr>
          <p:nvPr/>
        </p:nvSpPr>
        <p:spPr>
          <a:xfrm xmlns:a="http://schemas.openxmlformats.org/drawingml/2006/main">
            <a:off x="11144250" y="65246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750" b="0" i="0">
                <a:solidFill>
                  <a:srgbClr val="8A8178"/>
                </a:solidFill>
              </a:defRPr>
            </a:pPr>
            <a:r>
              <a:rPr sz="750" b="0" i="0">
                <a:solidFill>
                  <a:srgbClr val="8A8178"/>
                </a:solidFill>
              </a:rPr>
              <a:t>08</a:t>
            </a:r>
          </a:p>
        </p:txBody>
      </p:sp>
      <p:sp>
        <p:nvSpPr>
          <p:cNvPr id="8" name="rule">
            <a:extLst xmlns:a="http://schemas.openxmlformats.org/drawingml/2006/main">
              <a:ext uri="{FF2B5EF4-FFF2-40B4-BE49-F238E27FC236}">
                <a16:creationId xmlns:a16="http://schemas.microsoft.com/office/drawing/2014/main" id="{19C45C5C-484C-42CB-A8A0-B9C48637ED32}"/>
              </a:ext>
            </a:extLst>
          </p:cNvPr>
          <p:cNvSpPr>
            <a:spLocks xmlns:a="http://schemas.openxmlformats.org/drawingml/2006/main" noGrp="1"/>
          </p:cNvSpPr>
          <p:nvPr/>
        </p:nvSpPr>
        <p:spPr>
          <a:xfrm xmlns:a="http://schemas.openxmlformats.org/drawingml/2006/main">
            <a:off x="1619250" y="1809750"/>
            <a:ext cx="8953500" cy="9525"/>
          </a:xfrm>
          <a:prstGeom xmlns:a="http://schemas.openxmlformats.org/drawingml/2006/main" prst="rect">
            <a:avLst/>
          </a:prstGeom>
          <a:solidFill xmlns:a="http://schemas.openxmlformats.org/drawingml/2006/main">
            <a:srgbClr val="1A1A1A"/>
          </a:solidFill>
          <a:ln xmlns:a="http://schemas.openxmlformats.org/drawingml/2006/main" w="9525">
            <a:solidFill>
              <a:srgbClr val="1A1A1A"/>
            </a:solidFill>
            <a:prstDash val="solid"/>
          </a:ln>
        </p:spPr>
      </p:sp>
      <p:sp>
        <p:nvSpPr>
          <p:cNvPr id="9" name="text">
            <a:extLst xmlns:a="http://schemas.openxmlformats.org/drawingml/2006/main">
              <a:ext uri="{FF2B5EF4-FFF2-40B4-BE49-F238E27FC236}">
                <a16:creationId xmlns:a16="http://schemas.microsoft.com/office/drawing/2014/main" id="{2939D874-6500-4148-9552-82425BF0D52F}"/>
              </a:ext>
            </a:extLst>
          </p:cNvPr>
          <p:cNvSpPr>
            <a:spLocks xmlns:a="http://schemas.openxmlformats.org/drawingml/2006/main" noGrp="1"/>
          </p:cNvSpPr>
          <p:nvPr/>
        </p:nvSpPr>
        <p:spPr>
          <a:xfrm xmlns:a="http://schemas.openxmlformats.org/drawingml/2006/main">
            <a:off x="1619250" y="2047875"/>
            <a:ext cx="8953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3750" b="0" i="0">
                <a:solidFill>
                  <a:srgbClr val="1A1A1A"/>
                </a:solidFill>
              </a:defRPr>
            </a:pPr>
            <a:r>
              <a:rPr sz="3750" b="0" i="0">
                <a:solidFill>
                  <a:srgbClr val="1A1A1A"/>
                </a:solidFill>
              </a:rPr>
              <a:t>predict → compare → update</a:t>
            </a:r>
          </a:p>
        </p:txBody>
      </p:sp>
      <p:sp>
        <p:nvSpPr>
          <p:cNvPr id="10" name="rule">
            <a:extLst xmlns:a="http://schemas.openxmlformats.org/drawingml/2006/main">
              <a:ext uri="{FF2B5EF4-FFF2-40B4-BE49-F238E27FC236}">
                <a16:creationId xmlns:a16="http://schemas.microsoft.com/office/drawing/2014/main" id="{FE54BF88-EC65-43A4-AF89-80B08ACC7C85}"/>
              </a:ext>
            </a:extLst>
          </p:cNvPr>
          <p:cNvSpPr>
            <a:spLocks xmlns:a="http://schemas.openxmlformats.org/drawingml/2006/main" noGrp="1"/>
          </p:cNvSpPr>
          <p:nvPr/>
        </p:nvSpPr>
        <p:spPr>
          <a:xfrm xmlns:a="http://schemas.openxmlformats.org/drawingml/2006/main">
            <a:off x="1619250" y="3000375"/>
            <a:ext cx="8953500" cy="9525"/>
          </a:xfrm>
          <a:prstGeom xmlns:a="http://schemas.openxmlformats.org/drawingml/2006/main" prst="rect">
            <a:avLst/>
          </a:prstGeom>
          <a:solidFill xmlns:a="http://schemas.openxmlformats.org/drawingml/2006/main">
            <a:srgbClr val="B8B0A4"/>
          </a:solidFill>
          <a:ln xmlns:a="http://schemas.openxmlformats.org/drawingml/2006/main" w="9525">
            <a:solidFill>
              <a:srgbClr val="B8B0A4"/>
            </a:solidFill>
            <a:prstDash val="solid"/>
          </a:ln>
        </p:spPr>
      </p:sp>
      <p:sp>
        <p:nvSpPr>
          <p:cNvPr id="11" name="rule">
            <a:extLst xmlns:a="http://schemas.openxmlformats.org/drawingml/2006/main">
              <a:ext uri="{FF2B5EF4-FFF2-40B4-BE49-F238E27FC236}">
                <a16:creationId xmlns:a16="http://schemas.microsoft.com/office/drawing/2014/main" id="{5A79F4D0-178F-4054-884A-D5F638442AEA}"/>
              </a:ext>
            </a:extLst>
          </p:cNvPr>
          <p:cNvSpPr>
            <a:spLocks xmlns:a="http://schemas.openxmlformats.org/drawingml/2006/main" noGrp="1"/>
          </p:cNvSpPr>
          <p:nvPr/>
        </p:nvSpPr>
        <p:spPr>
          <a:xfrm xmlns:a="http://schemas.openxmlformats.org/drawingml/2006/main">
            <a:off x="609600" y="3476625"/>
            <a:ext cx="3371850" cy="9525"/>
          </a:xfrm>
          <a:prstGeom xmlns:a="http://schemas.openxmlformats.org/drawingml/2006/main" prst="rect">
            <a:avLst/>
          </a:prstGeom>
          <a:solidFill xmlns:a="http://schemas.openxmlformats.org/drawingml/2006/main">
            <a:srgbClr val="1A1A1A"/>
          </a:solidFill>
          <a:ln xmlns:a="http://schemas.openxmlformats.org/drawingml/2006/main" w="9525">
            <a:solidFill>
              <a:srgbClr val="1A1A1A"/>
            </a:solidFill>
            <a:prstDash val="solid"/>
          </a:ln>
        </p:spPr>
      </p:sp>
      <p:sp>
        <p:nvSpPr>
          <p:cNvPr id="12" name="text">
            <a:extLst xmlns:a="http://schemas.openxmlformats.org/drawingml/2006/main">
              <a:ext uri="{FF2B5EF4-FFF2-40B4-BE49-F238E27FC236}">
                <a16:creationId xmlns:a16="http://schemas.microsoft.com/office/drawing/2014/main" id="{441EBCF0-F830-49BD-8FC0-3C9F3163B4F4}"/>
              </a:ext>
            </a:extLst>
          </p:cNvPr>
          <p:cNvSpPr>
            <a:spLocks xmlns:a="http://schemas.openxmlformats.org/drawingml/2006/main" noGrp="1"/>
          </p:cNvSpPr>
          <p:nvPr/>
        </p:nvSpPr>
        <p:spPr>
          <a:xfrm xmlns:a="http://schemas.openxmlformats.org/drawingml/2006/main">
            <a:off x="609600" y="3590925"/>
            <a:ext cx="3371850" cy="3562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i="0">
                <a:solidFill>
                  <a:srgbClr val="1A1A1A"/>
                </a:solidFill>
              </a:defRPr>
            </a:pPr>
            <a:r>
              <a:rPr sz="1650" b="0" i="0">
                <a:solidFill>
                  <a:srgbClr val="1A1A1A"/>
                </a:solidFill>
              </a:rPr>
              <a:t>1 · Initialize</a:t>
            </a:r>
          </a:p>
        </p:txBody>
      </p:sp>
      <p:sp>
        <p:nvSpPr>
          <p:cNvPr id="13" name="text">
            <a:extLst xmlns:a="http://schemas.openxmlformats.org/drawingml/2006/main">
              <a:ext uri="{FF2B5EF4-FFF2-40B4-BE49-F238E27FC236}">
                <a16:creationId xmlns:a16="http://schemas.microsoft.com/office/drawing/2014/main" id="{3CAA9E23-69D0-471A-9542-D8F1296021D8}"/>
              </a:ext>
            </a:extLst>
          </p:cNvPr>
          <p:cNvSpPr>
            <a:spLocks xmlns:a="http://schemas.openxmlformats.org/drawingml/2006/main" noGrp="1"/>
          </p:cNvSpPr>
          <p:nvPr/>
        </p:nvSpPr>
        <p:spPr>
          <a:xfrm xmlns:a="http://schemas.openxmlformats.org/drawingml/2006/main">
            <a:off x="609600" y="3971925"/>
            <a:ext cx="33718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i="0">
                <a:solidFill>
                  <a:srgbClr val="5A5A5A"/>
                </a:solidFill>
              </a:defRPr>
            </a:pPr>
            <a:r>
              <a:rPr sz="1350" b="0" i="0">
                <a:solidFill>
                  <a:srgbClr val="5A5A5A"/>
                </a:solidFill>
              </a:rPr>
              <a:t>Create one 30-number vector per retained user and anime, plus user and item biases. Values start near random.</a:t>
            </a:r>
          </a:p>
        </p:txBody>
      </p:sp>
      <p:sp>
        <p:nvSpPr>
          <p:cNvPr id="14" name="rule">
            <a:extLst xmlns:a="http://schemas.openxmlformats.org/drawingml/2006/main">
              <a:ext uri="{FF2B5EF4-FFF2-40B4-BE49-F238E27FC236}">
                <a16:creationId xmlns:a16="http://schemas.microsoft.com/office/drawing/2014/main" id="{553EF479-7500-41CF-807C-48C1A976F617}"/>
              </a:ext>
            </a:extLst>
          </p:cNvPr>
          <p:cNvSpPr>
            <a:spLocks xmlns:a="http://schemas.openxmlformats.org/drawingml/2006/main" noGrp="1"/>
          </p:cNvSpPr>
          <p:nvPr/>
        </p:nvSpPr>
        <p:spPr>
          <a:xfrm xmlns:a="http://schemas.openxmlformats.org/drawingml/2006/main">
            <a:off x="4410075" y="3476625"/>
            <a:ext cx="3371850" cy="9525"/>
          </a:xfrm>
          <a:prstGeom xmlns:a="http://schemas.openxmlformats.org/drawingml/2006/main" prst="rect">
            <a:avLst/>
          </a:prstGeom>
          <a:solidFill xmlns:a="http://schemas.openxmlformats.org/drawingml/2006/main">
            <a:srgbClr val="1A1A1A"/>
          </a:solidFill>
          <a:ln xmlns:a="http://schemas.openxmlformats.org/drawingml/2006/main" w="9525">
            <a:solidFill>
              <a:srgbClr val="1A1A1A"/>
            </a:solidFill>
            <a:prstDash val="solid"/>
          </a:ln>
        </p:spPr>
      </p:sp>
      <p:sp>
        <p:nvSpPr>
          <p:cNvPr id="15" name="text">
            <a:extLst xmlns:a="http://schemas.openxmlformats.org/drawingml/2006/main">
              <a:ext uri="{FF2B5EF4-FFF2-40B4-BE49-F238E27FC236}">
                <a16:creationId xmlns:a16="http://schemas.microsoft.com/office/drawing/2014/main" id="{29998916-D6C3-4CBD-9382-10F8C7A77350}"/>
              </a:ext>
            </a:extLst>
          </p:cNvPr>
          <p:cNvSpPr>
            <a:spLocks xmlns:a="http://schemas.openxmlformats.org/drawingml/2006/main" noGrp="1"/>
          </p:cNvSpPr>
          <p:nvPr/>
        </p:nvSpPr>
        <p:spPr>
          <a:xfrm xmlns:a="http://schemas.openxmlformats.org/drawingml/2006/main">
            <a:off x="4410075" y="3590925"/>
            <a:ext cx="3371850" cy="3562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i="0">
                <a:solidFill>
                  <a:srgbClr val="1A1A1A"/>
                </a:solidFill>
              </a:defRPr>
            </a:pPr>
            <a:r>
              <a:rPr sz="1650" b="0" i="0">
                <a:solidFill>
                  <a:srgbClr val="1A1A1A"/>
                </a:solidFill>
              </a:rPr>
              <a:t>2 · Predict &amp; compare</a:t>
            </a:r>
          </a:p>
        </p:txBody>
      </p:sp>
      <p:sp>
        <p:nvSpPr>
          <p:cNvPr id="16" name="text">
            <a:extLst xmlns:a="http://schemas.openxmlformats.org/drawingml/2006/main">
              <a:ext uri="{FF2B5EF4-FFF2-40B4-BE49-F238E27FC236}">
                <a16:creationId xmlns:a16="http://schemas.microsoft.com/office/drawing/2014/main" id="{20536A21-D758-47D6-9E28-637006F156FA}"/>
              </a:ext>
            </a:extLst>
          </p:cNvPr>
          <p:cNvSpPr>
            <a:spLocks xmlns:a="http://schemas.openxmlformats.org/drawingml/2006/main" noGrp="1"/>
          </p:cNvSpPr>
          <p:nvPr/>
        </p:nvSpPr>
        <p:spPr>
          <a:xfrm xmlns:a="http://schemas.openxmlformats.org/drawingml/2006/main">
            <a:off x="4410075" y="3971925"/>
            <a:ext cx="33718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i="0">
                <a:solidFill>
                  <a:srgbClr val="5A5A5A"/>
                </a:solidFill>
              </a:defRPr>
            </a:pPr>
            <a:r>
              <a:rPr sz="1350" b="0" i="0">
                <a:solidFill>
                  <a:srgbClr val="5A5A5A"/>
                </a:solidFill>
              </a:rPr>
              <a:t>Real CSV example: user 3 rated anime 20 as 8. Compute r̂₃,₂₀, then error e₃,₂₀ = 8 − r̂₃,₂₀.</a:t>
            </a:r>
          </a:p>
        </p:txBody>
      </p:sp>
      <p:sp>
        <p:nvSpPr>
          <p:cNvPr id="17" name="rule">
            <a:extLst xmlns:a="http://schemas.openxmlformats.org/drawingml/2006/main">
              <a:ext uri="{FF2B5EF4-FFF2-40B4-BE49-F238E27FC236}">
                <a16:creationId xmlns:a16="http://schemas.microsoft.com/office/drawing/2014/main" id="{F4252732-4FE7-4829-890F-02D2B38D14F1}"/>
              </a:ext>
            </a:extLst>
          </p:cNvPr>
          <p:cNvSpPr>
            <a:spLocks xmlns:a="http://schemas.openxmlformats.org/drawingml/2006/main" noGrp="1"/>
          </p:cNvSpPr>
          <p:nvPr/>
        </p:nvSpPr>
        <p:spPr>
          <a:xfrm xmlns:a="http://schemas.openxmlformats.org/drawingml/2006/main">
            <a:off x="8210550" y="3476625"/>
            <a:ext cx="3371850" cy="9525"/>
          </a:xfrm>
          <a:prstGeom xmlns:a="http://schemas.openxmlformats.org/drawingml/2006/main" prst="rect">
            <a:avLst/>
          </a:prstGeom>
          <a:solidFill xmlns:a="http://schemas.openxmlformats.org/drawingml/2006/main">
            <a:srgbClr val="1A1A1A"/>
          </a:solidFill>
          <a:ln xmlns:a="http://schemas.openxmlformats.org/drawingml/2006/main" w="9525">
            <a:solidFill>
              <a:srgbClr val="1A1A1A"/>
            </a:solidFill>
            <a:prstDash val="solid"/>
          </a:ln>
        </p:spPr>
      </p:sp>
      <p:sp>
        <p:nvSpPr>
          <p:cNvPr id="18" name="text">
            <a:extLst xmlns:a="http://schemas.openxmlformats.org/drawingml/2006/main">
              <a:ext uri="{FF2B5EF4-FFF2-40B4-BE49-F238E27FC236}">
                <a16:creationId xmlns:a16="http://schemas.microsoft.com/office/drawing/2014/main" id="{BCF11372-BCC1-437A-93FB-E51C3A2A6E49}"/>
              </a:ext>
            </a:extLst>
          </p:cNvPr>
          <p:cNvSpPr>
            <a:spLocks xmlns:a="http://schemas.openxmlformats.org/drawingml/2006/main" noGrp="1"/>
          </p:cNvSpPr>
          <p:nvPr/>
        </p:nvSpPr>
        <p:spPr>
          <a:xfrm xmlns:a="http://schemas.openxmlformats.org/drawingml/2006/main">
            <a:off x="8210550" y="3590925"/>
            <a:ext cx="3371850" cy="3562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i="0">
                <a:solidFill>
                  <a:srgbClr val="1A1A1A"/>
                </a:solidFill>
              </a:defRPr>
            </a:pPr>
            <a:r>
              <a:rPr sz="1650" b="0" i="0">
                <a:solidFill>
                  <a:srgbClr val="1A1A1A"/>
                </a:solidFill>
              </a:rPr>
              <a:t>3 · Update &amp; repeat</a:t>
            </a:r>
          </a:p>
        </p:txBody>
      </p:sp>
      <p:sp>
        <p:nvSpPr>
          <p:cNvPr id="19" name="text">
            <a:extLst xmlns:a="http://schemas.openxmlformats.org/drawingml/2006/main">
              <a:ext uri="{FF2B5EF4-FFF2-40B4-BE49-F238E27FC236}">
                <a16:creationId xmlns:a16="http://schemas.microsoft.com/office/drawing/2014/main" id="{0D559807-447E-47BC-8052-59B7662A5968}"/>
              </a:ext>
            </a:extLst>
          </p:cNvPr>
          <p:cNvSpPr>
            <a:spLocks xmlns:a="http://schemas.openxmlformats.org/drawingml/2006/main" noGrp="1"/>
          </p:cNvSpPr>
          <p:nvPr/>
        </p:nvSpPr>
        <p:spPr>
          <a:xfrm xmlns:a="http://schemas.openxmlformats.org/drawingml/2006/main">
            <a:off x="8210550" y="3971925"/>
            <a:ext cx="33718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i="0">
                <a:solidFill>
                  <a:srgbClr val="5A5A5A"/>
                </a:solidFill>
              </a:defRPr>
            </a:pPr>
            <a:r>
              <a:rPr sz="1350" b="0" i="0">
                <a:solidFill>
                  <a:srgbClr val="5A5A5A"/>
                </a:solidFill>
              </a:rPr>
              <a:t>SGD updates bᵤ, bᵢ, pᵤ, and qᵢ for that pair. Regularization limits overfitting; repeat for 20 epochs.</a:t>
            </a:r>
          </a:p>
        </p:txBody>
      </p:sp>
      <p:sp>
        <p:nvSpPr>
          <p:cNvPr id="20" name="text">
            <a:extLst xmlns:a="http://schemas.openxmlformats.org/drawingml/2006/main">
              <a:ext uri="{FF2B5EF4-FFF2-40B4-BE49-F238E27FC236}">
                <a16:creationId xmlns:a16="http://schemas.microsoft.com/office/drawing/2014/main" id="{100F82A5-CB0E-4105-A7E9-87C820C65D5B}"/>
              </a:ext>
            </a:extLst>
          </p:cNvPr>
          <p:cNvSpPr>
            <a:spLocks xmlns:a="http://schemas.openxmlformats.org/drawingml/2006/main" noGrp="1"/>
          </p:cNvSpPr>
          <p:nvPr/>
        </p:nvSpPr>
        <p:spPr>
          <a:xfrm xmlns:a="http://schemas.openxmlformats.org/drawingml/2006/main">
            <a:off x="609600" y="5429250"/>
            <a:ext cx="109728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i="0">
                <a:solidFill>
                  <a:srgbClr val="1A1A1A"/>
                </a:solidFill>
              </a:defRPr>
            </a:pPr>
            <a:r>
              <a:rPr sz="1650" b="0" i="0">
                <a:solidFill>
                  <a:srgbClr val="1A1A1A"/>
                </a:solidFill>
              </a:rPr>
              <a:t>Only observed rows create errors and updates. Missing user–anime cells remain unknown; they are never filled with zero.</a:t>
            </a:r>
          </a:p>
        </p:txBody>
      </p:sp>
    </p:spTree>
    <p:extLst>
      <p:ext uri="{BB962C8B-B14F-4D97-AF65-F5344CB8AC3E}">
        <p14:creationId xmlns:p14="http://schemas.microsoft.com/office/powerpoint/2010/main" val="1839257928"/>
      </p:ext>
    </p:extLst>
  </p:cSld>
</p:sld>
</file>

<file path=ppt/slides/slide9.xml><?xml version="1.0" encoding="utf-8"?>
<p:sld xmlns:p="http://schemas.openxmlformats.org/presentationml/2006/main">
  <p:cSld>
    <p:bg>
      <p:bgPr>
        <a:solidFill xmlns:a="http://schemas.openxmlformats.org/drawingml/2006/main">
          <a:srgbClr val="EDE8E0"/>
        </a:solidFill>
      </p:bgPr>
    </p:bg>
    <p:spTree>
      <p:nvGrpSpPr>
        <p:cNvPr id="1" name=""/>
        <p:cNvGrpSpPr/>
        <p:nvPr/>
      </p:nvGrpSpPr>
      <p:grpSpPr>
        <a:xfrm xmlns:a="http://schemas.openxmlformats.org/drawingml/2006/main"/>
      </p:grpSpPr>
      <p:sp>
        <p:nvSpPr>
          <p:cNvPr id="21" name="outer-ring">
            <a:extLst xmlns:a="http://schemas.openxmlformats.org/drawingml/2006/main">
              <a:ext uri="{FF2B5EF4-FFF2-40B4-BE49-F238E27FC236}">
                <a16:creationId xmlns:a16="http://schemas.microsoft.com/office/drawing/2014/main" id="{030409FF-C8F9-45F6-97BE-B66207F3B9A9}"/>
              </a:ext>
            </a:extLst>
          </p:cNvPr>
          <p:cNvSpPr>
            <a:spLocks xmlns:a="http://schemas.openxmlformats.org/drawingml/2006/main" noGrp="1"/>
          </p:cNvSpPr>
          <p:nvPr/>
        </p:nvSpPr>
        <p:spPr>
          <a:xfrm xmlns:a="http://schemas.openxmlformats.org/drawingml/2006/main">
            <a:off x="9620250" y="-1143000"/>
            <a:ext cx="3714750" cy="3714750"/>
          </a:xfrm>
          <a:prstGeom xmlns:a="http://schemas.openxmlformats.org/drawingml/2006/main" prst="rect">
            <a:avLst/>
          </a:prstGeom>
          <a:noFill xmlns:a="http://schemas.openxmlformats.org/drawingml/2006/main"/>
          <a:ln xmlns:a="http://schemas.openxmlformats.org/drawingml/2006/main" w="9525">
            <a:solidFill>
              <a:srgbClr val="B8B0A4"/>
            </a:solidFill>
            <a:prstDash val="solid"/>
          </a:ln>
        </p:spPr>
      </p:sp>
      <p:sp>
        <p:nvSpPr>
          <p:cNvPr id="2" name="inner-ring">
            <a:extLst xmlns:a="http://schemas.openxmlformats.org/drawingml/2006/main">
              <a:ext uri="{FF2B5EF4-FFF2-40B4-BE49-F238E27FC236}">
                <a16:creationId xmlns:a16="http://schemas.microsoft.com/office/drawing/2014/main" id="{A40F003A-2F90-4C3B-B0EE-49B9D8DE20DB}"/>
              </a:ext>
            </a:extLst>
          </p:cNvPr>
          <p:cNvSpPr>
            <a:spLocks xmlns:a="http://schemas.openxmlformats.org/drawingml/2006/main" noGrp="1"/>
          </p:cNvSpPr>
          <p:nvPr/>
        </p:nvSpPr>
        <p:spPr>
          <a:xfrm xmlns:a="http://schemas.openxmlformats.org/drawingml/2006/main">
            <a:off x="10191750" y="-571500"/>
            <a:ext cx="2571750" cy="2571750"/>
          </a:xfrm>
          <a:prstGeom xmlns:a="http://schemas.openxmlformats.org/drawingml/2006/main" prst="rect">
            <a:avLst/>
          </a:prstGeom>
          <a:noFill xmlns:a="http://schemas.openxmlformats.org/drawingml/2006/main"/>
          <a:ln xmlns:a="http://schemas.openxmlformats.org/drawingml/2006/main" w="9525">
            <a:solidFill>
              <a:srgbClr val="B8B0A4"/>
            </a:solidFill>
            <a:prstDash val="solid"/>
          </a:ln>
        </p:spPr>
      </p:sp>
      <p:sp>
        <p:nvSpPr>
          <p:cNvPr id="3" name="eyebrow">
            <a:extLst xmlns:a="http://schemas.openxmlformats.org/drawingml/2006/main">
              <a:ext uri="{FF2B5EF4-FFF2-40B4-BE49-F238E27FC236}">
                <a16:creationId xmlns:a16="http://schemas.microsoft.com/office/drawing/2014/main" id="{07B139D1-FB1C-4F3B-AA62-7CE75B2102DA}"/>
              </a:ext>
            </a:extLst>
          </p:cNvPr>
          <p:cNvSpPr>
            <a:spLocks xmlns:a="http://schemas.openxmlformats.org/drawingml/2006/main" noGrp="1"/>
          </p:cNvSpPr>
          <p:nvPr/>
        </p:nvSpPr>
        <p:spPr>
          <a:xfrm xmlns:a="http://schemas.openxmlformats.org/drawingml/2006/main">
            <a:off x="609600" y="4000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i="0">
                <a:solidFill>
                  <a:srgbClr val="8A8178"/>
                </a:solidFill>
              </a:defRPr>
            </a:pPr>
            <a:r>
              <a:rPr sz="975" b="1" i="0">
                <a:solidFill>
                  <a:srgbClr val="8A8178"/>
                </a:solidFill>
              </a:rPr>
              <a:t>DATASET EXAMPLE</a:t>
            </a:r>
          </a:p>
        </p:txBody>
      </p:sp>
      <p:sp>
        <p:nvSpPr>
          <p:cNvPr id="4" name="title">
            <a:extLst xmlns:a="http://schemas.openxmlformats.org/drawingml/2006/main">
              <a:ext uri="{FF2B5EF4-FFF2-40B4-BE49-F238E27FC236}">
                <a16:creationId xmlns:a16="http://schemas.microsoft.com/office/drawing/2014/main" id="{5FFAD5A2-2A7D-4347-A7DF-DB8953AECBCD}"/>
              </a:ext>
            </a:extLst>
          </p:cNvPr>
          <p:cNvSpPr>
            <a:spLocks xmlns:a="http://schemas.openxmlformats.org/drawingml/2006/main" noGrp="1"/>
          </p:cNvSpPr>
          <p:nvPr/>
        </p:nvSpPr>
        <p:spPr>
          <a:xfrm xmlns:a="http://schemas.openxmlformats.org/drawingml/2006/main">
            <a:off x="609600" y="723900"/>
            <a:ext cx="10668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150" b="0" i="0">
                <a:solidFill>
                  <a:srgbClr val="1A1A1A"/>
                </a:solidFill>
              </a:defRPr>
            </a:pPr>
            <a:r>
              <a:rPr sz="3150" b="0" i="0">
                <a:solidFill>
                  <a:srgbClr val="1A1A1A"/>
                </a:solidFill>
              </a:rPr>
              <a:t>Shared rating patterns support an estimate for an unseen pair</a:t>
            </a:r>
          </a:p>
        </p:txBody>
      </p:sp>
      <p:sp>
        <p:nvSpPr>
          <p:cNvPr id="5" name="rule">
            <a:extLst xmlns:a="http://schemas.openxmlformats.org/drawingml/2006/main">
              <a:ext uri="{FF2B5EF4-FFF2-40B4-BE49-F238E27FC236}">
                <a16:creationId xmlns:a16="http://schemas.microsoft.com/office/drawing/2014/main" id="{7ED968C4-48EA-4B38-8130-8C367AB9F78F}"/>
              </a:ext>
            </a:extLst>
          </p:cNvPr>
          <p:cNvSpPr>
            <a:spLocks xmlns:a="http://schemas.openxmlformats.org/drawingml/2006/main" noGrp="1"/>
          </p:cNvSpPr>
          <p:nvPr/>
        </p:nvSpPr>
        <p:spPr>
          <a:xfrm xmlns:a="http://schemas.openxmlformats.org/drawingml/2006/main">
            <a:off x="609600" y="6429375"/>
            <a:ext cx="10972800" cy="9525"/>
          </a:xfrm>
          <a:prstGeom xmlns:a="http://schemas.openxmlformats.org/drawingml/2006/main" prst="rect">
            <a:avLst/>
          </a:prstGeom>
          <a:solidFill xmlns:a="http://schemas.openxmlformats.org/drawingml/2006/main">
            <a:srgbClr val="B8B0A4"/>
          </a:solidFill>
          <a:ln xmlns:a="http://schemas.openxmlformats.org/drawingml/2006/main" w="9525">
            <a:solidFill>
              <a:srgbClr val="B8B0A4"/>
            </a:solidFill>
            <a:prstDash val="solid"/>
          </a:ln>
        </p:spPr>
      </p:sp>
      <p:sp>
        <p:nvSpPr>
          <p:cNvPr id="6" name="text">
            <a:extLst xmlns:a="http://schemas.openxmlformats.org/drawingml/2006/main">
              <a:ext uri="{FF2B5EF4-FFF2-40B4-BE49-F238E27FC236}">
                <a16:creationId xmlns:a16="http://schemas.microsoft.com/office/drawing/2014/main" id="{BEEE524A-AA47-4DEA-922D-BF29ED579E45}"/>
              </a:ext>
            </a:extLst>
          </p:cNvPr>
          <p:cNvSpPr>
            <a:spLocks xmlns:a="http://schemas.openxmlformats.org/drawingml/2006/main" noGrp="1"/>
          </p:cNvSpPr>
          <p:nvPr/>
        </p:nvSpPr>
        <p:spPr>
          <a:xfrm xmlns:a="http://schemas.openxmlformats.org/drawingml/2006/main">
            <a:off x="609600" y="652462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1" i="0">
                <a:solidFill>
                  <a:srgbClr val="8A8178"/>
                </a:solidFill>
              </a:defRPr>
            </a:pPr>
            <a:r>
              <a:rPr sz="750" b="1" i="0">
                <a:solidFill>
                  <a:srgbClr val="8A8178"/>
                </a:solidFill>
              </a:rPr>
              <a:t>GROUP 14 · DUY TAN UNIVERSITY, DA NANG</a:t>
            </a:r>
          </a:p>
        </p:txBody>
      </p:sp>
      <p:sp>
        <p:nvSpPr>
          <p:cNvPr id="7" name="text">
            <a:extLst xmlns:a="http://schemas.openxmlformats.org/drawingml/2006/main">
              <a:ext uri="{FF2B5EF4-FFF2-40B4-BE49-F238E27FC236}">
                <a16:creationId xmlns:a16="http://schemas.microsoft.com/office/drawing/2014/main" id="{0EC74746-D22D-4843-AB17-8EC71A696ABB}"/>
              </a:ext>
            </a:extLst>
          </p:cNvPr>
          <p:cNvSpPr>
            <a:spLocks xmlns:a="http://schemas.openxmlformats.org/drawingml/2006/main" noGrp="1"/>
          </p:cNvSpPr>
          <p:nvPr/>
        </p:nvSpPr>
        <p:spPr>
          <a:xfrm xmlns:a="http://schemas.openxmlformats.org/drawingml/2006/main">
            <a:off x="11144250" y="65246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750" b="0" i="0">
                <a:solidFill>
                  <a:srgbClr val="8A8178"/>
                </a:solidFill>
              </a:defRPr>
            </a:pPr>
            <a:r>
              <a:rPr sz="750" b="0" i="0">
                <a:solidFill>
                  <a:srgbClr val="8A8178"/>
                </a:solidFill>
              </a:rPr>
              <a:t>09</a:t>
            </a:r>
          </a:p>
        </p:txBody>
      </p:sp>
      <p:sp>
        <p:nvSpPr>
          <p:cNvPr id="8" name="rule">
            <a:extLst xmlns:a="http://schemas.openxmlformats.org/drawingml/2006/main">
              <a:ext uri="{FF2B5EF4-FFF2-40B4-BE49-F238E27FC236}">
                <a16:creationId xmlns:a16="http://schemas.microsoft.com/office/drawing/2014/main" id="{19C45C5C-484C-42CB-A8A0-B9C48637ED32}"/>
              </a:ext>
            </a:extLst>
          </p:cNvPr>
          <p:cNvSpPr>
            <a:spLocks xmlns:a="http://schemas.openxmlformats.org/drawingml/2006/main" noGrp="1"/>
          </p:cNvSpPr>
          <p:nvPr/>
        </p:nvSpPr>
        <p:spPr>
          <a:xfrm xmlns:a="http://schemas.openxmlformats.org/drawingml/2006/main">
            <a:off x="1619250" y="1809750"/>
            <a:ext cx="8953500" cy="9525"/>
          </a:xfrm>
          <a:prstGeom xmlns:a="http://schemas.openxmlformats.org/drawingml/2006/main" prst="rect">
            <a:avLst/>
          </a:prstGeom>
          <a:solidFill xmlns:a="http://schemas.openxmlformats.org/drawingml/2006/main">
            <a:srgbClr val="1A1A1A"/>
          </a:solidFill>
          <a:ln xmlns:a="http://schemas.openxmlformats.org/drawingml/2006/main" w="9525">
            <a:solidFill>
              <a:srgbClr val="1A1A1A"/>
            </a:solidFill>
            <a:prstDash val="solid"/>
          </a:ln>
        </p:spPr>
      </p:sp>
      <p:sp>
        <p:nvSpPr>
          <p:cNvPr id="9" name="text">
            <a:extLst xmlns:a="http://schemas.openxmlformats.org/drawingml/2006/main">
              <a:ext uri="{FF2B5EF4-FFF2-40B4-BE49-F238E27FC236}">
                <a16:creationId xmlns:a16="http://schemas.microsoft.com/office/drawing/2014/main" id="{2939D874-6500-4148-9552-82425BF0D52F}"/>
              </a:ext>
            </a:extLst>
          </p:cNvPr>
          <p:cNvSpPr>
            <a:spLocks xmlns:a="http://schemas.openxmlformats.org/drawingml/2006/main" noGrp="1"/>
          </p:cNvSpPr>
          <p:nvPr/>
        </p:nvSpPr>
        <p:spPr>
          <a:xfrm xmlns:a="http://schemas.openxmlformats.org/drawingml/2006/main">
            <a:off x="1619250" y="2047875"/>
            <a:ext cx="8953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3750" b="0" i="0">
                <a:solidFill>
                  <a:srgbClr val="1A1A1A"/>
                </a:solidFill>
              </a:defRPr>
            </a:pPr>
            <a:r>
              <a:rPr sz="3750" b="0" i="0">
                <a:solidFill>
                  <a:srgbClr val="1A1A1A"/>
                </a:solidFill>
              </a:rPr>
              <a:t>r̂(Lan, Anime C) = 7.8 + 0.3 + 0.2 + 0.9 = 9.2</a:t>
            </a:r>
          </a:p>
        </p:txBody>
      </p:sp>
      <p:sp>
        <p:nvSpPr>
          <p:cNvPr id="10" name="rule">
            <a:extLst xmlns:a="http://schemas.openxmlformats.org/drawingml/2006/main">
              <a:ext uri="{FF2B5EF4-FFF2-40B4-BE49-F238E27FC236}">
                <a16:creationId xmlns:a16="http://schemas.microsoft.com/office/drawing/2014/main" id="{FE54BF88-EC65-43A4-AF89-80B08ACC7C85}"/>
              </a:ext>
            </a:extLst>
          </p:cNvPr>
          <p:cNvSpPr>
            <a:spLocks xmlns:a="http://schemas.openxmlformats.org/drawingml/2006/main" noGrp="1"/>
          </p:cNvSpPr>
          <p:nvPr/>
        </p:nvSpPr>
        <p:spPr>
          <a:xfrm xmlns:a="http://schemas.openxmlformats.org/drawingml/2006/main">
            <a:off x="1619250" y="3000375"/>
            <a:ext cx="8953500" cy="9525"/>
          </a:xfrm>
          <a:prstGeom xmlns:a="http://schemas.openxmlformats.org/drawingml/2006/main" prst="rect">
            <a:avLst/>
          </a:prstGeom>
          <a:solidFill xmlns:a="http://schemas.openxmlformats.org/drawingml/2006/main">
            <a:srgbClr val="B8B0A4"/>
          </a:solidFill>
          <a:ln xmlns:a="http://schemas.openxmlformats.org/drawingml/2006/main" w="9525">
            <a:solidFill>
              <a:srgbClr val="B8B0A4"/>
            </a:solidFill>
            <a:prstDash val="solid"/>
          </a:ln>
        </p:spPr>
      </p:sp>
      <p:sp>
        <p:nvSpPr>
          <p:cNvPr id="11" name="rule">
            <a:extLst xmlns:a="http://schemas.openxmlformats.org/drawingml/2006/main">
              <a:ext uri="{FF2B5EF4-FFF2-40B4-BE49-F238E27FC236}">
                <a16:creationId xmlns:a16="http://schemas.microsoft.com/office/drawing/2014/main" id="{5A79F4D0-178F-4054-884A-D5F638442AEA}"/>
              </a:ext>
            </a:extLst>
          </p:cNvPr>
          <p:cNvSpPr>
            <a:spLocks xmlns:a="http://schemas.openxmlformats.org/drawingml/2006/main" noGrp="1"/>
          </p:cNvSpPr>
          <p:nvPr/>
        </p:nvSpPr>
        <p:spPr>
          <a:xfrm xmlns:a="http://schemas.openxmlformats.org/drawingml/2006/main">
            <a:off x="609600" y="3476625"/>
            <a:ext cx="3371850" cy="9525"/>
          </a:xfrm>
          <a:prstGeom xmlns:a="http://schemas.openxmlformats.org/drawingml/2006/main" prst="rect">
            <a:avLst/>
          </a:prstGeom>
          <a:solidFill xmlns:a="http://schemas.openxmlformats.org/drawingml/2006/main">
            <a:srgbClr val="1A1A1A"/>
          </a:solidFill>
          <a:ln xmlns:a="http://schemas.openxmlformats.org/drawingml/2006/main" w="9525">
            <a:solidFill>
              <a:srgbClr val="1A1A1A"/>
            </a:solidFill>
            <a:prstDash val="solid"/>
          </a:ln>
        </p:spPr>
      </p:sp>
      <p:sp>
        <p:nvSpPr>
          <p:cNvPr id="12" name="text">
            <a:extLst xmlns:a="http://schemas.openxmlformats.org/drawingml/2006/main">
              <a:ext uri="{FF2B5EF4-FFF2-40B4-BE49-F238E27FC236}">
                <a16:creationId xmlns:a16="http://schemas.microsoft.com/office/drawing/2014/main" id="{441EBCF0-F830-49BD-8FC0-3C9F3163B4F4}"/>
              </a:ext>
            </a:extLst>
          </p:cNvPr>
          <p:cNvSpPr>
            <a:spLocks xmlns:a="http://schemas.openxmlformats.org/drawingml/2006/main" noGrp="1"/>
          </p:cNvSpPr>
          <p:nvPr/>
        </p:nvSpPr>
        <p:spPr>
          <a:xfrm xmlns:a="http://schemas.openxmlformats.org/drawingml/2006/main">
            <a:off x="609600" y="3590925"/>
            <a:ext cx="3371850" cy="3562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i="0">
                <a:solidFill>
                  <a:srgbClr val="1A1A1A"/>
                </a:solidFill>
              </a:defRPr>
            </a:pPr>
            <a:r>
              <a:rPr sz="1650" b="0" i="0">
                <a:solidFill>
                  <a:srgbClr val="1A1A1A"/>
                </a:solidFill>
              </a:rPr>
              <a:t>Observed evidence</a:t>
            </a:r>
          </a:p>
        </p:txBody>
      </p:sp>
      <p:sp>
        <p:nvSpPr>
          <p:cNvPr id="13" name="text">
            <a:extLst xmlns:a="http://schemas.openxmlformats.org/drawingml/2006/main">
              <a:ext uri="{FF2B5EF4-FFF2-40B4-BE49-F238E27FC236}">
                <a16:creationId xmlns:a16="http://schemas.microsoft.com/office/drawing/2014/main" id="{3CAA9E23-69D0-471A-9542-D8F1296021D8}"/>
              </a:ext>
            </a:extLst>
          </p:cNvPr>
          <p:cNvSpPr>
            <a:spLocks xmlns:a="http://schemas.openxmlformats.org/drawingml/2006/main" noGrp="1"/>
          </p:cNvSpPr>
          <p:nvPr/>
        </p:nvSpPr>
        <p:spPr>
          <a:xfrm xmlns:a="http://schemas.openxmlformats.org/drawingml/2006/main">
            <a:off x="609600" y="3971925"/>
            <a:ext cx="33718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i="0">
                <a:solidFill>
                  <a:srgbClr val="5A5A5A"/>
                </a:solidFill>
              </a:defRPr>
            </a:pPr>
            <a:r>
              <a:rPr sz="1350" b="0" i="0">
                <a:solidFill>
                  <a:srgbClr val="5A5A5A"/>
                </a:solidFill>
              </a:rPr>
              <a:t>Teaching matrix: Lan rates Anime A = 9 and B = 4; Minh rates A = 8 and C = 9; Lan–C is unknown.</a:t>
            </a:r>
          </a:p>
        </p:txBody>
      </p:sp>
      <p:sp>
        <p:nvSpPr>
          <p:cNvPr id="14" name="rule">
            <a:extLst xmlns:a="http://schemas.openxmlformats.org/drawingml/2006/main">
              <a:ext uri="{FF2B5EF4-FFF2-40B4-BE49-F238E27FC236}">
                <a16:creationId xmlns:a16="http://schemas.microsoft.com/office/drawing/2014/main" id="{553EF479-7500-41CF-807C-48C1A976F617}"/>
              </a:ext>
            </a:extLst>
          </p:cNvPr>
          <p:cNvSpPr>
            <a:spLocks xmlns:a="http://schemas.openxmlformats.org/drawingml/2006/main" noGrp="1"/>
          </p:cNvSpPr>
          <p:nvPr/>
        </p:nvSpPr>
        <p:spPr>
          <a:xfrm xmlns:a="http://schemas.openxmlformats.org/drawingml/2006/main">
            <a:off x="4410075" y="3476625"/>
            <a:ext cx="3371850" cy="9525"/>
          </a:xfrm>
          <a:prstGeom xmlns:a="http://schemas.openxmlformats.org/drawingml/2006/main" prst="rect">
            <a:avLst/>
          </a:prstGeom>
          <a:solidFill xmlns:a="http://schemas.openxmlformats.org/drawingml/2006/main">
            <a:srgbClr val="1A1A1A"/>
          </a:solidFill>
          <a:ln xmlns:a="http://schemas.openxmlformats.org/drawingml/2006/main" w="9525">
            <a:solidFill>
              <a:srgbClr val="1A1A1A"/>
            </a:solidFill>
            <a:prstDash val="solid"/>
          </a:ln>
        </p:spPr>
      </p:sp>
      <p:sp>
        <p:nvSpPr>
          <p:cNvPr id="15" name="text">
            <a:extLst xmlns:a="http://schemas.openxmlformats.org/drawingml/2006/main">
              <a:ext uri="{FF2B5EF4-FFF2-40B4-BE49-F238E27FC236}">
                <a16:creationId xmlns:a16="http://schemas.microsoft.com/office/drawing/2014/main" id="{29998916-D6C3-4CBD-9382-10F8C7A77350}"/>
              </a:ext>
            </a:extLst>
          </p:cNvPr>
          <p:cNvSpPr>
            <a:spLocks xmlns:a="http://schemas.openxmlformats.org/drawingml/2006/main" noGrp="1"/>
          </p:cNvSpPr>
          <p:nvPr/>
        </p:nvSpPr>
        <p:spPr>
          <a:xfrm xmlns:a="http://schemas.openxmlformats.org/drawingml/2006/main">
            <a:off x="4410075" y="3590925"/>
            <a:ext cx="3371850" cy="3562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i="0">
                <a:solidFill>
                  <a:srgbClr val="1A1A1A"/>
                </a:solidFill>
              </a:defRPr>
            </a:pPr>
            <a:r>
              <a:rPr sz="1650" b="0" i="0">
                <a:solidFill>
                  <a:srgbClr val="1A1A1A"/>
                </a:solidFill>
              </a:rPr>
              <a:t>Bias contribution</a:t>
            </a:r>
          </a:p>
        </p:txBody>
      </p:sp>
      <p:sp>
        <p:nvSpPr>
          <p:cNvPr id="16" name="text">
            <a:extLst xmlns:a="http://schemas.openxmlformats.org/drawingml/2006/main">
              <a:ext uri="{FF2B5EF4-FFF2-40B4-BE49-F238E27FC236}">
                <a16:creationId xmlns:a16="http://schemas.microsoft.com/office/drawing/2014/main" id="{20536A21-D758-47D6-9E28-637006F156FA}"/>
              </a:ext>
            </a:extLst>
          </p:cNvPr>
          <p:cNvSpPr>
            <a:spLocks xmlns:a="http://schemas.openxmlformats.org/drawingml/2006/main" noGrp="1"/>
          </p:cNvSpPr>
          <p:nvPr/>
        </p:nvSpPr>
        <p:spPr>
          <a:xfrm xmlns:a="http://schemas.openxmlformats.org/drawingml/2006/main">
            <a:off x="4410075" y="3971925"/>
            <a:ext cx="33718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i="0">
                <a:solidFill>
                  <a:srgbClr val="5A5A5A"/>
                </a:solidFill>
              </a:defRPr>
            </a:pPr>
            <a:r>
              <a:rPr sz="1350" b="0" i="0">
                <a:solidFill>
                  <a:srgbClr val="5A5A5A"/>
                </a:solidFill>
              </a:rPr>
              <a:t>7.8 is the global level; +0.3 is Lan’s rating tendency; +0.2 is Anime C’s learned item tendency.</a:t>
            </a:r>
          </a:p>
        </p:txBody>
      </p:sp>
      <p:sp>
        <p:nvSpPr>
          <p:cNvPr id="17" name="rule">
            <a:extLst xmlns:a="http://schemas.openxmlformats.org/drawingml/2006/main">
              <a:ext uri="{FF2B5EF4-FFF2-40B4-BE49-F238E27FC236}">
                <a16:creationId xmlns:a16="http://schemas.microsoft.com/office/drawing/2014/main" id="{F4252732-4FE7-4829-890F-02D2B38D14F1}"/>
              </a:ext>
            </a:extLst>
          </p:cNvPr>
          <p:cNvSpPr>
            <a:spLocks xmlns:a="http://schemas.openxmlformats.org/drawingml/2006/main" noGrp="1"/>
          </p:cNvSpPr>
          <p:nvPr/>
        </p:nvSpPr>
        <p:spPr>
          <a:xfrm xmlns:a="http://schemas.openxmlformats.org/drawingml/2006/main">
            <a:off x="8210550" y="3476625"/>
            <a:ext cx="3371850" cy="9525"/>
          </a:xfrm>
          <a:prstGeom xmlns:a="http://schemas.openxmlformats.org/drawingml/2006/main" prst="rect">
            <a:avLst/>
          </a:prstGeom>
          <a:solidFill xmlns:a="http://schemas.openxmlformats.org/drawingml/2006/main">
            <a:srgbClr val="1A1A1A"/>
          </a:solidFill>
          <a:ln xmlns:a="http://schemas.openxmlformats.org/drawingml/2006/main" w="9525">
            <a:solidFill>
              <a:srgbClr val="1A1A1A"/>
            </a:solidFill>
            <a:prstDash val="solid"/>
          </a:ln>
        </p:spPr>
      </p:sp>
      <p:sp>
        <p:nvSpPr>
          <p:cNvPr id="18" name="text">
            <a:extLst xmlns:a="http://schemas.openxmlformats.org/drawingml/2006/main">
              <a:ext uri="{FF2B5EF4-FFF2-40B4-BE49-F238E27FC236}">
                <a16:creationId xmlns:a16="http://schemas.microsoft.com/office/drawing/2014/main" id="{BCF11372-BCC1-437A-93FB-E51C3A2A6E49}"/>
              </a:ext>
            </a:extLst>
          </p:cNvPr>
          <p:cNvSpPr>
            <a:spLocks xmlns:a="http://schemas.openxmlformats.org/drawingml/2006/main" noGrp="1"/>
          </p:cNvSpPr>
          <p:nvPr/>
        </p:nvSpPr>
        <p:spPr>
          <a:xfrm xmlns:a="http://schemas.openxmlformats.org/drawingml/2006/main">
            <a:off x="8210550" y="3590925"/>
            <a:ext cx="3371850" cy="3562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i="0">
                <a:solidFill>
                  <a:srgbClr val="1A1A1A"/>
                </a:solidFill>
              </a:defRPr>
            </a:pPr>
            <a:r>
              <a:rPr sz="1650" b="0" i="0">
                <a:solidFill>
                  <a:srgbClr val="1A1A1A"/>
                </a:solidFill>
              </a:rPr>
              <a:t>Latent compatibility</a:t>
            </a:r>
          </a:p>
        </p:txBody>
      </p:sp>
      <p:sp>
        <p:nvSpPr>
          <p:cNvPr id="19" name="text">
            <a:extLst xmlns:a="http://schemas.openxmlformats.org/drawingml/2006/main">
              <a:ext uri="{FF2B5EF4-FFF2-40B4-BE49-F238E27FC236}">
                <a16:creationId xmlns:a16="http://schemas.microsoft.com/office/drawing/2014/main" id="{0D559807-447E-47BC-8052-59B7662A5968}"/>
              </a:ext>
            </a:extLst>
          </p:cNvPr>
          <p:cNvSpPr>
            <a:spLocks xmlns:a="http://schemas.openxmlformats.org/drawingml/2006/main" noGrp="1"/>
          </p:cNvSpPr>
          <p:nvPr/>
        </p:nvSpPr>
        <p:spPr>
          <a:xfrm xmlns:a="http://schemas.openxmlformats.org/drawingml/2006/main">
            <a:off x="8210550" y="3971925"/>
            <a:ext cx="33718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i="0">
                <a:solidFill>
                  <a:srgbClr val="5A5A5A"/>
                </a:solidFill>
              </a:defRPr>
            </a:pPr>
            <a:r>
              <a:rPr sz="1350" b="0" i="0">
                <a:solidFill>
                  <a:srgbClr val="5A5A5A"/>
                </a:solidFill>
              </a:rPr>
              <a:t>+0.9 represents user–anime vector alignment learned across many overlapping histories; a negative dot product would lower the score.</a:t>
            </a:r>
          </a:p>
        </p:txBody>
      </p:sp>
      <p:sp>
        <p:nvSpPr>
          <p:cNvPr id="20" name="text">
            <a:extLst xmlns:a="http://schemas.openxmlformats.org/drawingml/2006/main">
              <a:ext uri="{FF2B5EF4-FFF2-40B4-BE49-F238E27FC236}">
                <a16:creationId xmlns:a16="http://schemas.microsoft.com/office/drawing/2014/main" id="{100F82A5-CB0E-4105-A7E9-87C820C65D5B}"/>
              </a:ext>
            </a:extLst>
          </p:cNvPr>
          <p:cNvSpPr>
            <a:spLocks xmlns:a="http://schemas.openxmlformats.org/drawingml/2006/main" noGrp="1"/>
          </p:cNvSpPr>
          <p:nvPr/>
        </p:nvSpPr>
        <p:spPr>
          <a:xfrm xmlns:a="http://schemas.openxmlformats.org/drawingml/2006/main">
            <a:off x="609600" y="5429250"/>
            <a:ext cx="109728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i="0">
                <a:solidFill>
                  <a:srgbClr val="1A1A1A"/>
                </a:solidFill>
              </a:defRPr>
            </a:pPr>
            <a:r>
              <a:rPr sz="1650" b="0" i="0">
                <a:solidFill>
                  <a:srgbClr val="1A1A1A"/>
                </a:solidFill>
              </a:rPr>
              <a:t>The 9.2 decomposition is illustrative, not an exported parameter set. Real cleaned examples: user 3 rated anime IDs 20 = 8, 154 = 6, 170 = 9, and 199 = 10.</a:t>
            </a:r>
          </a:p>
        </p:txBody>
      </p:sp>
    </p:spTree>
    <p:extLst>
      <p:ext uri="{BB962C8B-B14F-4D97-AF65-F5344CB8AC3E}">
        <p14:creationId xmlns:p14="http://schemas.microsoft.com/office/powerpoint/2010/main" val="1839257928"/>
      </p:ext>
    </p:extLst>
  </p:cSld>
</p:sld>
</file>

<file path=ppt/slides/slide10.xml><?xml version="1.0" encoding="utf-8"?>
<p:sld xmlns:p="http://schemas.openxmlformats.org/presentationml/2006/main">
  <p:cSld>
    <p:bg>
      <p:bgPr>
        <a:solidFill xmlns:a="http://schemas.openxmlformats.org/drawingml/2006/main">
          <a:srgbClr val="EDE8E0"/>
        </a:solidFill>
      </p:bgPr>
    </p:bg>
    <p:spTree>
      <p:nvGrpSpPr>
        <p:cNvPr id="1" name=""/>
        <p:cNvGrpSpPr/>
        <p:nvPr/>
      </p:nvGrpSpPr>
      <p:grpSpPr>
        <a:xfrm xmlns:a="http://schemas.openxmlformats.org/drawingml/2006/main"/>
      </p:grpSpPr>
      <p:sp>
        <p:nvSpPr>
          <p:cNvPr id="43" name="outer-ring">
            <a:extLst xmlns:a="http://schemas.openxmlformats.org/drawingml/2006/main">
              <a:ext uri="{FF2B5EF4-FFF2-40B4-BE49-F238E27FC236}">
                <a16:creationId xmlns:a16="http://schemas.microsoft.com/office/drawing/2014/main" id="{0902C3BC-A413-4529-B4A7-DBD83D01B14B}"/>
              </a:ext>
            </a:extLst>
          </p:cNvPr>
          <p:cNvSpPr>
            <a:spLocks xmlns:a="http://schemas.openxmlformats.org/drawingml/2006/main" noGrp="1"/>
          </p:cNvSpPr>
          <p:nvPr/>
        </p:nvSpPr>
        <p:spPr>
          <a:xfrm xmlns:a="http://schemas.openxmlformats.org/drawingml/2006/main">
            <a:off x="9620250" y="-1143000"/>
            <a:ext cx="3714750" cy="3714750"/>
          </a:xfrm>
          <a:prstGeom xmlns:a="http://schemas.openxmlformats.org/drawingml/2006/main" prst="rect">
            <a:avLst/>
          </a:prstGeom>
          <a:noFill xmlns:a="http://schemas.openxmlformats.org/drawingml/2006/main"/>
          <a:ln xmlns:a="http://schemas.openxmlformats.org/drawingml/2006/main" w="9525">
            <a:solidFill>
              <a:srgbClr val="B8B0A4"/>
            </a:solidFill>
            <a:prstDash val="solid"/>
          </a:ln>
        </p:spPr>
      </p:sp>
      <p:sp>
        <p:nvSpPr>
          <p:cNvPr id="2" name="inner-ring">
            <a:extLst xmlns:a="http://schemas.openxmlformats.org/drawingml/2006/main">
              <a:ext uri="{FF2B5EF4-FFF2-40B4-BE49-F238E27FC236}">
                <a16:creationId xmlns:a16="http://schemas.microsoft.com/office/drawing/2014/main" id="{CD41AE43-0892-4F54-B810-FF8D510E80CB}"/>
              </a:ext>
            </a:extLst>
          </p:cNvPr>
          <p:cNvSpPr>
            <a:spLocks xmlns:a="http://schemas.openxmlformats.org/drawingml/2006/main" noGrp="1"/>
          </p:cNvSpPr>
          <p:nvPr/>
        </p:nvSpPr>
        <p:spPr>
          <a:xfrm xmlns:a="http://schemas.openxmlformats.org/drawingml/2006/main">
            <a:off x="10191750" y="-571500"/>
            <a:ext cx="2571750" cy="2571750"/>
          </a:xfrm>
          <a:prstGeom xmlns:a="http://schemas.openxmlformats.org/drawingml/2006/main" prst="rect">
            <a:avLst/>
          </a:prstGeom>
          <a:noFill xmlns:a="http://schemas.openxmlformats.org/drawingml/2006/main"/>
          <a:ln xmlns:a="http://schemas.openxmlformats.org/drawingml/2006/main" w="9525">
            <a:solidFill>
              <a:srgbClr val="B8B0A4"/>
            </a:solidFill>
            <a:prstDash val="solid"/>
          </a:ln>
        </p:spPr>
      </p:sp>
      <p:sp>
        <p:nvSpPr>
          <p:cNvPr id="3" name="eyebrow">
            <a:extLst xmlns:a="http://schemas.openxmlformats.org/drawingml/2006/main">
              <a:ext uri="{FF2B5EF4-FFF2-40B4-BE49-F238E27FC236}">
                <a16:creationId xmlns:a16="http://schemas.microsoft.com/office/drawing/2014/main" id="{54AAD88A-CDC5-4E2C-A0FC-849BCA72177B}"/>
              </a:ext>
            </a:extLst>
          </p:cNvPr>
          <p:cNvSpPr>
            <a:spLocks xmlns:a="http://schemas.openxmlformats.org/drawingml/2006/main" noGrp="1"/>
          </p:cNvSpPr>
          <p:nvPr/>
        </p:nvSpPr>
        <p:spPr>
          <a:xfrm xmlns:a="http://schemas.openxmlformats.org/drawingml/2006/main">
            <a:off x="609600" y="4000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i="0">
                <a:solidFill>
                  <a:srgbClr val="8A8178"/>
                </a:solidFill>
              </a:defRPr>
            </a:pPr>
            <a:r>
              <a:rPr sz="975" b="1" i="0">
                <a:solidFill>
                  <a:srgbClr val="8A8178"/>
                </a:solidFill>
              </a:rPr>
              <a:t>EXPERIMENTAL DESIGN</a:t>
            </a:r>
          </a:p>
        </p:txBody>
      </p:sp>
      <p:sp>
        <p:nvSpPr>
          <p:cNvPr id="4" name="title">
            <a:extLst xmlns:a="http://schemas.openxmlformats.org/drawingml/2006/main">
              <a:ext uri="{FF2B5EF4-FFF2-40B4-BE49-F238E27FC236}">
                <a16:creationId xmlns:a16="http://schemas.microsoft.com/office/drawing/2014/main" id="{25192993-8FBF-4349-ACEF-F41E7BB7F26A}"/>
              </a:ext>
            </a:extLst>
          </p:cNvPr>
          <p:cNvSpPr>
            <a:spLocks xmlns:a="http://schemas.openxmlformats.org/drawingml/2006/main" noGrp="1"/>
          </p:cNvSpPr>
          <p:nvPr/>
        </p:nvSpPr>
        <p:spPr>
          <a:xfrm xmlns:a="http://schemas.openxmlformats.org/drawingml/2006/main">
            <a:off x="609600" y="723900"/>
            <a:ext cx="10668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150" b="0" i="0">
                <a:solidFill>
                  <a:srgbClr val="1A1A1A"/>
                </a:solidFill>
              </a:defRPr>
            </a:pPr>
            <a:r>
              <a:rPr sz="3150" b="0" i="0">
                <a:solidFill>
                  <a:srgbClr val="1A1A1A"/>
                </a:solidFill>
              </a:rPr>
              <a:t>The experiment makes resource limits and leakage protection visible</a:t>
            </a:r>
          </a:p>
        </p:txBody>
      </p:sp>
      <p:sp>
        <p:nvSpPr>
          <p:cNvPr id="5" name="rule">
            <a:extLst xmlns:a="http://schemas.openxmlformats.org/drawingml/2006/main">
              <a:ext uri="{FF2B5EF4-FFF2-40B4-BE49-F238E27FC236}">
                <a16:creationId xmlns:a16="http://schemas.microsoft.com/office/drawing/2014/main" id="{B035F433-F8FB-4C55-9A1D-3FDC5CECB9E0}"/>
              </a:ext>
            </a:extLst>
          </p:cNvPr>
          <p:cNvSpPr>
            <a:spLocks xmlns:a="http://schemas.openxmlformats.org/drawingml/2006/main" noGrp="1"/>
          </p:cNvSpPr>
          <p:nvPr/>
        </p:nvSpPr>
        <p:spPr>
          <a:xfrm xmlns:a="http://schemas.openxmlformats.org/drawingml/2006/main">
            <a:off x="609600" y="6429375"/>
            <a:ext cx="10972800" cy="9525"/>
          </a:xfrm>
          <a:prstGeom xmlns:a="http://schemas.openxmlformats.org/drawingml/2006/main" prst="rect">
            <a:avLst/>
          </a:prstGeom>
          <a:solidFill xmlns:a="http://schemas.openxmlformats.org/drawingml/2006/main">
            <a:srgbClr val="B8B0A4"/>
          </a:solidFill>
          <a:ln xmlns:a="http://schemas.openxmlformats.org/drawingml/2006/main" w="9525">
            <a:solidFill>
              <a:srgbClr val="B8B0A4"/>
            </a:solidFill>
            <a:prstDash val="solid"/>
          </a:ln>
        </p:spPr>
      </p:sp>
      <p:sp>
        <p:nvSpPr>
          <p:cNvPr id="6" name="text">
            <a:extLst xmlns:a="http://schemas.openxmlformats.org/drawingml/2006/main">
              <a:ext uri="{FF2B5EF4-FFF2-40B4-BE49-F238E27FC236}">
                <a16:creationId xmlns:a16="http://schemas.microsoft.com/office/drawing/2014/main" id="{7695FFB1-0C80-4412-A201-ED0468FA7CCB}"/>
              </a:ext>
            </a:extLst>
          </p:cNvPr>
          <p:cNvSpPr>
            <a:spLocks xmlns:a="http://schemas.openxmlformats.org/drawingml/2006/main" noGrp="1"/>
          </p:cNvSpPr>
          <p:nvPr/>
        </p:nvSpPr>
        <p:spPr>
          <a:xfrm xmlns:a="http://schemas.openxmlformats.org/drawingml/2006/main">
            <a:off x="609600" y="652462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1" i="0">
                <a:solidFill>
                  <a:srgbClr val="8A8178"/>
                </a:solidFill>
              </a:defRPr>
            </a:pPr>
            <a:r>
              <a:rPr sz="750" b="1" i="0">
                <a:solidFill>
                  <a:srgbClr val="8A8178"/>
                </a:solidFill>
              </a:rPr>
              <a:t>GROUP 14 · DUY TAN UNIVERSITY, DA NANG</a:t>
            </a:r>
          </a:p>
        </p:txBody>
      </p:sp>
      <p:sp>
        <p:nvSpPr>
          <p:cNvPr id="7" name="text">
            <a:extLst xmlns:a="http://schemas.openxmlformats.org/drawingml/2006/main">
              <a:ext uri="{FF2B5EF4-FFF2-40B4-BE49-F238E27FC236}">
                <a16:creationId xmlns:a16="http://schemas.microsoft.com/office/drawing/2014/main" id="{B0589FFA-5C23-4EBA-8A4C-33959ACE93C8}"/>
              </a:ext>
            </a:extLst>
          </p:cNvPr>
          <p:cNvSpPr>
            <a:spLocks xmlns:a="http://schemas.openxmlformats.org/drawingml/2006/main" noGrp="1"/>
          </p:cNvSpPr>
          <p:nvPr/>
        </p:nvSpPr>
        <p:spPr>
          <a:xfrm xmlns:a="http://schemas.openxmlformats.org/drawingml/2006/main">
            <a:off x="11144250" y="65246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750" b="0" i="0">
                <a:solidFill>
                  <a:srgbClr val="8A8178"/>
                </a:solidFill>
              </a:defRPr>
            </a:pPr>
            <a:r>
              <a:rPr sz="750" b="0" i="0">
                <a:solidFill>
                  <a:srgbClr val="8A8178"/>
                </a:solidFill>
              </a:rPr>
              <a:t>10</a:t>
            </a:r>
          </a:p>
        </p:txBody>
      </p:sp>
      <p:sp>
        <p:nvSpPr>
          <p:cNvPr id="8" name="text">
            <a:extLst xmlns:a="http://schemas.openxmlformats.org/drawingml/2006/main">
              <a:ext uri="{FF2B5EF4-FFF2-40B4-BE49-F238E27FC236}">
                <a16:creationId xmlns:a16="http://schemas.microsoft.com/office/drawing/2014/main" id="{1ECC13DD-B539-44E2-96DF-F6A25408B324}"/>
              </a:ext>
            </a:extLst>
          </p:cNvPr>
          <p:cNvSpPr>
            <a:spLocks xmlns:a="http://schemas.openxmlformats.org/drawingml/2006/main" noGrp="1"/>
          </p:cNvSpPr>
          <p:nvPr/>
        </p:nvSpPr>
        <p:spPr>
          <a:xfrm xmlns:a="http://schemas.openxmlformats.org/drawingml/2006/main">
            <a:off x="666750" y="1666875"/>
            <a:ext cx="186118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i="0">
                <a:solidFill>
                  <a:srgbClr val="8A8178"/>
                </a:solidFill>
              </a:defRPr>
            </a:pPr>
            <a:r>
              <a:rPr sz="900" b="1" i="0">
                <a:solidFill>
                  <a:srgbClr val="8A8178"/>
                </a:solidFill>
              </a:rPr>
              <a:t>SCOPE</a:t>
            </a:r>
          </a:p>
        </p:txBody>
      </p:sp>
      <p:sp>
        <p:nvSpPr>
          <p:cNvPr id="9" name="text">
            <a:extLst xmlns:a="http://schemas.openxmlformats.org/drawingml/2006/main">
              <a:ext uri="{FF2B5EF4-FFF2-40B4-BE49-F238E27FC236}">
                <a16:creationId xmlns:a16="http://schemas.microsoft.com/office/drawing/2014/main" id="{1F34F7B3-B30F-4C7C-88C1-261B4147B14C}"/>
              </a:ext>
            </a:extLst>
          </p:cNvPr>
          <p:cNvSpPr>
            <a:spLocks xmlns:a="http://schemas.openxmlformats.org/drawingml/2006/main" noGrp="1"/>
          </p:cNvSpPr>
          <p:nvPr/>
        </p:nvSpPr>
        <p:spPr>
          <a:xfrm xmlns:a="http://schemas.openxmlformats.org/drawingml/2006/main">
            <a:off x="2642235" y="1666875"/>
            <a:ext cx="128016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1" i="0">
                <a:solidFill>
                  <a:srgbClr val="8A8178"/>
                </a:solidFill>
              </a:defRPr>
            </a:pPr>
            <a:r>
              <a:rPr sz="900" b="1" i="0">
                <a:solidFill>
                  <a:srgbClr val="8A8178"/>
                </a:solidFill>
              </a:rPr>
              <a:t>INTERACTIONS</a:t>
            </a:r>
          </a:p>
        </p:txBody>
      </p:sp>
      <p:sp>
        <p:nvSpPr>
          <p:cNvPr id="10" name="text">
            <a:extLst xmlns:a="http://schemas.openxmlformats.org/drawingml/2006/main">
              <a:ext uri="{FF2B5EF4-FFF2-40B4-BE49-F238E27FC236}">
                <a16:creationId xmlns:a16="http://schemas.microsoft.com/office/drawing/2014/main" id="{C10B5A90-05A2-4AF2-A927-88E846D67997}"/>
              </a:ext>
            </a:extLst>
          </p:cNvPr>
          <p:cNvSpPr>
            <a:spLocks xmlns:a="http://schemas.openxmlformats.org/drawingml/2006/main" noGrp="1"/>
          </p:cNvSpPr>
          <p:nvPr/>
        </p:nvSpPr>
        <p:spPr>
          <a:xfrm xmlns:a="http://schemas.openxmlformats.org/drawingml/2006/main">
            <a:off x="4036695" y="1666875"/>
            <a:ext cx="1105853"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i="0">
                <a:solidFill>
                  <a:srgbClr val="8A8178"/>
                </a:solidFill>
              </a:defRPr>
            </a:pPr>
            <a:r>
              <a:rPr sz="900" b="1" i="0">
                <a:solidFill>
                  <a:srgbClr val="8A8178"/>
                </a:solidFill>
              </a:rPr>
              <a:t>USERS</a:t>
            </a:r>
          </a:p>
        </p:txBody>
      </p:sp>
      <p:sp>
        <p:nvSpPr>
          <p:cNvPr id="11" name="text">
            <a:extLst xmlns:a="http://schemas.openxmlformats.org/drawingml/2006/main">
              <a:ext uri="{FF2B5EF4-FFF2-40B4-BE49-F238E27FC236}">
                <a16:creationId xmlns:a16="http://schemas.microsoft.com/office/drawing/2014/main" id="{000D6923-D1BB-4651-AC2A-EBE5EBFDCF43}"/>
              </a:ext>
            </a:extLst>
          </p:cNvPr>
          <p:cNvSpPr>
            <a:spLocks xmlns:a="http://schemas.openxmlformats.org/drawingml/2006/main" noGrp="1"/>
          </p:cNvSpPr>
          <p:nvPr/>
        </p:nvSpPr>
        <p:spPr>
          <a:xfrm xmlns:a="http://schemas.openxmlformats.org/drawingml/2006/main">
            <a:off x="5256848" y="1666875"/>
            <a:ext cx="1105853"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i="0">
                <a:solidFill>
                  <a:srgbClr val="8A8178"/>
                </a:solidFill>
              </a:defRPr>
            </a:pPr>
            <a:r>
              <a:rPr sz="900" b="1" i="0">
                <a:solidFill>
                  <a:srgbClr val="8A8178"/>
                </a:solidFill>
              </a:rPr>
              <a:t>ANIME</a:t>
            </a:r>
          </a:p>
        </p:txBody>
      </p:sp>
      <p:sp>
        <p:nvSpPr>
          <p:cNvPr id="12" name="rule">
            <a:extLst xmlns:a="http://schemas.openxmlformats.org/drawingml/2006/main">
              <a:ext uri="{FF2B5EF4-FFF2-40B4-BE49-F238E27FC236}">
                <a16:creationId xmlns:a16="http://schemas.microsoft.com/office/drawing/2014/main" id="{A8287666-6E39-49F9-B0A6-6ED91890FCE7}"/>
              </a:ext>
            </a:extLst>
          </p:cNvPr>
          <p:cNvSpPr>
            <a:spLocks xmlns:a="http://schemas.openxmlformats.org/drawingml/2006/main" noGrp="1"/>
          </p:cNvSpPr>
          <p:nvPr/>
        </p:nvSpPr>
        <p:spPr>
          <a:xfrm xmlns:a="http://schemas.openxmlformats.org/drawingml/2006/main">
            <a:off x="609600" y="2124075"/>
            <a:ext cx="5810250" cy="9525"/>
          </a:xfrm>
          <a:prstGeom xmlns:a="http://schemas.openxmlformats.org/drawingml/2006/main" prst="rect">
            <a:avLst/>
          </a:prstGeom>
          <a:solidFill xmlns:a="http://schemas.openxmlformats.org/drawingml/2006/main">
            <a:srgbClr val="1A1A1A"/>
          </a:solidFill>
          <a:ln xmlns:a="http://schemas.openxmlformats.org/drawingml/2006/main" w="9525">
            <a:solidFill>
              <a:srgbClr val="1A1A1A"/>
            </a:solidFill>
            <a:prstDash val="solid"/>
          </a:ln>
        </p:spPr>
      </p:sp>
      <p:sp>
        <p:nvSpPr>
          <p:cNvPr id="13" name="text">
            <a:extLst xmlns:a="http://schemas.openxmlformats.org/drawingml/2006/main">
              <a:ext uri="{FF2B5EF4-FFF2-40B4-BE49-F238E27FC236}">
                <a16:creationId xmlns:a16="http://schemas.microsoft.com/office/drawing/2014/main" id="{42E57B74-C3F0-4516-A45C-BEC319B33BF9}"/>
              </a:ext>
            </a:extLst>
          </p:cNvPr>
          <p:cNvSpPr>
            <a:spLocks xmlns:a="http://schemas.openxmlformats.org/drawingml/2006/main" noGrp="1"/>
          </p:cNvSpPr>
          <p:nvPr/>
        </p:nvSpPr>
        <p:spPr>
          <a:xfrm xmlns:a="http://schemas.openxmlformats.org/drawingml/2006/main">
            <a:off x="666750" y="2190750"/>
            <a:ext cx="186118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i="0">
                <a:solidFill>
                  <a:srgbClr val="1A1A1A"/>
                </a:solidFill>
              </a:defRPr>
            </a:pPr>
            <a:r>
              <a:rPr sz="1050" b="1" i="0">
                <a:solidFill>
                  <a:srgbClr val="1A1A1A"/>
                </a:solidFill>
              </a:rPr>
              <a:t>Cleaned baseline</a:t>
            </a:r>
          </a:p>
        </p:txBody>
      </p:sp>
      <p:sp>
        <p:nvSpPr>
          <p:cNvPr id="14" name="text">
            <a:extLst xmlns:a="http://schemas.openxmlformats.org/drawingml/2006/main">
              <a:ext uri="{FF2B5EF4-FFF2-40B4-BE49-F238E27FC236}">
                <a16:creationId xmlns:a16="http://schemas.microsoft.com/office/drawing/2014/main" id="{C37ECFA2-1FA3-4EE9-8B95-8EA5D1B82C31}"/>
              </a:ext>
            </a:extLst>
          </p:cNvPr>
          <p:cNvSpPr>
            <a:spLocks xmlns:a="http://schemas.openxmlformats.org/drawingml/2006/main" noGrp="1"/>
          </p:cNvSpPr>
          <p:nvPr/>
        </p:nvSpPr>
        <p:spPr>
          <a:xfrm xmlns:a="http://schemas.openxmlformats.org/drawingml/2006/main">
            <a:off x="2642235" y="2190750"/>
            <a:ext cx="128016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050" b="0" i="0">
                <a:solidFill>
                  <a:srgbClr val="5A5A5A"/>
                </a:solidFill>
              </a:defRPr>
            </a:pPr>
            <a:r>
              <a:rPr sz="1050" b="0" i="0">
                <a:solidFill>
                  <a:srgbClr val="5A5A5A"/>
                </a:solidFill>
              </a:rPr>
              <a:t>6,337,234</a:t>
            </a:r>
          </a:p>
        </p:txBody>
      </p:sp>
      <p:sp>
        <p:nvSpPr>
          <p:cNvPr id="15" name="text">
            <a:extLst xmlns:a="http://schemas.openxmlformats.org/drawingml/2006/main">
              <a:ext uri="{FF2B5EF4-FFF2-40B4-BE49-F238E27FC236}">
                <a16:creationId xmlns:a16="http://schemas.microsoft.com/office/drawing/2014/main" id="{7883B177-7F12-4F31-823E-DEBE507F723A}"/>
              </a:ext>
            </a:extLst>
          </p:cNvPr>
          <p:cNvSpPr>
            <a:spLocks xmlns:a="http://schemas.openxmlformats.org/drawingml/2006/main" noGrp="1"/>
          </p:cNvSpPr>
          <p:nvPr/>
        </p:nvSpPr>
        <p:spPr>
          <a:xfrm xmlns:a="http://schemas.openxmlformats.org/drawingml/2006/main">
            <a:off x="4036695" y="2190750"/>
            <a:ext cx="1105853"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i="0">
                <a:solidFill>
                  <a:srgbClr val="5A5A5A"/>
                </a:solidFill>
              </a:defRPr>
            </a:pPr>
            <a:r>
              <a:rPr sz="1050" b="0" i="0">
                <a:solidFill>
                  <a:srgbClr val="5A5A5A"/>
                </a:solidFill>
              </a:rPr>
              <a:t>69,600</a:t>
            </a:r>
          </a:p>
        </p:txBody>
      </p:sp>
      <p:sp>
        <p:nvSpPr>
          <p:cNvPr id="16" name="text">
            <a:extLst xmlns:a="http://schemas.openxmlformats.org/drawingml/2006/main">
              <a:ext uri="{FF2B5EF4-FFF2-40B4-BE49-F238E27FC236}">
                <a16:creationId xmlns:a16="http://schemas.microsoft.com/office/drawing/2014/main" id="{1271F688-784C-4826-8D6A-598FE697E540}"/>
              </a:ext>
            </a:extLst>
          </p:cNvPr>
          <p:cNvSpPr>
            <a:spLocks xmlns:a="http://schemas.openxmlformats.org/drawingml/2006/main" noGrp="1"/>
          </p:cNvSpPr>
          <p:nvPr/>
        </p:nvSpPr>
        <p:spPr>
          <a:xfrm xmlns:a="http://schemas.openxmlformats.org/drawingml/2006/main">
            <a:off x="5256848" y="2190750"/>
            <a:ext cx="1105853"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i="0">
                <a:solidFill>
                  <a:srgbClr val="5A5A5A"/>
                </a:solidFill>
              </a:defRPr>
            </a:pPr>
            <a:r>
              <a:rPr sz="1050" b="0" i="0">
                <a:solidFill>
                  <a:srgbClr val="5A5A5A"/>
                </a:solidFill>
              </a:rPr>
              <a:t>9,927</a:t>
            </a:r>
          </a:p>
        </p:txBody>
      </p:sp>
      <p:sp>
        <p:nvSpPr>
          <p:cNvPr id="17" name="rule">
            <a:extLst xmlns:a="http://schemas.openxmlformats.org/drawingml/2006/main">
              <a:ext uri="{FF2B5EF4-FFF2-40B4-BE49-F238E27FC236}">
                <a16:creationId xmlns:a16="http://schemas.microsoft.com/office/drawing/2014/main" id="{82FC8022-0BBE-498D-ADD6-FCC98C42483B}"/>
              </a:ext>
            </a:extLst>
          </p:cNvPr>
          <p:cNvSpPr>
            <a:spLocks xmlns:a="http://schemas.openxmlformats.org/drawingml/2006/main" noGrp="1"/>
          </p:cNvSpPr>
          <p:nvPr/>
        </p:nvSpPr>
        <p:spPr>
          <a:xfrm xmlns:a="http://schemas.openxmlformats.org/drawingml/2006/main">
            <a:off x="609600" y="2581275"/>
            <a:ext cx="5810250" cy="9525"/>
          </a:xfrm>
          <a:prstGeom xmlns:a="http://schemas.openxmlformats.org/drawingml/2006/main" prst="rect">
            <a:avLst/>
          </a:prstGeom>
          <a:solidFill xmlns:a="http://schemas.openxmlformats.org/drawingml/2006/main">
            <a:srgbClr val="B8B0A4"/>
          </a:solidFill>
          <a:ln xmlns:a="http://schemas.openxmlformats.org/drawingml/2006/main" w="9525">
            <a:solidFill>
              <a:srgbClr val="B8B0A4"/>
            </a:solidFill>
            <a:prstDash val="solid"/>
          </a:ln>
        </p:spPr>
      </p:sp>
      <p:sp>
        <p:nvSpPr>
          <p:cNvPr id="18" name="text">
            <a:extLst xmlns:a="http://schemas.openxmlformats.org/drawingml/2006/main">
              <a:ext uri="{FF2B5EF4-FFF2-40B4-BE49-F238E27FC236}">
                <a16:creationId xmlns:a16="http://schemas.microsoft.com/office/drawing/2014/main" id="{AD7350C9-9279-4AEB-86AD-342DB9077C94}"/>
              </a:ext>
            </a:extLst>
          </p:cNvPr>
          <p:cNvSpPr>
            <a:spLocks xmlns:a="http://schemas.openxmlformats.org/drawingml/2006/main" noGrp="1"/>
          </p:cNvSpPr>
          <p:nvPr/>
        </p:nvSpPr>
        <p:spPr>
          <a:xfrm xmlns:a="http://schemas.openxmlformats.org/drawingml/2006/main">
            <a:off x="666750" y="2647950"/>
            <a:ext cx="186118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i="0">
                <a:solidFill>
                  <a:srgbClr val="1A1A1A"/>
                </a:solidFill>
              </a:defRPr>
            </a:pPr>
            <a:r>
              <a:rPr sz="1050" b="1" i="0">
                <a:solidFill>
                  <a:srgbClr val="1A1A1A"/>
                </a:solidFill>
              </a:rPr>
              <a:t>Fixed-seed sample</a:t>
            </a:r>
          </a:p>
        </p:txBody>
      </p:sp>
      <p:sp>
        <p:nvSpPr>
          <p:cNvPr id="19" name="text">
            <a:extLst xmlns:a="http://schemas.openxmlformats.org/drawingml/2006/main">
              <a:ext uri="{FF2B5EF4-FFF2-40B4-BE49-F238E27FC236}">
                <a16:creationId xmlns:a16="http://schemas.microsoft.com/office/drawing/2014/main" id="{1E7E649C-8BDE-4390-968B-B7C17F8B56B2}"/>
              </a:ext>
            </a:extLst>
          </p:cNvPr>
          <p:cNvSpPr>
            <a:spLocks xmlns:a="http://schemas.openxmlformats.org/drawingml/2006/main" noGrp="1"/>
          </p:cNvSpPr>
          <p:nvPr/>
        </p:nvSpPr>
        <p:spPr>
          <a:xfrm xmlns:a="http://schemas.openxmlformats.org/drawingml/2006/main">
            <a:off x="2642235" y="2647950"/>
            <a:ext cx="128016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050" b="0" i="0">
                <a:solidFill>
                  <a:srgbClr val="5A5A5A"/>
                </a:solidFill>
              </a:defRPr>
            </a:pPr>
            <a:r>
              <a:rPr sz="1050" b="0" i="0">
                <a:solidFill>
                  <a:srgbClr val="5A5A5A"/>
                </a:solidFill>
              </a:rPr>
              <a:t>1,000,000</a:t>
            </a:r>
          </a:p>
        </p:txBody>
      </p:sp>
      <p:sp>
        <p:nvSpPr>
          <p:cNvPr id="20" name="text">
            <a:extLst xmlns:a="http://schemas.openxmlformats.org/drawingml/2006/main">
              <a:ext uri="{FF2B5EF4-FFF2-40B4-BE49-F238E27FC236}">
                <a16:creationId xmlns:a16="http://schemas.microsoft.com/office/drawing/2014/main" id="{D597CED2-B743-40BF-85E5-8DCD961C935E}"/>
              </a:ext>
            </a:extLst>
          </p:cNvPr>
          <p:cNvSpPr>
            <a:spLocks xmlns:a="http://schemas.openxmlformats.org/drawingml/2006/main" noGrp="1"/>
          </p:cNvSpPr>
          <p:nvPr/>
        </p:nvSpPr>
        <p:spPr>
          <a:xfrm xmlns:a="http://schemas.openxmlformats.org/drawingml/2006/main">
            <a:off x="4036695" y="2647950"/>
            <a:ext cx="1105853"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i="0">
                <a:solidFill>
                  <a:srgbClr val="5A5A5A"/>
                </a:solidFill>
              </a:defRPr>
            </a:pPr>
            <a:r>
              <a:rPr sz="1050" b="0" i="0">
                <a:solidFill>
                  <a:srgbClr val="5A5A5A"/>
                </a:solidFill>
              </a:rPr>
              <a:t>60,743</a:t>
            </a:r>
          </a:p>
        </p:txBody>
      </p:sp>
      <p:sp>
        <p:nvSpPr>
          <p:cNvPr id="21" name="text">
            <a:extLst xmlns:a="http://schemas.openxmlformats.org/drawingml/2006/main">
              <a:ext uri="{FF2B5EF4-FFF2-40B4-BE49-F238E27FC236}">
                <a16:creationId xmlns:a16="http://schemas.microsoft.com/office/drawing/2014/main" id="{752299D0-6136-4AF3-91D2-573F2AF3127B}"/>
              </a:ext>
            </a:extLst>
          </p:cNvPr>
          <p:cNvSpPr>
            <a:spLocks xmlns:a="http://schemas.openxmlformats.org/drawingml/2006/main" noGrp="1"/>
          </p:cNvSpPr>
          <p:nvPr/>
        </p:nvSpPr>
        <p:spPr>
          <a:xfrm xmlns:a="http://schemas.openxmlformats.org/drawingml/2006/main">
            <a:off x="5256848" y="2647950"/>
            <a:ext cx="1105853"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i="0">
                <a:solidFill>
                  <a:srgbClr val="5A5A5A"/>
                </a:solidFill>
              </a:defRPr>
            </a:pPr>
            <a:r>
              <a:rPr sz="1050" b="0" i="0">
                <a:solidFill>
                  <a:srgbClr val="5A5A5A"/>
                </a:solidFill>
              </a:rPr>
              <a:t>8,218</a:t>
            </a:r>
          </a:p>
        </p:txBody>
      </p:sp>
      <p:sp>
        <p:nvSpPr>
          <p:cNvPr id="22" name="rule">
            <a:extLst xmlns:a="http://schemas.openxmlformats.org/drawingml/2006/main">
              <a:ext uri="{FF2B5EF4-FFF2-40B4-BE49-F238E27FC236}">
                <a16:creationId xmlns:a16="http://schemas.microsoft.com/office/drawing/2014/main" id="{D23F6307-2EA0-4DC9-949C-8552F3D5AB96}"/>
              </a:ext>
            </a:extLst>
          </p:cNvPr>
          <p:cNvSpPr>
            <a:spLocks xmlns:a="http://schemas.openxmlformats.org/drawingml/2006/main" noGrp="1"/>
          </p:cNvSpPr>
          <p:nvPr/>
        </p:nvSpPr>
        <p:spPr>
          <a:xfrm xmlns:a="http://schemas.openxmlformats.org/drawingml/2006/main">
            <a:off x="609600" y="3038475"/>
            <a:ext cx="5810250" cy="9525"/>
          </a:xfrm>
          <a:prstGeom xmlns:a="http://schemas.openxmlformats.org/drawingml/2006/main" prst="rect">
            <a:avLst/>
          </a:prstGeom>
          <a:solidFill xmlns:a="http://schemas.openxmlformats.org/drawingml/2006/main">
            <a:srgbClr val="B8B0A4"/>
          </a:solidFill>
          <a:ln xmlns:a="http://schemas.openxmlformats.org/drawingml/2006/main" w="9525">
            <a:solidFill>
              <a:srgbClr val="B8B0A4"/>
            </a:solidFill>
            <a:prstDash val="solid"/>
          </a:ln>
        </p:spPr>
      </p:sp>
      <p:sp>
        <p:nvSpPr>
          <p:cNvPr id="23" name="text">
            <a:extLst xmlns:a="http://schemas.openxmlformats.org/drawingml/2006/main">
              <a:ext uri="{FF2B5EF4-FFF2-40B4-BE49-F238E27FC236}">
                <a16:creationId xmlns:a16="http://schemas.microsoft.com/office/drawing/2014/main" id="{DDAA25F3-5D5B-42CC-BDEA-A336BC9E1E0D}"/>
              </a:ext>
            </a:extLst>
          </p:cNvPr>
          <p:cNvSpPr>
            <a:spLocks xmlns:a="http://schemas.openxmlformats.org/drawingml/2006/main" noGrp="1"/>
          </p:cNvSpPr>
          <p:nvPr/>
        </p:nvSpPr>
        <p:spPr>
          <a:xfrm xmlns:a="http://schemas.openxmlformats.org/drawingml/2006/main">
            <a:off x="666750" y="3105150"/>
            <a:ext cx="186118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i="0">
                <a:solidFill>
                  <a:srgbClr val="1A1A1A"/>
                </a:solidFill>
              </a:defRPr>
            </a:pPr>
            <a:r>
              <a:rPr sz="1050" b="1" i="0">
                <a:solidFill>
                  <a:srgbClr val="1A1A1A"/>
                </a:solidFill>
              </a:rPr>
              <a:t>After min-5 k-core</a:t>
            </a:r>
          </a:p>
        </p:txBody>
      </p:sp>
      <p:sp>
        <p:nvSpPr>
          <p:cNvPr id="24" name="text">
            <a:extLst xmlns:a="http://schemas.openxmlformats.org/drawingml/2006/main">
              <a:ext uri="{FF2B5EF4-FFF2-40B4-BE49-F238E27FC236}">
                <a16:creationId xmlns:a16="http://schemas.microsoft.com/office/drawing/2014/main" id="{AFCB6E3F-5655-429A-A895-467D3CAE04BD}"/>
              </a:ext>
            </a:extLst>
          </p:cNvPr>
          <p:cNvSpPr>
            <a:spLocks xmlns:a="http://schemas.openxmlformats.org/drawingml/2006/main" noGrp="1"/>
          </p:cNvSpPr>
          <p:nvPr/>
        </p:nvSpPr>
        <p:spPr>
          <a:xfrm xmlns:a="http://schemas.openxmlformats.org/drawingml/2006/main">
            <a:off x="2642235" y="3105150"/>
            <a:ext cx="128016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050" b="0" i="0">
                <a:solidFill>
                  <a:srgbClr val="5A5A5A"/>
                </a:solidFill>
              </a:defRPr>
            </a:pPr>
            <a:r>
              <a:rPr sz="1050" b="0" i="0">
                <a:solidFill>
                  <a:srgbClr val="5A5A5A"/>
                </a:solidFill>
              </a:rPr>
              <a:t>952,497</a:t>
            </a:r>
          </a:p>
        </p:txBody>
      </p:sp>
      <p:sp>
        <p:nvSpPr>
          <p:cNvPr id="25" name="text">
            <a:extLst xmlns:a="http://schemas.openxmlformats.org/drawingml/2006/main">
              <a:ext uri="{FF2B5EF4-FFF2-40B4-BE49-F238E27FC236}">
                <a16:creationId xmlns:a16="http://schemas.microsoft.com/office/drawing/2014/main" id="{E5B46AB7-DAC2-431F-B183-1C04D1DE95DB}"/>
              </a:ext>
            </a:extLst>
          </p:cNvPr>
          <p:cNvSpPr>
            <a:spLocks xmlns:a="http://schemas.openxmlformats.org/drawingml/2006/main" noGrp="1"/>
          </p:cNvSpPr>
          <p:nvPr/>
        </p:nvSpPr>
        <p:spPr>
          <a:xfrm xmlns:a="http://schemas.openxmlformats.org/drawingml/2006/main">
            <a:off x="4036695" y="3105150"/>
            <a:ext cx="1105853"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i="0">
                <a:solidFill>
                  <a:srgbClr val="5A5A5A"/>
                </a:solidFill>
              </a:defRPr>
            </a:pPr>
            <a:r>
              <a:rPr sz="1050" b="0" i="0">
                <a:solidFill>
                  <a:srgbClr val="5A5A5A"/>
                </a:solidFill>
              </a:rPr>
              <a:t>41,370</a:t>
            </a:r>
          </a:p>
        </p:txBody>
      </p:sp>
      <p:sp>
        <p:nvSpPr>
          <p:cNvPr id="26" name="text">
            <a:extLst xmlns:a="http://schemas.openxmlformats.org/drawingml/2006/main">
              <a:ext uri="{FF2B5EF4-FFF2-40B4-BE49-F238E27FC236}">
                <a16:creationId xmlns:a16="http://schemas.microsoft.com/office/drawing/2014/main" id="{A39164EC-BFEA-40CE-A779-69D25D56CD6A}"/>
              </a:ext>
            </a:extLst>
          </p:cNvPr>
          <p:cNvSpPr>
            <a:spLocks xmlns:a="http://schemas.openxmlformats.org/drawingml/2006/main" noGrp="1"/>
          </p:cNvSpPr>
          <p:nvPr/>
        </p:nvSpPr>
        <p:spPr>
          <a:xfrm xmlns:a="http://schemas.openxmlformats.org/drawingml/2006/main">
            <a:off x="5256848" y="3105150"/>
            <a:ext cx="1105853"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i="0">
                <a:solidFill>
                  <a:srgbClr val="5A5A5A"/>
                </a:solidFill>
              </a:defRPr>
            </a:pPr>
            <a:r>
              <a:rPr sz="1050" b="0" i="0">
                <a:solidFill>
                  <a:srgbClr val="5A5A5A"/>
                </a:solidFill>
              </a:rPr>
              <a:t>5,985</a:t>
            </a:r>
          </a:p>
        </p:txBody>
      </p:sp>
      <p:sp>
        <p:nvSpPr>
          <p:cNvPr id="27" name="rule">
            <a:extLst xmlns:a="http://schemas.openxmlformats.org/drawingml/2006/main">
              <a:ext uri="{FF2B5EF4-FFF2-40B4-BE49-F238E27FC236}">
                <a16:creationId xmlns:a16="http://schemas.microsoft.com/office/drawing/2014/main" id="{8CFFB8CD-1174-4D83-8E74-A7B37A4E7AB3}"/>
              </a:ext>
            </a:extLst>
          </p:cNvPr>
          <p:cNvSpPr>
            <a:spLocks xmlns:a="http://schemas.openxmlformats.org/drawingml/2006/main" noGrp="1"/>
          </p:cNvSpPr>
          <p:nvPr/>
        </p:nvSpPr>
        <p:spPr>
          <a:xfrm xmlns:a="http://schemas.openxmlformats.org/drawingml/2006/main">
            <a:off x="609600" y="3495675"/>
            <a:ext cx="5810250" cy="9525"/>
          </a:xfrm>
          <a:prstGeom xmlns:a="http://schemas.openxmlformats.org/drawingml/2006/main" prst="rect">
            <a:avLst/>
          </a:prstGeom>
          <a:solidFill xmlns:a="http://schemas.openxmlformats.org/drawingml/2006/main">
            <a:srgbClr val="B8B0A4"/>
          </a:solidFill>
          <a:ln xmlns:a="http://schemas.openxmlformats.org/drawingml/2006/main" w="9525">
            <a:solidFill>
              <a:srgbClr val="B8B0A4"/>
            </a:solidFill>
            <a:prstDash val="solid"/>
          </a:ln>
        </p:spPr>
      </p:sp>
      <p:sp>
        <p:nvSpPr>
          <p:cNvPr id="28" name="text">
            <a:extLst xmlns:a="http://schemas.openxmlformats.org/drawingml/2006/main">
              <a:ext uri="{FF2B5EF4-FFF2-40B4-BE49-F238E27FC236}">
                <a16:creationId xmlns:a16="http://schemas.microsoft.com/office/drawing/2014/main" id="{EF93A661-5B05-49A3-AF87-BFF1D4B9C074}"/>
              </a:ext>
            </a:extLst>
          </p:cNvPr>
          <p:cNvSpPr>
            <a:spLocks xmlns:a="http://schemas.openxmlformats.org/drawingml/2006/main" noGrp="1"/>
          </p:cNvSpPr>
          <p:nvPr/>
        </p:nvSpPr>
        <p:spPr>
          <a:xfrm xmlns:a="http://schemas.openxmlformats.org/drawingml/2006/main">
            <a:off x="666750" y="3562350"/>
            <a:ext cx="186118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i="0">
                <a:solidFill>
                  <a:srgbClr val="1A1A1A"/>
                </a:solidFill>
              </a:defRPr>
            </a:pPr>
            <a:r>
              <a:rPr sz="1050" b="1" i="0">
                <a:solidFill>
                  <a:srgbClr val="1A1A1A"/>
                </a:solidFill>
              </a:rPr>
              <a:t>Outer train</a:t>
            </a:r>
          </a:p>
        </p:txBody>
      </p:sp>
      <p:sp>
        <p:nvSpPr>
          <p:cNvPr id="29" name="text">
            <a:extLst xmlns:a="http://schemas.openxmlformats.org/drawingml/2006/main">
              <a:ext uri="{FF2B5EF4-FFF2-40B4-BE49-F238E27FC236}">
                <a16:creationId xmlns:a16="http://schemas.microsoft.com/office/drawing/2014/main" id="{2C6993E3-7A65-4202-9988-4B5CCD59B8AD}"/>
              </a:ext>
            </a:extLst>
          </p:cNvPr>
          <p:cNvSpPr>
            <a:spLocks xmlns:a="http://schemas.openxmlformats.org/drawingml/2006/main" noGrp="1"/>
          </p:cNvSpPr>
          <p:nvPr/>
        </p:nvSpPr>
        <p:spPr>
          <a:xfrm xmlns:a="http://schemas.openxmlformats.org/drawingml/2006/main">
            <a:off x="2642235" y="3562350"/>
            <a:ext cx="128016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050" b="0" i="0">
                <a:solidFill>
                  <a:srgbClr val="5A5A5A"/>
                </a:solidFill>
              </a:defRPr>
            </a:pPr>
            <a:r>
              <a:rPr sz="1050" b="0" i="0">
                <a:solidFill>
                  <a:srgbClr val="5A5A5A"/>
                </a:solidFill>
              </a:rPr>
              <a:t>761,997</a:t>
            </a:r>
          </a:p>
        </p:txBody>
      </p:sp>
      <p:sp>
        <p:nvSpPr>
          <p:cNvPr id="30" name="text">
            <a:extLst xmlns:a="http://schemas.openxmlformats.org/drawingml/2006/main">
              <a:ext uri="{FF2B5EF4-FFF2-40B4-BE49-F238E27FC236}">
                <a16:creationId xmlns:a16="http://schemas.microsoft.com/office/drawing/2014/main" id="{BB4C0546-2726-4976-A5AF-6C59FF156699}"/>
              </a:ext>
            </a:extLst>
          </p:cNvPr>
          <p:cNvSpPr>
            <a:spLocks xmlns:a="http://schemas.openxmlformats.org/drawingml/2006/main" noGrp="1"/>
          </p:cNvSpPr>
          <p:nvPr/>
        </p:nvSpPr>
        <p:spPr>
          <a:xfrm xmlns:a="http://schemas.openxmlformats.org/drawingml/2006/main">
            <a:off x="4036695" y="3562350"/>
            <a:ext cx="1105853"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i="0">
                <a:solidFill>
                  <a:srgbClr val="5A5A5A"/>
                </a:solidFill>
              </a:defRPr>
            </a:pPr>
            <a:r>
              <a:rPr sz="1050" b="0" i="0">
                <a:solidFill>
                  <a:srgbClr val="5A5A5A"/>
                </a:solidFill>
              </a:rPr>
              <a:t>—</a:t>
            </a:r>
          </a:p>
        </p:txBody>
      </p:sp>
      <p:sp>
        <p:nvSpPr>
          <p:cNvPr id="31" name="text">
            <a:extLst xmlns:a="http://schemas.openxmlformats.org/drawingml/2006/main">
              <a:ext uri="{FF2B5EF4-FFF2-40B4-BE49-F238E27FC236}">
                <a16:creationId xmlns:a16="http://schemas.microsoft.com/office/drawing/2014/main" id="{4E3CDC12-568D-4096-B774-A436178F622C}"/>
              </a:ext>
            </a:extLst>
          </p:cNvPr>
          <p:cNvSpPr>
            <a:spLocks xmlns:a="http://schemas.openxmlformats.org/drawingml/2006/main" noGrp="1"/>
          </p:cNvSpPr>
          <p:nvPr/>
        </p:nvSpPr>
        <p:spPr>
          <a:xfrm xmlns:a="http://schemas.openxmlformats.org/drawingml/2006/main">
            <a:off x="5256848" y="3562350"/>
            <a:ext cx="1105853"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i="0">
                <a:solidFill>
                  <a:srgbClr val="5A5A5A"/>
                </a:solidFill>
              </a:defRPr>
            </a:pPr>
            <a:r>
              <a:rPr sz="1050" b="0" i="0">
                <a:solidFill>
                  <a:srgbClr val="5A5A5A"/>
                </a:solidFill>
              </a:rPr>
              <a:t>—</a:t>
            </a:r>
          </a:p>
        </p:txBody>
      </p:sp>
      <p:sp>
        <p:nvSpPr>
          <p:cNvPr id="32" name="rule">
            <a:extLst xmlns:a="http://schemas.openxmlformats.org/drawingml/2006/main">
              <a:ext uri="{FF2B5EF4-FFF2-40B4-BE49-F238E27FC236}">
                <a16:creationId xmlns:a16="http://schemas.microsoft.com/office/drawing/2014/main" id="{4BE08310-5B06-4DA7-AEC8-51A96171B839}"/>
              </a:ext>
            </a:extLst>
          </p:cNvPr>
          <p:cNvSpPr>
            <a:spLocks xmlns:a="http://schemas.openxmlformats.org/drawingml/2006/main" noGrp="1"/>
          </p:cNvSpPr>
          <p:nvPr/>
        </p:nvSpPr>
        <p:spPr>
          <a:xfrm xmlns:a="http://schemas.openxmlformats.org/drawingml/2006/main">
            <a:off x="609600" y="3952875"/>
            <a:ext cx="5810250" cy="9525"/>
          </a:xfrm>
          <a:prstGeom xmlns:a="http://schemas.openxmlformats.org/drawingml/2006/main" prst="rect">
            <a:avLst/>
          </a:prstGeom>
          <a:solidFill xmlns:a="http://schemas.openxmlformats.org/drawingml/2006/main">
            <a:srgbClr val="B8B0A4"/>
          </a:solidFill>
          <a:ln xmlns:a="http://schemas.openxmlformats.org/drawingml/2006/main" w="9525">
            <a:solidFill>
              <a:srgbClr val="B8B0A4"/>
            </a:solidFill>
            <a:prstDash val="solid"/>
          </a:ln>
        </p:spPr>
      </p:sp>
      <p:sp>
        <p:nvSpPr>
          <p:cNvPr id="33" name="text">
            <a:extLst xmlns:a="http://schemas.openxmlformats.org/drawingml/2006/main">
              <a:ext uri="{FF2B5EF4-FFF2-40B4-BE49-F238E27FC236}">
                <a16:creationId xmlns:a16="http://schemas.microsoft.com/office/drawing/2014/main" id="{0466DE2B-F7AC-4B80-A3FE-B29FE5885B8F}"/>
              </a:ext>
            </a:extLst>
          </p:cNvPr>
          <p:cNvSpPr>
            <a:spLocks xmlns:a="http://schemas.openxmlformats.org/drawingml/2006/main" noGrp="1"/>
          </p:cNvSpPr>
          <p:nvPr/>
        </p:nvSpPr>
        <p:spPr>
          <a:xfrm xmlns:a="http://schemas.openxmlformats.org/drawingml/2006/main">
            <a:off x="666750" y="4019550"/>
            <a:ext cx="186118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i="0">
                <a:solidFill>
                  <a:srgbClr val="1A1A1A"/>
                </a:solidFill>
              </a:defRPr>
            </a:pPr>
            <a:r>
              <a:rPr sz="1050" b="1" i="0">
                <a:solidFill>
                  <a:srgbClr val="1A1A1A"/>
                </a:solidFill>
              </a:rPr>
              <a:t>Outer test</a:t>
            </a:r>
          </a:p>
        </p:txBody>
      </p:sp>
      <p:sp>
        <p:nvSpPr>
          <p:cNvPr id="34" name="text">
            <a:extLst xmlns:a="http://schemas.openxmlformats.org/drawingml/2006/main">
              <a:ext uri="{FF2B5EF4-FFF2-40B4-BE49-F238E27FC236}">
                <a16:creationId xmlns:a16="http://schemas.microsoft.com/office/drawing/2014/main" id="{BB414C5C-8B5C-453A-8EB0-86419DF6F287}"/>
              </a:ext>
            </a:extLst>
          </p:cNvPr>
          <p:cNvSpPr>
            <a:spLocks xmlns:a="http://schemas.openxmlformats.org/drawingml/2006/main" noGrp="1"/>
          </p:cNvSpPr>
          <p:nvPr/>
        </p:nvSpPr>
        <p:spPr>
          <a:xfrm xmlns:a="http://schemas.openxmlformats.org/drawingml/2006/main">
            <a:off x="2642235" y="4019550"/>
            <a:ext cx="128016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050" b="0" i="0">
                <a:solidFill>
                  <a:srgbClr val="5A5A5A"/>
                </a:solidFill>
              </a:defRPr>
            </a:pPr>
            <a:r>
              <a:rPr sz="1050" b="0" i="0">
                <a:solidFill>
                  <a:srgbClr val="5A5A5A"/>
                </a:solidFill>
              </a:rPr>
              <a:t>190,500</a:t>
            </a:r>
          </a:p>
        </p:txBody>
      </p:sp>
      <p:sp>
        <p:nvSpPr>
          <p:cNvPr id="35" name="text">
            <a:extLst xmlns:a="http://schemas.openxmlformats.org/drawingml/2006/main">
              <a:ext uri="{FF2B5EF4-FFF2-40B4-BE49-F238E27FC236}">
                <a16:creationId xmlns:a16="http://schemas.microsoft.com/office/drawing/2014/main" id="{D0B8FF97-33DE-4FE7-95F1-5A74EB2416D0}"/>
              </a:ext>
            </a:extLst>
          </p:cNvPr>
          <p:cNvSpPr>
            <a:spLocks xmlns:a="http://schemas.openxmlformats.org/drawingml/2006/main" noGrp="1"/>
          </p:cNvSpPr>
          <p:nvPr/>
        </p:nvSpPr>
        <p:spPr>
          <a:xfrm xmlns:a="http://schemas.openxmlformats.org/drawingml/2006/main">
            <a:off x="4036695" y="4019550"/>
            <a:ext cx="1105853"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i="0">
                <a:solidFill>
                  <a:srgbClr val="5A5A5A"/>
                </a:solidFill>
              </a:defRPr>
            </a:pPr>
            <a:r>
              <a:rPr sz="1050" b="0" i="0">
                <a:solidFill>
                  <a:srgbClr val="5A5A5A"/>
                </a:solidFill>
              </a:rPr>
              <a:t>—</a:t>
            </a:r>
          </a:p>
        </p:txBody>
      </p:sp>
      <p:sp>
        <p:nvSpPr>
          <p:cNvPr id="36" name="text">
            <a:extLst xmlns:a="http://schemas.openxmlformats.org/drawingml/2006/main">
              <a:ext uri="{FF2B5EF4-FFF2-40B4-BE49-F238E27FC236}">
                <a16:creationId xmlns:a16="http://schemas.microsoft.com/office/drawing/2014/main" id="{80307A65-F2D6-4FD4-9648-95CC2A7312EA}"/>
              </a:ext>
            </a:extLst>
          </p:cNvPr>
          <p:cNvSpPr>
            <a:spLocks xmlns:a="http://schemas.openxmlformats.org/drawingml/2006/main" noGrp="1"/>
          </p:cNvSpPr>
          <p:nvPr/>
        </p:nvSpPr>
        <p:spPr>
          <a:xfrm xmlns:a="http://schemas.openxmlformats.org/drawingml/2006/main">
            <a:off x="5256848" y="4019550"/>
            <a:ext cx="1105853"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i="0">
                <a:solidFill>
                  <a:srgbClr val="5A5A5A"/>
                </a:solidFill>
              </a:defRPr>
            </a:pPr>
            <a:r>
              <a:rPr sz="1050" b="0" i="0">
                <a:solidFill>
                  <a:srgbClr val="5A5A5A"/>
                </a:solidFill>
              </a:rPr>
              <a:t>—</a:t>
            </a:r>
          </a:p>
        </p:txBody>
      </p:sp>
      <p:sp>
        <p:nvSpPr>
          <p:cNvPr id="37" name="rule">
            <a:extLst xmlns:a="http://schemas.openxmlformats.org/drawingml/2006/main">
              <a:ext uri="{FF2B5EF4-FFF2-40B4-BE49-F238E27FC236}">
                <a16:creationId xmlns:a16="http://schemas.microsoft.com/office/drawing/2014/main" id="{CCA9927F-363F-4159-A6F5-488E41FC2122}"/>
              </a:ext>
            </a:extLst>
          </p:cNvPr>
          <p:cNvSpPr>
            <a:spLocks xmlns:a="http://schemas.openxmlformats.org/drawingml/2006/main" noGrp="1"/>
          </p:cNvSpPr>
          <p:nvPr/>
        </p:nvSpPr>
        <p:spPr>
          <a:xfrm xmlns:a="http://schemas.openxmlformats.org/drawingml/2006/main">
            <a:off x="609600" y="4410075"/>
            <a:ext cx="5810250" cy="9525"/>
          </a:xfrm>
          <a:prstGeom xmlns:a="http://schemas.openxmlformats.org/drawingml/2006/main" prst="rect">
            <a:avLst/>
          </a:prstGeom>
          <a:solidFill xmlns:a="http://schemas.openxmlformats.org/drawingml/2006/main">
            <a:srgbClr val="B8B0A4"/>
          </a:solidFill>
          <a:ln xmlns:a="http://schemas.openxmlformats.org/drawingml/2006/main" w="9525">
            <a:solidFill>
              <a:srgbClr val="B8B0A4"/>
            </a:solidFill>
            <a:prstDash val="solid"/>
          </a:ln>
        </p:spPr>
      </p:sp>
      <p:sp>
        <p:nvSpPr>
          <p:cNvPr id="38" name="rule">
            <a:extLst xmlns:a="http://schemas.openxmlformats.org/drawingml/2006/main">
              <a:ext uri="{FF2B5EF4-FFF2-40B4-BE49-F238E27FC236}">
                <a16:creationId xmlns:a16="http://schemas.microsoft.com/office/drawing/2014/main" id="{DD237CBE-EAD4-4EB8-91AD-4A033322BBC6}"/>
              </a:ext>
            </a:extLst>
          </p:cNvPr>
          <p:cNvSpPr>
            <a:spLocks xmlns:a="http://schemas.openxmlformats.org/drawingml/2006/main" noGrp="1"/>
          </p:cNvSpPr>
          <p:nvPr/>
        </p:nvSpPr>
        <p:spPr>
          <a:xfrm xmlns:a="http://schemas.openxmlformats.org/drawingml/2006/main">
            <a:off x="6858000" y="1666875"/>
            <a:ext cx="4724400" cy="9525"/>
          </a:xfrm>
          <a:prstGeom xmlns:a="http://schemas.openxmlformats.org/drawingml/2006/main" prst="rect">
            <a:avLst/>
          </a:prstGeom>
          <a:solidFill xmlns:a="http://schemas.openxmlformats.org/drawingml/2006/main">
            <a:srgbClr val="1A1A1A"/>
          </a:solidFill>
          <a:ln xmlns:a="http://schemas.openxmlformats.org/drawingml/2006/main" w="9525">
            <a:solidFill>
              <a:srgbClr val="1A1A1A"/>
            </a:solidFill>
            <a:prstDash val="solid"/>
          </a:ln>
        </p:spPr>
      </p:sp>
      <p:sp>
        <p:nvSpPr>
          <p:cNvPr id="39" name="text">
            <a:extLst xmlns:a="http://schemas.openxmlformats.org/drawingml/2006/main">
              <a:ext uri="{FF2B5EF4-FFF2-40B4-BE49-F238E27FC236}">
                <a16:creationId xmlns:a16="http://schemas.microsoft.com/office/drawing/2014/main" id="{F9FDEB3E-F357-4001-B548-94C7A480B581}"/>
              </a:ext>
            </a:extLst>
          </p:cNvPr>
          <p:cNvSpPr>
            <a:spLocks xmlns:a="http://schemas.openxmlformats.org/drawingml/2006/main" noGrp="1"/>
          </p:cNvSpPr>
          <p:nvPr/>
        </p:nvSpPr>
        <p:spPr>
          <a:xfrm xmlns:a="http://schemas.openxmlformats.org/drawingml/2006/main">
            <a:off x="6858000" y="1781175"/>
            <a:ext cx="4724400" cy="64960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i="0">
                <a:solidFill>
                  <a:srgbClr val="1A1A1A"/>
                </a:solidFill>
              </a:defRPr>
            </a:pPr>
            <a:r>
              <a:rPr sz="1650" b="0" i="0">
                <a:solidFill>
                  <a:srgbClr val="1A1A1A"/>
                </a:solidFill>
              </a:rPr>
              <a:t>Leakage-safe order</a:t>
            </a:r>
          </a:p>
        </p:txBody>
      </p:sp>
      <p:sp>
        <p:nvSpPr>
          <p:cNvPr id="40" name="text">
            <a:extLst xmlns:a="http://schemas.openxmlformats.org/drawingml/2006/main">
              <a:ext uri="{FF2B5EF4-FFF2-40B4-BE49-F238E27FC236}">
                <a16:creationId xmlns:a16="http://schemas.microsoft.com/office/drawing/2014/main" id="{10840900-2529-4A33-90F7-696399837330}"/>
              </a:ext>
            </a:extLst>
          </p:cNvPr>
          <p:cNvSpPr>
            <a:spLocks xmlns:a="http://schemas.openxmlformats.org/drawingml/2006/main" noGrp="1"/>
          </p:cNvSpPr>
          <p:nvPr/>
        </p:nvSpPr>
        <p:spPr>
          <a:xfrm xmlns:a="http://schemas.openxmlformats.org/drawingml/2006/main">
            <a:off x="6858000" y="2162175"/>
            <a:ext cx="4724400" cy="2428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i="0">
                <a:solidFill>
                  <a:srgbClr val="5A5A5A"/>
                </a:solidFill>
              </a:defRPr>
            </a:pPr>
            <a:r>
              <a:rPr sz="1350" b="0" i="0">
                <a:solidFill>
                  <a:srgbClr val="5A5A5A"/>
                </a:solidFill>
              </a:rPr>
              <a:t>1. Create outer 80/20 holdout first.</a:t>
            </a:r>
          </a:p>
          <a:p xmlns:a="http://schemas.openxmlformats.org/drawingml/2006/main">
            <a:pPr algn="l">
              <a:buNone/>
              <a:defRPr sz="1350" b="0" i="0">
                <a:solidFill>
                  <a:srgbClr val="5A5A5A"/>
                </a:solidFill>
              </a:defRPr>
            </a:pPr>
            <a:r>
              <a:rPr sz="1350" b="0" i="0">
                <a:solidFill>
                  <a:srgbClr val="5A5A5A"/>
                </a:solidFill>
              </a:rPr>
              <a:t>2. Inside outer train only, compare 30, 50, 100 factors.</a:t>
            </a:r>
          </a:p>
          <a:p xmlns:a="http://schemas.openxmlformats.org/drawingml/2006/main">
            <a:pPr algn="l">
              <a:buNone/>
              <a:defRPr sz="1350" b="0" i="0">
                <a:solidFill>
                  <a:srgbClr val="5A5A5A"/>
                </a:solidFill>
              </a:defRPr>
            </a:pPr>
            <a:r>
              <a:rPr sz="1350" b="0" i="0">
                <a:solidFill>
                  <a:srgbClr val="5A5A5A"/>
                </a:solidFill>
              </a:rPr>
              <a:t>3. Validation RMSE: 1.2649, 1.2723, 1.2817.</a:t>
            </a:r>
          </a:p>
          <a:p xmlns:a="http://schemas.openxmlformats.org/drawingml/2006/main">
            <a:pPr algn="l">
              <a:buNone/>
              <a:defRPr sz="1350" b="0" i="0">
                <a:solidFill>
                  <a:srgbClr val="5A5A5A"/>
                </a:solidFill>
              </a:defRPr>
            </a:pPr>
            <a:r>
              <a:rPr sz="1350" b="0" i="0">
                <a:solidFill>
                  <a:srgbClr val="5A5A5A"/>
                </a:solidFill>
              </a:rPr>
              <a:t>4. Select 30; evaluate once on untouched outer test.</a:t>
            </a:r>
          </a:p>
        </p:txBody>
      </p:sp>
      <p:sp>
        <p:nvSpPr>
          <p:cNvPr id="41" name="text">
            <a:extLst xmlns:a="http://schemas.openxmlformats.org/drawingml/2006/main">
              <a:ext uri="{FF2B5EF4-FFF2-40B4-BE49-F238E27FC236}">
                <a16:creationId xmlns:a16="http://schemas.microsoft.com/office/drawing/2014/main" id="{41A5895D-B423-4561-8F66-67D7BEE2C9A6}"/>
              </a:ext>
            </a:extLst>
          </p:cNvPr>
          <p:cNvSpPr>
            <a:spLocks xmlns:a="http://schemas.openxmlformats.org/drawingml/2006/main" noGrp="1"/>
          </p:cNvSpPr>
          <p:nvPr/>
        </p:nvSpPr>
        <p:spPr>
          <a:xfrm xmlns:a="http://schemas.openxmlformats.org/drawingml/2006/main">
            <a:off x="6858000" y="4953000"/>
            <a:ext cx="4724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i="0">
                <a:solidFill>
                  <a:srgbClr val="1A1A1A"/>
                </a:solidFill>
              </a:defRPr>
            </a:pPr>
            <a:r>
              <a:rPr sz="1350" b="1" i="0">
                <a:solidFill>
                  <a:srgbClr val="1A1A1A"/>
                </a:solidFill>
              </a:rPr>
              <a:t>Final configuration: 30 factors · 20 epochs · learning rate 0.005 · regularization 0.02 · seed 42</a:t>
            </a:r>
          </a:p>
        </p:txBody>
      </p:sp>
      <p:sp>
        <p:nvSpPr>
          <p:cNvPr id="42" name="text">
            <a:extLst xmlns:a="http://schemas.openxmlformats.org/drawingml/2006/main">
              <a:ext uri="{FF2B5EF4-FFF2-40B4-BE49-F238E27FC236}">
                <a16:creationId xmlns:a16="http://schemas.microsoft.com/office/drawing/2014/main" id="{5EB96587-04D9-4F93-88F0-C02BC78796C1}"/>
              </a:ext>
            </a:extLst>
          </p:cNvPr>
          <p:cNvSpPr>
            <a:spLocks xmlns:a="http://schemas.openxmlformats.org/drawingml/2006/main" noGrp="1"/>
          </p:cNvSpPr>
          <p:nvPr/>
        </p:nvSpPr>
        <p:spPr>
          <a:xfrm xmlns:a="http://schemas.openxmlformats.org/drawingml/2006/main">
            <a:off x="609600" y="5572125"/>
            <a:ext cx="10972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0" i="0">
                <a:solidFill>
                  <a:srgbClr val="8A8178"/>
                </a:solidFill>
              </a:defRPr>
            </a:pPr>
            <a:r>
              <a:rPr sz="1125" b="0" i="0">
                <a:solidFill>
                  <a:srgbClr val="8A8178"/>
                </a:solidFill>
              </a:rPr>
              <a:t>Sampling and k-core define model scope, not extra cleaning. The random split is not temporal forecasting.</a:t>
            </a:r>
          </a:p>
        </p:txBody>
      </p:sp>
    </p:spTree>
    <p:extLst>
      <p:ext uri="{BB962C8B-B14F-4D97-AF65-F5344CB8AC3E}">
        <p14:creationId xmlns:p14="http://schemas.microsoft.com/office/powerpoint/2010/main" val="2013493040"/>
      </p:ext>
    </p:extLst>
  </p:cSld>
</p:sld>
</file>

<file path=ppt/slides/slide11.xml><?xml version="1.0" encoding="utf-8"?>
<p:sld xmlns:p="http://schemas.openxmlformats.org/presentationml/2006/main">
  <p:cSld>
    <p:bg>
      <p:bgPr>
        <a:solidFill xmlns:a="http://schemas.openxmlformats.org/drawingml/2006/main">
          <a:srgbClr val="EDE8E0"/>
        </a:solidFill>
      </p:bgPr>
    </p:bg>
    <p:spTree>
      <p:nvGrpSpPr>
        <p:cNvPr id="1" name=""/>
        <p:cNvGrpSpPr/>
        <p:nvPr/>
      </p:nvGrpSpPr>
      <p:grpSpPr>
        <a:xfrm xmlns:a="http://schemas.openxmlformats.org/drawingml/2006/main"/>
      </p:grpSpPr>
      <p:sp>
        <p:nvSpPr>
          <p:cNvPr id="21" name="outer-ring">
            <a:extLst xmlns:a="http://schemas.openxmlformats.org/drawingml/2006/main">
              <a:ext uri="{FF2B5EF4-FFF2-40B4-BE49-F238E27FC236}">
                <a16:creationId xmlns:a16="http://schemas.microsoft.com/office/drawing/2014/main" id="{4964A4AE-E4D9-4EE6-90E4-D7C8F967BB91}"/>
              </a:ext>
            </a:extLst>
          </p:cNvPr>
          <p:cNvSpPr>
            <a:spLocks xmlns:a="http://schemas.openxmlformats.org/drawingml/2006/main" noGrp="1"/>
          </p:cNvSpPr>
          <p:nvPr/>
        </p:nvSpPr>
        <p:spPr>
          <a:xfrm xmlns:a="http://schemas.openxmlformats.org/drawingml/2006/main">
            <a:off x="9620250" y="-1143000"/>
            <a:ext cx="3714750" cy="3714750"/>
          </a:xfrm>
          <a:prstGeom xmlns:a="http://schemas.openxmlformats.org/drawingml/2006/main" prst="rect">
            <a:avLst/>
          </a:prstGeom>
          <a:noFill xmlns:a="http://schemas.openxmlformats.org/drawingml/2006/main"/>
          <a:ln xmlns:a="http://schemas.openxmlformats.org/drawingml/2006/main" w="9525">
            <a:solidFill>
              <a:srgbClr val="B8B0A4"/>
            </a:solidFill>
            <a:prstDash val="solid"/>
          </a:ln>
        </p:spPr>
      </p:sp>
      <p:sp>
        <p:nvSpPr>
          <p:cNvPr id="2" name="inner-ring">
            <a:extLst xmlns:a="http://schemas.openxmlformats.org/drawingml/2006/main">
              <a:ext uri="{FF2B5EF4-FFF2-40B4-BE49-F238E27FC236}">
                <a16:creationId xmlns:a16="http://schemas.microsoft.com/office/drawing/2014/main" id="{B251B207-B82D-4410-9C82-C0270752F6BC}"/>
              </a:ext>
            </a:extLst>
          </p:cNvPr>
          <p:cNvSpPr>
            <a:spLocks xmlns:a="http://schemas.openxmlformats.org/drawingml/2006/main" noGrp="1"/>
          </p:cNvSpPr>
          <p:nvPr/>
        </p:nvSpPr>
        <p:spPr>
          <a:xfrm xmlns:a="http://schemas.openxmlformats.org/drawingml/2006/main">
            <a:off x="10191750" y="-571500"/>
            <a:ext cx="2571750" cy="2571750"/>
          </a:xfrm>
          <a:prstGeom xmlns:a="http://schemas.openxmlformats.org/drawingml/2006/main" prst="rect">
            <a:avLst/>
          </a:prstGeom>
          <a:noFill xmlns:a="http://schemas.openxmlformats.org/drawingml/2006/main"/>
          <a:ln xmlns:a="http://schemas.openxmlformats.org/drawingml/2006/main" w="9525">
            <a:solidFill>
              <a:srgbClr val="B8B0A4"/>
            </a:solidFill>
            <a:prstDash val="solid"/>
          </a:ln>
        </p:spPr>
      </p:sp>
      <p:sp>
        <p:nvSpPr>
          <p:cNvPr id="3" name="eyebrow">
            <a:extLst xmlns:a="http://schemas.openxmlformats.org/drawingml/2006/main">
              <a:ext uri="{FF2B5EF4-FFF2-40B4-BE49-F238E27FC236}">
                <a16:creationId xmlns:a16="http://schemas.microsoft.com/office/drawing/2014/main" id="{036BEDEB-15AD-4EB8-8EBD-480B8B6AADA6}"/>
              </a:ext>
            </a:extLst>
          </p:cNvPr>
          <p:cNvSpPr>
            <a:spLocks xmlns:a="http://schemas.openxmlformats.org/drawingml/2006/main" noGrp="1"/>
          </p:cNvSpPr>
          <p:nvPr/>
        </p:nvSpPr>
        <p:spPr>
          <a:xfrm xmlns:a="http://schemas.openxmlformats.org/drawingml/2006/main">
            <a:off x="609600" y="4000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i="0">
                <a:solidFill>
                  <a:srgbClr val="8A8178"/>
                </a:solidFill>
              </a:defRPr>
            </a:pPr>
            <a:r>
              <a:rPr sz="975" b="1" i="0">
                <a:solidFill>
                  <a:srgbClr val="8A8178"/>
                </a:solidFill>
              </a:rPr>
              <a:t>EVALUATION PROTOCOL</a:t>
            </a:r>
          </a:p>
        </p:txBody>
      </p:sp>
      <p:sp>
        <p:nvSpPr>
          <p:cNvPr id="4" name="title">
            <a:extLst xmlns:a="http://schemas.openxmlformats.org/drawingml/2006/main">
              <a:ext uri="{FF2B5EF4-FFF2-40B4-BE49-F238E27FC236}">
                <a16:creationId xmlns:a16="http://schemas.microsoft.com/office/drawing/2014/main" id="{6BB0A515-2B2A-4723-B55C-7271631859F6}"/>
              </a:ext>
            </a:extLst>
          </p:cNvPr>
          <p:cNvSpPr>
            <a:spLocks xmlns:a="http://schemas.openxmlformats.org/drawingml/2006/main" noGrp="1"/>
          </p:cNvSpPr>
          <p:nvPr/>
        </p:nvSpPr>
        <p:spPr>
          <a:xfrm xmlns:a="http://schemas.openxmlformats.org/drawingml/2006/main">
            <a:off x="609600" y="723900"/>
            <a:ext cx="10668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150" b="0" i="0">
                <a:solidFill>
                  <a:srgbClr val="1A1A1A"/>
                </a:solidFill>
              </a:defRPr>
            </a:pPr>
            <a:r>
              <a:rPr sz="3150" b="0" i="0">
                <a:solidFill>
                  <a:srgbClr val="1A1A1A"/>
                </a:solidFill>
              </a:rPr>
              <a:t>Four metrics answer two questions under a stated candidate set</a:t>
            </a:r>
          </a:p>
        </p:txBody>
      </p:sp>
      <p:sp>
        <p:nvSpPr>
          <p:cNvPr id="5" name="rule">
            <a:extLst xmlns:a="http://schemas.openxmlformats.org/drawingml/2006/main">
              <a:ext uri="{FF2B5EF4-FFF2-40B4-BE49-F238E27FC236}">
                <a16:creationId xmlns:a16="http://schemas.microsoft.com/office/drawing/2014/main" id="{0AAFB4CC-5B63-4C86-899C-C5A96D4C2C08}"/>
              </a:ext>
            </a:extLst>
          </p:cNvPr>
          <p:cNvSpPr>
            <a:spLocks xmlns:a="http://schemas.openxmlformats.org/drawingml/2006/main" noGrp="1"/>
          </p:cNvSpPr>
          <p:nvPr/>
        </p:nvSpPr>
        <p:spPr>
          <a:xfrm xmlns:a="http://schemas.openxmlformats.org/drawingml/2006/main">
            <a:off x="609600" y="6429375"/>
            <a:ext cx="10972800" cy="9525"/>
          </a:xfrm>
          <a:prstGeom xmlns:a="http://schemas.openxmlformats.org/drawingml/2006/main" prst="rect">
            <a:avLst/>
          </a:prstGeom>
          <a:solidFill xmlns:a="http://schemas.openxmlformats.org/drawingml/2006/main">
            <a:srgbClr val="B8B0A4"/>
          </a:solidFill>
          <a:ln xmlns:a="http://schemas.openxmlformats.org/drawingml/2006/main" w="9525">
            <a:solidFill>
              <a:srgbClr val="B8B0A4"/>
            </a:solidFill>
            <a:prstDash val="solid"/>
          </a:ln>
        </p:spPr>
      </p:sp>
      <p:sp>
        <p:nvSpPr>
          <p:cNvPr id="6" name="text">
            <a:extLst xmlns:a="http://schemas.openxmlformats.org/drawingml/2006/main">
              <a:ext uri="{FF2B5EF4-FFF2-40B4-BE49-F238E27FC236}">
                <a16:creationId xmlns:a16="http://schemas.microsoft.com/office/drawing/2014/main" id="{4712CB74-3AD4-438A-B768-E1540C6C3B3D}"/>
              </a:ext>
            </a:extLst>
          </p:cNvPr>
          <p:cNvSpPr>
            <a:spLocks xmlns:a="http://schemas.openxmlformats.org/drawingml/2006/main" noGrp="1"/>
          </p:cNvSpPr>
          <p:nvPr/>
        </p:nvSpPr>
        <p:spPr>
          <a:xfrm xmlns:a="http://schemas.openxmlformats.org/drawingml/2006/main">
            <a:off x="609600" y="652462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1" i="0">
                <a:solidFill>
                  <a:srgbClr val="8A8178"/>
                </a:solidFill>
              </a:defRPr>
            </a:pPr>
            <a:r>
              <a:rPr sz="750" b="1" i="0">
                <a:solidFill>
                  <a:srgbClr val="8A8178"/>
                </a:solidFill>
              </a:rPr>
              <a:t>GROUP 14 · DUY TAN UNIVERSITY, DA NANG</a:t>
            </a:r>
          </a:p>
        </p:txBody>
      </p:sp>
      <p:sp>
        <p:nvSpPr>
          <p:cNvPr id="7" name="text">
            <a:extLst xmlns:a="http://schemas.openxmlformats.org/drawingml/2006/main">
              <a:ext uri="{FF2B5EF4-FFF2-40B4-BE49-F238E27FC236}">
                <a16:creationId xmlns:a16="http://schemas.microsoft.com/office/drawing/2014/main" id="{19EFB2B2-AE4A-44E1-9E61-4BFBDDAB16CD}"/>
              </a:ext>
            </a:extLst>
          </p:cNvPr>
          <p:cNvSpPr>
            <a:spLocks xmlns:a="http://schemas.openxmlformats.org/drawingml/2006/main" noGrp="1"/>
          </p:cNvSpPr>
          <p:nvPr/>
        </p:nvSpPr>
        <p:spPr>
          <a:xfrm xmlns:a="http://schemas.openxmlformats.org/drawingml/2006/main">
            <a:off x="11144250" y="65246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750" b="0" i="0">
                <a:solidFill>
                  <a:srgbClr val="8A8178"/>
                </a:solidFill>
              </a:defRPr>
            </a:pPr>
            <a:r>
              <a:rPr sz="750" b="0" i="0">
                <a:solidFill>
                  <a:srgbClr val="8A8178"/>
                </a:solidFill>
              </a:rPr>
              <a:t>11</a:t>
            </a:r>
          </a:p>
        </p:txBody>
      </p:sp>
      <p:sp>
        <p:nvSpPr>
          <p:cNvPr id="8" name="rule">
            <a:extLst xmlns:a="http://schemas.openxmlformats.org/drawingml/2006/main">
              <a:ext uri="{FF2B5EF4-FFF2-40B4-BE49-F238E27FC236}">
                <a16:creationId xmlns:a16="http://schemas.microsoft.com/office/drawing/2014/main" id="{A5C41AE4-5ED1-480D-8FB1-B553B35F617E}"/>
              </a:ext>
            </a:extLst>
          </p:cNvPr>
          <p:cNvSpPr>
            <a:spLocks xmlns:a="http://schemas.openxmlformats.org/drawingml/2006/main" noGrp="1"/>
          </p:cNvSpPr>
          <p:nvPr/>
        </p:nvSpPr>
        <p:spPr>
          <a:xfrm xmlns:a="http://schemas.openxmlformats.org/drawingml/2006/main">
            <a:off x="609600" y="1666875"/>
            <a:ext cx="5095875" cy="9525"/>
          </a:xfrm>
          <a:prstGeom xmlns:a="http://schemas.openxmlformats.org/drawingml/2006/main" prst="rect">
            <a:avLst/>
          </a:prstGeom>
          <a:solidFill xmlns:a="http://schemas.openxmlformats.org/drawingml/2006/main">
            <a:srgbClr val="1A1A1A"/>
          </a:solidFill>
          <a:ln xmlns:a="http://schemas.openxmlformats.org/drawingml/2006/main" w="9525">
            <a:solidFill>
              <a:srgbClr val="1A1A1A"/>
            </a:solidFill>
            <a:prstDash val="solid"/>
          </a:ln>
        </p:spPr>
      </p:sp>
      <p:sp>
        <p:nvSpPr>
          <p:cNvPr id="9" name="text">
            <a:extLst xmlns:a="http://schemas.openxmlformats.org/drawingml/2006/main">
              <a:ext uri="{FF2B5EF4-FFF2-40B4-BE49-F238E27FC236}">
                <a16:creationId xmlns:a16="http://schemas.microsoft.com/office/drawing/2014/main" id="{624E0244-DEA8-4A67-BF0B-8ADDC7D6DB6D}"/>
              </a:ext>
            </a:extLst>
          </p:cNvPr>
          <p:cNvSpPr>
            <a:spLocks xmlns:a="http://schemas.openxmlformats.org/drawingml/2006/main" noGrp="1"/>
          </p:cNvSpPr>
          <p:nvPr/>
        </p:nvSpPr>
        <p:spPr>
          <a:xfrm xmlns:a="http://schemas.openxmlformats.org/drawingml/2006/main">
            <a:off x="609600" y="1781175"/>
            <a:ext cx="50958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i="0">
                <a:solidFill>
                  <a:srgbClr val="1A1A1A"/>
                </a:solidFill>
              </a:defRPr>
            </a:pPr>
            <a:r>
              <a:rPr sz="1650" b="0" i="0">
                <a:solidFill>
                  <a:srgbClr val="1A1A1A"/>
                </a:solidFill>
              </a:rPr>
              <a:t>Rating prediction</a:t>
            </a:r>
          </a:p>
        </p:txBody>
      </p:sp>
      <p:sp>
        <p:nvSpPr>
          <p:cNvPr id="10" name="text">
            <a:extLst xmlns:a="http://schemas.openxmlformats.org/drawingml/2006/main">
              <a:ext uri="{FF2B5EF4-FFF2-40B4-BE49-F238E27FC236}">
                <a16:creationId xmlns:a16="http://schemas.microsoft.com/office/drawing/2014/main" id="{651B6AA7-AC30-437F-A9E4-C43610CB6C26}"/>
              </a:ext>
            </a:extLst>
          </p:cNvPr>
          <p:cNvSpPr>
            <a:spLocks xmlns:a="http://schemas.openxmlformats.org/drawingml/2006/main" noGrp="1"/>
          </p:cNvSpPr>
          <p:nvPr/>
        </p:nvSpPr>
        <p:spPr>
          <a:xfrm xmlns:a="http://schemas.openxmlformats.org/drawingml/2006/main">
            <a:off x="609600" y="2162175"/>
            <a:ext cx="5095875"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i="0">
                <a:solidFill>
                  <a:srgbClr val="5A5A5A"/>
                </a:solidFill>
              </a:defRPr>
            </a:pPr>
            <a:r>
              <a:rPr sz="1350" b="0" i="0">
                <a:solidFill>
                  <a:srgbClr val="5A5A5A"/>
                </a:solidFill>
              </a:rPr>
              <a:t>RMSE = √[(1/n)Σ(rᵤᵢ−r̂ᵤᵢ)²]</a:t>
            </a:r>
          </a:p>
          <a:p xmlns:a="http://schemas.openxmlformats.org/drawingml/2006/main">
            <a:pPr algn="l">
              <a:buNone/>
              <a:defRPr sz="1350" b="0" i="0">
                <a:solidFill>
                  <a:srgbClr val="5A5A5A"/>
                </a:solidFill>
              </a:defRPr>
            </a:pPr>
            <a:r>
              <a:rPr sz="1350" b="0" i="0">
                <a:solidFill>
                  <a:srgbClr val="5A5A5A"/>
                </a:solidFill>
              </a:rPr>
              <a:t>MAE = (1/n)Σ|rᵤᵢ−r̂ᵤᵢ|</a:t>
            </a:r>
          </a:p>
          <a:p xmlns:a="http://schemas.openxmlformats.org/drawingml/2006/main">
            <a:r>
              <a:t/>
            </a:r>
          </a:p>
          <a:p xmlns:a="http://schemas.openxmlformats.org/drawingml/2006/main">
            <a:pPr algn="l">
              <a:buNone/>
              <a:defRPr sz="1350" b="0" i="0">
                <a:solidFill>
                  <a:srgbClr val="5A5A5A"/>
                </a:solidFill>
              </a:defRPr>
            </a:pPr>
            <a:r>
              <a:rPr sz="1350" b="0" i="0">
                <a:solidFill>
                  <a:srgbClr val="5A5A5A"/>
                </a:solidFill>
              </a:rPr>
              <a:t>Both compare predicted and true held-out 1–10 ratings; lower is better.</a:t>
            </a:r>
          </a:p>
        </p:txBody>
      </p:sp>
      <p:sp>
        <p:nvSpPr>
          <p:cNvPr id="11" name="rule">
            <a:extLst xmlns:a="http://schemas.openxmlformats.org/drawingml/2006/main">
              <a:ext uri="{FF2B5EF4-FFF2-40B4-BE49-F238E27FC236}">
                <a16:creationId xmlns:a16="http://schemas.microsoft.com/office/drawing/2014/main" id="{A2512C3B-2E7F-46C6-A3A2-1F8CAEBC05C4}"/>
              </a:ext>
            </a:extLst>
          </p:cNvPr>
          <p:cNvSpPr>
            <a:spLocks xmlns:a="http://schemas.openxmlformats.org/drawingml/2006/main" noGrp="1"/>
          </p:cNvSpPr>
          <p:nvPr/>
        </p:nvSpPr>
        <p:spPr>
          <a:xfrm xmlns:a="http://schemas.openxmlformats.org/drawingml/2006/main">
            <a:off x="6486525" y="1666875"/>
            <a:ext cx="5095875" cy="9525"/>
          </a:xfrm>
          <a:prstGeom xmlns:a="http://schemas.openxmlformats.org/drawingml/2006/main" prst="rect">
            <a:avLst/>
          </a:prstGeom>
          <a:solidFill xmlns:a="http://schemas.openxmlformats.org/drawingml/2006/main">
            <a:srgbClr val="1A1A1A"/>
          </a:solidFill>
          <a:ln xmlns:a="http://schemas.openxmlformats.org/drawingml/2006/main" w="9525">
            <a:solidFill>
              <a:srgbClr val="1A1A1A"/>
            </a:solidFill>
            <a:prstDash val="solid"/>
          </a:ln>
        </p:spPr>
      </p:sp>
      <p:sp>
        <p:nvSpPr>
          <p:cNvPr id="12" name="text">
            <a:extLst xmlns:a="http://schemas.openxmlformats.org/drawingml/2006/main">
              <a:ext uri="{FF2B5EF4-FFF2-40B4-BE49-F238E27FC236}">
                <a16:creationId xmlns:a16="http://schemas.microsoft.com/office/drawing/2014/main" id="{7E5D1019-6EA9-4C19-82EE-3C0FCF57AE4B}"/>
              </a:ext>
            </a:extLst>
          </p:cNvPr>
          <p:cNvSpPr>
            <a:spLocks xmlns:a="http://schemas.openxmlformats.org/drawingml/2006/main" noGrp="1"/>
          </p:cNvSpPr>
          <p:nvPr/>
        </p:nvSpPr>
        <p:spPr>
          <a:xfrm xmlns:a="http://schemas.openxmlformats.org/drawingml/2006/main">
            <a:off x="6486525" y="1781175"/>
            <a:ext cx="50958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i="0">
                <a:solidFill>
                  <a:srgbClr val="1A1A1A"/>
                </a:solidFill>
              </a:defRPr>
            </a:pPr>
            <a:r>
              <a:rPr sz="1650" b="0" i="0">
                <a:solidFill>
                  <a:srgbClr val="1A1A1A"/>
                </a:solidFill>
              </a:rPr>
              <a:t>Ranking at K = 10</a:t>
            </a:r>
          </a:p>
        </p:txBody>
      </p:sp>
      <p:sp>
        <p:nvSpPr>
          <p:cNvPr id="13" name="text">
            <a:extLst xmlns:a="http://schemas.openxmlformats.org/drawingml/2006/main">
              <a:ext uri="{FF2B5EF4-FFF2-40B4-BE49-F238E27FC236}">
                <a16:creationId xmlns:a16="http://schemas.microsoft.com/office/drawing/2014/main" id="{278D66D2-E47D-4C62-A44F-1529809FAB3D}"/>
              </a:ext>
            </a:extLst>
          </p:cNvPr>
          <p:cNvSpPr>
            <a:spLocks xmlns:a="http://schemas.openxmlformats.org/drawingml/2006/main" noGrp="1"/>
          </p:cNvSpPr>
          <p:nvPr/>
        </p:nvSpPr>
        <p:spPr>
          <a:xfrm xmlns:a="http://schemas.openxmlformats.org/drawingml/2006/main">
            <a:off x="6486525" y="2162175"/>
            <a:ext cx="5095875"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i="0">
                <a:solidFill>
                  <a:srgbClr val="5A5A5A"/>
                </a:solidFill>
              </a:defRPr>
            </a:pPr>
            <a:r>
              <a:rPr sz="1350" b="0" i="0">
                <a:solidFill>
                  <a:srgbClr val="5A5A5A"/>
                </a:solidFill>
              </a:rPr>
              <a:t>Relevance: true held-out rating ≥8.</a:t>
            </a:r>
          </a:p>
          <a:p xmlns:a="http://schemas.openxmlformats.org/drawingml/2006/main">
            <a:pPr algn="l">
              <a:buNone/>
              <a:defRPr sz="1350" b="0" i="0">
                <a:solidFill>
                  <a:srgbClr val="5A5A5A"/>
                </a:solidFill>
              </a:defRPr>
            </a:pPr>
            <a:r>
              <a:rPr sz="1350" b="0" i="0">
                <a:solidFill>
                  <a:srgbClr val="5A5A5A"/>
                </a:solidFill>
              </a:rPr>
              <a:t>Precision@10: relevant among 10 highest-predicted held-out items.</a:t>
            </a:r>
          </a:p>
          <a:p xmlns:a="http://schemas.openxmlformats.org/drawingml/2006/main">
            <a:pPr algn="l">
              <a:buNone/>
              <a:defRPr sz="1350" b="0" i="0">
                <a:solidFill>
                  <a:srgbClr val="5A5A5A"/>
                </a:solidFill>
              </a:defRPr>
            </a:pPr>
            <a:r>
              <a:rPr sz="1350" b="0" i="0">
                <a:solidFill>
                  <a:srgbClr val="5A5A5A"/>
                </a:solidFill>
              </a:rPr>
              <a:t>Recall@10: share of relevant held-out items recovered.</a:t>
            </a:r>
          </a:p>
        </p:txBody>
      </p:sp>
      <p:sp>
        <p:nvSpPr>
          <p:cNvPr id="14" name="text">
            <a:extLst xmlns:a="http://schemas.openxmlformats.org/drawingml/2006/main">
              <a:ext uri="{FF2B5EF4-FFF2-40B4-BE49-F238E27FC236}">
                <a16:creationId xmlns:a16="http://schemas.microsoft.com/office/drawing/2014/main" id="{CED5190B-11A2-4610-9443-9333F0F77E60}"/>
              </a:ext>
            </a:extLst>
          </p:cNvPr>
          <p:cNvSpPr>
            <a:spLocks xmlns:a="http://schemas.openxmlformats.org/drawingml/2006/main" noGrp="1"/>
          </p:cNvSpPr>
          <p:nvPr/>
        </p:nvSpPr>
        <p:spPr>
          <a:xfrm xmlns:a="http://schemas.openxmlformats.org/drawingml/2006/main">
            <a:off x="609600" y="4048125"/>
            <a:ext cx="3143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450" b="0" i="0">
                <a:solidFill>
                  <a:srgbClr val="1A1A1A"/>
                </a:solidFill>
              </a:defRPr>
            </a:pPr>
            <a:r>
              <a:rPr sz="3450" b="0" i="0">
                <a:solidFill>
                  <a:srgbClr val="1A1A1A"/>
                </a:solidFill>
              </a:rPr>
              <a:t>4,802</a:t>
            </a:r>
          </a:p>
        </p:txBody>
      </p:sp>
      <p:sp>
        <p:nvSpPr>
          <p:cNvPr id="15" name="text">
            <a:extLst xmlns:a="http://schemas.openxmlformats.org/drawingml/2006/main">
              <a:ext uri="{FF2B5EF4-FFF2-40B4-BE49-F238E27FC236}">
                <a16:creationId xmlns:a16="http://schemas.microsoft.com/office/drawing/2014/main" id="{214669E6-68A4-4472-A4C4-404643BCCD51}"/>
              </a:ext>
            </a:extLst>
          </p:cNvPr>
          <p:cNvSpPr>
            <a:spLocks xmlns:a="http://schemas.openxmlformats.org/drawingml/2006/main" noGrp="1"/>
          </p:cNvSpPr>
          <p:nvPr/>
        </p:nvSpPr>
        <p:spPr>
          <a:xfrm xmlns:a="http://schemas.openxmlformats.org/drawingml/2006/main">
            <a:off x="609600" y="4714875"/>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0" i="0">
                <a:solidFill>
                  <a:srgbClr val="5A5A5A"/>
                </a:solidFill>
              </a:defRPr>
            </a:pPr>
            <a:r>
              <a:rPr sz="1275" b="0" i="0">
                <a:solidFill>
                  <a:srgbClr val="5A5A5A"/>
                </a:solidFill>
              </a:rPr>
              <a:t>eligible users</a:t>
            </a:r>
          </a:p>
        </p:txBody>
      </p:sp>
      <p:sp>
        <p:nvSpPr>
          <p:cNvPr id="16" name="text">
            <a:extLst xmlns:a="http://schemas.openxmlformats.org/drawingml/2006/main">
              <a:ext uri="{FF2B5EF4-FFF2-40B4-BE49-F238E27FC236}">
                <a16:creationId xmlns:a16="http://schemas.microsoft.com/office/drawing/2014/main" id="{ADC0148C-355C-455D-99C8-F9DBCFF85D4A}"/>
              </a:ext>
            </a:extLst>
          </p:cNvPr>
          <p:cNvSpPr>
            <a:spLocks xmlns:a="http://schemas.openxmlformats.org/drawingml/2006/main" noGrp="1"/>
          </p:cNvSpPr>
          <p:nvPr/>
        </p:nvSpPr>
        <p:spPr>
          <a:xfrm xmlns:a="http://schemas.openxmlformats.org/drawingml/2006/main">
            <a:off x="4410075" y="4048125"/>
            <a:ext cx="3143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450" b="0" i="0">
                <a:solidFill>
                  <a:srgbClr val="1A1A1A"/>
                </a:solidFill>
              </a:defRPr>
            </a:pPr>
            <a:r>
              <a:rPr sz="3450" b="0" i="0">
                <a:solidFill>
                  <a:srgbClr val="1A1A1A"/>
                </a:solidFill>
              </a:rPr>
              <a:t>32,911</a:t>
            </a:r>
          </a:p>
        </p:txBody>
      </p:sp>
      <p:sp>
        <p:nvSpPr>
          <p:cNvPr id="17" name="text">
            <a:extLst xmlns:a="http://schemas.openxmlformats.org/drawingml/2006/main">
              <a:ext uri="{FF2B5EF4-FFF2-40B4-BE49-F238E27FC236}">
                <a16:creationId xmlns:a16="http://schemas.microsoft.com/office/drawing/2014/main" id="{36E2BB16-C065-4B59-A6E8-13314F31DBD5}"/>
              </a:ext>
            </a:extLst>
          </p:cNvPr>
          <p:cNvSpPr>
            <a:spLocks xmlns:a="http://schemas.openxmlformats.org/drawingml/2006/main" noGrp="1"/>
          </p:cNvSpPr>
          <p:nvPr/>
        </p:nvSpPr>
        <p:spPr>
          <a:xfrm xmlns:a="http://schemas.openxmlformats.org/drawingml/2006/main">
            <a:off x="4410075" y="4714875"/>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0" i="0">
                <a:solidFill>
                  <a:srgbClr val="5A5A5A"/>
                </a:solidFill>
              </a:defRPr>
            </a:pPr>
            <a:r>
              <a:rPr sz="1275" b="0" i="0">
                <a:solidFill>
                  <a:srgbClr val="5A5A5A"/>
                </a:solidFill>
              </a:rPr>
              <a:t>fewer than 10 test items</a:t>
            </a:r>
          </a:p>
        </p:txBody>
      </p:sp>
      <p:sp>
        <p:nvSpPr>
          <p:cNvPr id="18" name="text">
            <a:extLst xmlns:a="http://schemas.openxmlformats.org/drawingml/2006/main">
              <a:ext uri="{FF2B5EF4-FFF2-40B4-BE49-F238E27FC236}">
                <a16:creationId xmlns:a16="http://schemas.microsoft.com/office/drawing/2014/main" id="{70338E02-E81E-441E-A032-D4178DC59909}"/>
              </a:ext>
            </a:extLst>
          </p:cNvPr>
          <p:cNvSpPr>
            <a:spLocks xmlns:a="http://schemas.openxmlformats.org/drawingml/2006/main" noGrp="1"/>
          </p:cNvSpPr>
          <p:nvPr/>
        </p:nvSpPr>
        <p:spPr>
          <a:xfrm xmlns:a="http://schemas.openxmlformats.org/drawingml/2006/main">
            <a:off x="8210550" y="4048125"/>
            <a:ext cx="3143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450" b="0" i="0">
                <a:solidFill>
                  <a:srgbClr val="1A1A1A"/>
                </a:solidFill>
              </a:defRPr>
            </a:pPr>
            <a:r>
              <a:rPr sz="3450" b="0" i="0">
                <a:solidFill>
                  <a:srgbClr val="1A1A1A"/>
                </a:solidFill>
              </a:rPr>
              <a:t>35</a:t>
            </a:r>
          </a:p>
        </p:txBody>
      </p:sp>
      <p:sp>
        <p:nvSpPr>
          <p:cNvPr id="19" name="text">
            <a:extLst xmlns:a="http://schemas.openxmlformats.org/drawingml/2006/main">
              <a:ext uri="{FF2B5EF4-FFF2-40B4-BE49-F238E27FC236}">
                <a16:creationId xmlns:a16="http://schemas.microsoft.com/office/drawing/2014/main" id="{1D7E23DD-5B29-4369-81F4-39AD41363720}"/>
              </a:ext>
            </a:extLst>
          </p:cNvPr>
          <p:cNvSpPr>
            <a:spLocks xmlns:a="http://schemas.openxmlformats.org/drawingml/2006/main" noGrp="1"/>
          </p:cNvSpPr>
          <p:nvPr/>
        </p:nvSpPr>
        <p:spPr>
          <a:xfrm xmlns:a="http://schemas.openxmlformats.org/drawingml/2006/main">
            <a:off x="8210550" y="4714875"/>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0" i="0">
                <a:solidFill>
                  <a:srgbClr val="5A5A5A"/>
                </a:solidFill>
              </a:defRPr>
            </a:pPr>
            <a:r>
              <a:rPr sz="1275" b="0" i="0">
                <a:solidFill>
                  <a:srgbClr val="5A5A5A"/>
                </a:solidFill>
              </a:rPr>
              <a:t>no relevant test item</a:t>
            </a:r>
          </a:p>
        </p:txBody>
      </p:sp>
      <p:sp>
        <p:nvSpPr>
          <p:cNvPr id="20" name="text">
            <a:extLst xmlns:a="http://schemas.openxmlformats.org/drawingml/2006/main">
              <a:ext uri="{FF2B5EF4-FFF2-40B4-BE49-F238E27FC236}">
                <a16:creationId xmlns:a16="http://schemas.microsoft.com/office/drawing/2014/main" id="{2591E96B-8FC6-4FFE-B469-C1CE20BE4E6A}"/>
              </a:ext>
            </a:extLst>
          </p:cNvPr>
          <p:cNvSpPr>
            <a:spLocks xmlns:a="http://schemas.openxmlformats.org/drawingml/2006/main" noGrp="1"/>
          </p:cNvSpPr>
          <p:nvPr/>
        </p:nvSpPr>
        <p:spPr>
          <a:xfrm xmlns:a="http://schemas.openxmlformats.org/drawingml/2006/main">
            <a:off x="609600" y="5524500"/>
            <a:ext cx="10972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0" i="0">
                <a:solidFill>
                  <a:srgbClr val="1A1A1A"/>
                </a:solidFill>
              </a:defRPr>
            </a:pPr>
            <a:r>
              <a:rPr sz="1725" b="0" i="0">
                <a:solidFill>
                  <a:srgbClr val="1A1A1A"/>
                </a:solidFill>
              </a:rPr>
              <a:t>Scope boundary: held-out observed-item ranking—not every unseen anime in the full catalogue.</a:t>
            </a:r>
          </a:p>
        </p:txBody>
      </p:sp>
    </p:spTree>
    <p:extLst>
      <p:ext uri="{BB962C8B-B14F-4D97-AF65-F5344CB8AC3E}">
        <p14:creationId xmlns:p14="http://schemas.microsoft.com/office/powerpoint/2010/main" val="115440390"/>
      </p:ext>
    </p:extLst>
  </p:cSld>
</p:sld>
</file>

<file path=ppt/slides/slide12.xml><?xml version="1.0" encoding="utf-8"?>
<p:sld xmlns:p="http://schemas.openxmlformats.org/presentationml/2006/main">
  <p:cSld>
    <p:bg>
      <p:bgPr>
        <a:solidFill xmlns:a="http://schemas.openxmlformats.org/drawingml/2006/main">
          <a:srgbClr val="EDE8E0"/>
        </a:solidFill>
      </p:bgPr>
    </p:bg>
    <p:spTree>
      <p:nvGrpSpPr>
        <p:cNvPr id="1" name=""/>
        <p:cNvGrpSpPr/>
        <p:nvPr/>
      </p:nvGrpSpPr>
      <p:grpSpPr>
        <a:xfrm xmlns:a="http://schemas.openxmlformats.org/drawingml/2006/main"/>
      </p:grpSpPr>
      <p:sp>
        <p:nvSpPr>
          <p:cNvPr id="37" name="outer-ring">
            <a:extLst xmlns:a="http://schemas.openxmlformats.org/drawingml/2006/main">
              <a:ext uri="{FF2B5EF4-FFF2-40B4-BE49-F238E27FC236}">
                <a16:creationId xmlns:a16="http://schemas.microsoft.com/office/drawing/2014/main" id="{D6093ED9-821B-4C69-B913-5B969BE249EB}"/>
              </a:ext>
            </a:extLst>
          </p:cNvPr>
          <p:cNvSpPr>
            <a:spLocks xmlns:a="http://schemas.openxmlformats.org/drawingml/2006/main" noGrp="1"/>
          </p:cNvSpPr>
          <p:nvPr/>
        </p:nvSpPr>
        <p:spPr>
          <a:xfrm xmlns:a="http://schemas.openxmlformats.org/drawingml/2006/main">
            <a:off x="9620250" y="-1143000"/>
            <a:ext cx="3714750" cy="3714750"/>
          </a:xfrm>
          <a:prstGeom xmlns:a="http://schemas.openxmlformats.org/drawingml/2006/main" prst="rect">
            <a:avLst/>
          </a:prstGeom>
          <a:noFill xmlns:a="http://schemas.openxmlformats.org/drawingml/2006/main"/>
          <a:ln xmlns:a="http://schemas.openxmlformats.org/drawingml/2006/main" w="9525">
            <a:solidFill>
              <a:srgbClr val="B8B0A4"/>
            </a:solidFill>
            <a:prstDash val="solid"/>
          </a:ln>
        </p:spPr>
      </p:sp>
      <p:sp>
        <p:nvSpPr>
          <p:cNvPr id="2" name="inner-ring">
            <a:extLst xmlns:a="http://schemas.openxmlformats.org/drawingml/2006/main">
              <a:ext uri="{FF2B5EF4-FFF2-40B4-BE49-F238E27FC236}">
                <a16:creationId xmlns:a16="http://schemas.microsoft.com/office/drawing/2014/main" id="{BDC320E4-560A-4CA9-9FCC-341830AA031E}"/>
              </a:ext>
            </a:extLst>
          </p:cNvPr>
          <p:cNvSpPr>
            <a:spLocks xmlns:a="http://schemas.openxmlformats.org/drawingml/2006/main" noGrp="1"/>
          </p:cNvSpPr>
          <p:nvPr/>
        </p:nvSpPr>
        <p:spPr>
          <a:xfrm xmlns:a="http://schemas.openxmlformats.org/drawingml/2006/main">
            <a:off x="10191750" y="-571500"/>
            <a:ext cx="2571750" cy="2571750"/>
          </a:xfrm>
          <a:prstGeom xmlns:a="http://schemas.openxmlformats.org/drawingml/2006/main" prst="rect">
            <a:avLst/>
          </a:prstGeom>
          <a:noFill xmlns:a="http://schemas.openxmlformats.org/drawingml/2006/main"/>
          <a:ln xmlns:a="http://schemas.openxmlformats.org/drawingml/2006/main" w="9525">
            <a:solidFill>
              <a:srgbClr val="B8B0A4"/>
            </a:solidFill>
            <a:prstDash val="solid"/>
          </a:ln>
        </p:spPr>
      </p:sp>
      <p:sp>
        <p:nvSpPr>
          <p:cNvPr id="3" name="eyebrow">
            <a:extLst xmlns:a="http://schemas.openxmlformats.org/drawingml/2006/main">
              <a:ext uri="{FF2B5EF4-FFF2-40B4-BE49-F238E27FC236}">
                <a16:creationId xmlns:a16="http://schemas.microsoft.com/office/drawing/2014/main" id="{CC0A2989-6DDA-4C8A-839C-8E55D99B4877}"/>
              </a:ext>
            </a:extLst>
          </p:cNvPr>
          <p:cNvSpPr>
            <a:spLocks xmlns:a="http://schemas.openxmlformats.org/drawingml/2006/main" noGrp="1"/>
          </p:cNvSpPr>
          <p:nvPr/>
        </p:nvSpPr>
        <p:spPr>
          <a:xfrm xmlns:a="http://schemas.openxmlformats.org/drawingml/2006/main">
            <a:off x="609600" y="4000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i="0">
                <a:solidFill>
                  <a:srgbClr val="8A8178"/>
                </a:solidFill>
              </a:defRPr>
            </a:pPr>
            <a:r>
              <a:rPr sz="975" b="1" i="0">
                <a:solidFill>
                  <a:srgbClr val="8A8178"/>
                </a:solidFill>
              </a:rPr>
              <a:t>VERIFIED EVALUATION</a:t>
            </a:r>
          </a:p>
        </p:txBody>
      </p:sp>
      <p:sp>
        <p:nvSpPr>
          <p:cNvPr id="4" name="title">
            <a:extLst xmlns:a="http://schemas.openxmlformats.org/drawingml/2006/main">
              <a:ext uri="{FF2B5EF4-FFF2-40B4-BE49-F238E27FC236}">
                <a16:creationId xmlns:a16="http://schemas.microsoft.com/office/drawing/2014/main" id="{DDD86F1C-CB7F-4276-8930-F6337DCE4661}"/>
              </a:ext>
            </a:extLst>
          </p:cNvPr>
          <p:cNvSpPr>
            <a:spLocks xmlns:a="http://schemas.openxmlformats.org/drawingml/2006/main" noGrp="1"/>
          </p:cNvSpPr>
          <p:nvPr/>
        </p:nvSpPr>
        <p:spPr>
          <a:xfrm xmlns:a="http://schemas.openxmlformats.org/drawingml/2006/main">
            <a:off x="609600" y="723900"/>
            <a:ext cx="10668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150" b="0" i="0">
                <a:solidFill>
                  <a:srgbClr val="1A1A1A"/>
                </a:solidFill>
              </a:defRPr>
            </a:pPr>
            <a:r>
              <a:rPr sz="3150" b="0" i="0">
                <a:solidFill>
                  <a:srgbClr val="1A1A1A"/>
                </a:solidFill>
              </a:rPr>
              <a:t>SVD adds ranking evidence but only marginal rating-error gains</a:t>
            </a:r>
          </a:p>
        </p:txBody>
      </p:sp>
      <p:sp>
        <p:nvSpPr>
          <p:cNvPr id="5" name="rule">
            <a:extLst xmlns:a="http://schemas.openxmlformats.org/drawingml/2006/main">
              <a:ext uri="{FF2B5EF4-FFF2-40B4-BE49-F238E27FC236}">
                <a16:creationId xmlns:a16="http://schemas.microsoft.com/office/drawing/2014/main" id="{A56DACC6-1940-460A-891C-259FE6377C76}"/>
              </a:ext>
            </a:extLst>
          </p:cNvPr>
          <p:cNvSpPr>
            <a:spLocks xmlns:a="http://schemas.openxmlformats.org/drawingml/2006/main" noGrp="1"/>
          </p:cNvSpPr>
          <p:nvPr/>
        </p:nvSpPr>
        <p:spPr>
          <a:xfrm xmlns:a="http://schemas.openxmlformats.org/drawingml/2006/main">
            <a:off x="609600" y="6429375"/>
            <a:ext cx="10972800" cy="9525"/>
          </a:xfrm>
          <a:prstGeom xmlns:a="http://schemas.openxmlformats.org/drawingml/2006/main" prst="rect">
            <a:avLst/>
          </a:prstGeom>
          <a:solidFill xmlns:a="http://schemas.openxmlformats.org/drawingml/2006/main">
            <a:srgbClr val="B8B0A4"/>
          </a:solidFill>
          <a:ln xmlns:a="http://schemas.openxmlformats.org/drawingml/2006/main" w="9525">
            <a:solidFill>
              <a:srgbClr val="B8B0A4"/>
            </a:solidFill>
            <a:prstDash val="solid"/>
          </a:ln>
        </p:spPr>
      </p:sp>
      <p:sp>
        <p:nvSpPr>
          <p:cNvPr id="6" name="text">
            <a:extLst xmlns:a="http://schemas.openxmlformats.org/drawingml/2006/main">
              <a:ext uri="{FF2B5EF4-FFF2-40B4-BE49-F238E27FC236}">
                <a16:creationId xmlns:a16="http://schemas.microsoft.com/office/drawing/2014/main" id="{D169EB9D-96C7-4BE7-AD6C-CD94035500E4}"/>
              </a:ext>
            </a:extLst>
          </p:cNvPr>
          <p:cNvSpPr>
            <a:spLocks xmlns:a="http://schemas.openxmlformats.org/drawingml/2006/main" noGrp="1"/>
          </p:cNvSpPr>
          <p:nvPr/>
        </p:nvSpPr>
        <p:spPr>
          <a:xfrm xmlns:a="http://schemas.openxmlformats.org/drawingml/2006/main">
            <a:off x="609600" y="652462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1" i="0">
                <a:solidFill>
                  <a:srgbClr val="8A8178"/>
                </a:solidFill>
              </a:defRPr>
            </a:pPr>
            <a:r>
              <a:rPr sz="750" b="1" i="0">
                <a:solidFill>
                  <a:srgbClr val="8A8178"/>
                </a:solidFill>
              </a:rPr>
              <a:t>GROUP 14 · DUY TAN UNIVERSITY, DA NANG</a:t>
            </a:r>
          </a:p>
        </p:txBody>
      </p:sp>
      <p:sp>
        <p:nvSpPr>
          <p:cNvPr id="7" name="text">
            <a:extLst xmlns:a="http://schemas.openxmlformats.org/drawingml/2006/main">
              <a:ext uri="{FF2B5EF4-FFF2-40B4-BE49-F238E27FC236}">
                <a16:creationId xmlns:a16="http://schemas.microsoft.com/office/drawing/2014/main" id="{29F5CC92-D305-4CF2-A095-882A6826D7B5}"/>
              </a:ext>
            </a:extLst>
          </p:cNvPr>
          <p:cNvSpPr>
            <a:spLocks xmlns:a="http://schemas.openxmlformats.org/drawingml/2006/main" noGrp="1"/>
          </p:cNvSpPr>
          <p:nvPr/>
        </p:nvSpPr>
        <p:spPr>
          <a:xfrm xmlns:a="http://schemas.openxmlformats.org/drawingml/2006/main">
            <a:off x="11144250" y="65246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750" b="0" i="0">
                <a:solidFill>
                  <a:srgbClr val="8A8178"/>
                </a:solidFill>
              </a:defRPr>
            </a:pPr>
            <a:r>
              <a:rPr sz="750" b="0" i="0">
                <a:solidFill>
                  <a:srgbClr val="8A8178"/>
                </a:solidFill>
              </a:rPr>
              <a:t>12</a:t>
            </a:r>
          </a:p>
        </p:txBody>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772edcf3b09d4242"/>
          <a:stretch xmlns:a="http://schemas.openxmlformats.org/drawingml/2006/main"/>
        </p:blipFill>
        <p:spPr>
          <a:xfrm xmlns:a="http://schemas.openxmlformats.org/drawingml/2006/main">
            <a:off x="1119278" y="1571625"/>
            <a:ext cx="3981268" cy="2619375"/>
          </a:xfrm>
          <a:prstGeom xmlns:a="http://schemas.openxmlformats.org/drawingml/2006/main" prst="rect">
            <a:avLst/>
          </a:prstGeom>
        </p:spPr>
      </p:pic>
      <p:sp>
        <p:nvSpPr>
          <p:cNvPr id="9" name="image-frame">
            <a:extLst xmlns:a="http://schemas.openxmlformats.org/drawingml/2006/main">
              <a:ext uri="{FF2B5EF4-FFF2-40B4-BE49-F238E27FC236}">
                <a16:creationId xmlns:a16="http://schemas.microsoft.com/office/drawing/2014/main" id="{B9EF14D9-102D-4829-BFCD-946F98D227D8}"/>
              </a:ext>
            </a:extLst>
          </p:cNvPr>
          <p:cNvSpPr>
            <a:spLocks xmlns:a="http://schemas.openxmlformats.org/drawingml/2006/main" noGrp="1"/>
          </p:cNvSpPr>
          <p:nvPr/>
        </p:nvSpPr>
        <p:spPr>
          <a:xfrm xmlns:a="http://schemas.openxmlformats.org/drawingml/2006/main">
            <a:off x="609600" y="1571625"/>
            <a:ext cx="5000625" cy="2619375"/>
          </a:xfrm>
          <a:prstGeom xmlns:a="http://schemas.openxmlformats.org/drawingml/2006/main" prst="rect">
            <a:avLst/>
          </a:prstGeom>
          <a:noFill xmlns:a="http://schemas.openxmlformats.org/drawingml/2006/main"/>
          <a:ln xmlns:a="http://schemas.openxmlformats.org/drawingml/2006/main" w="9525">
            <a:solidFill>
              <a:srgbClr val="B8B0A4"/>
            </a:solidFill>
            <a:prstDash val="solid"/>
          </a:ln>
        </p:spPr>
      </p:sp>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f614f4075d3a41ed"/>
          <a:stretch xmlns:a="http://schemas.openxmlformats.org/drawingml/2006/main"/>
        </p:blipFill>
        <p:spPr>
          <a:xfrm xmlns:a="http://schemas.openxmlformats.org/drawingml/2006/main">
            <a:off x="7093177" y="1571625"/>
            <a:ext cx="3977821" cy="2619375"/>
          </a:xfrm>
          <a:prstGeom xmlns:a="http://schemas.openxmlformats.org/drawingml/2006/main" prst="rect">
            <a:avLst/>
          </a:prstGeom>
        </p:spPr>
      </p:pic>
      <p:sp>
        <p:nvSpPr>
          <p:cNvPr id="11" name="image-frame">
            <a:extLst xmlns:a="http://schemas.openxmlformats.org/drawingml/2006/main">
              <a:ext uri="{FF2B5EF4-FFF2-40B4-BE49-F238E27FC236}">
                <a16:creationId xmlns:a16="http://schemas.microsoft.com/office/drawing/2014/main" id="{428F74C5-9127-4E1C-8C07-B894CF0EADDB}"/>
              </a:ext>
            </a:extLst>
          </p:cNvPr>
          <p:cNvSpPr>
            <a:spLocks xmlns:a="http://schemas.openxmlformats.org/drawingml/2006/main" noGrp="1"/>
          </p:cNvSpPr>
          <p:nvPr/>
        </p:nvSpPr>
        <p:spPr>
          <a:xfrm xmlns:a="http://schemas.openxmlformats.org/drawingml/2006/main">
            <a:off x="6581775" y="1571625"/>
            <a:ext cx="5000625" cy="2619375"/>
          </a:xfrm>
          <a:prstGeom xmlns:a="http://schemas.openxmlformats.org/drawingml/2006/main" prst="rect">
            <a:avLst/>
          </a:prstGeom>
          <a:noFill xmlns:a="http://schemas.openxmlformats.org/drawingml/2006/main"/>
          <a:ln xmlns:a="http://schemas.openxmlformats.org/drawingml/2006/main" w="9525">
            <a:solidFill>
              <a:srgbClr val="B8B0A4"/>
            </a:solidFill>
            <a:prstDash val="solid"/>
          </a:ln>
        </p:spPr>
      </p:sp>
      <p:sp>
        <p:nvSpPr>
          <p:cNvPr id="12" name="text">
            <a:extLst xmlns:a="http://schemas.openxmlformats.org/drawingml/2006/main">
              <a:ext uri="{FF2B5EF4-FFF2-40B4-BE49-F238E27FC236}">
                <a16:creationId xmlns:a16="http://schemas.microsoft.com/office/drawing/2014/main" id="{505441C3-97BE-4E80-B71E-3FDAC305E1B9}"/>
              </a:ext>
            </a:extLst>
          </p:cNvPr>
          <p:cNvSpPr>
            <a:spLocks xmlns:a="http://schemas.openxmlformats.org/drawingml/2006/main" noGrp="1"/>
          </p:cNvSpPr>
          <p:nvPr/>
        </p:nvSpPr>
        <p:spPr>
          <a:xfrm xmlns:a="http://schemas.openxmlformats.org/drawingml/2006/main">
            <a:off x="666750" y="4429125"/>
            <a:ext cx="1860804"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i="0">
                <a:solidFill>
                  <a:srgbClr val="8A8178"/>
                </a:solidFill>
              </a:defRPr>
            </a:pPr>
            <a:r>
              <a:rPr sz="900" b="1" i="0">
                <a:solidFill>
                  <a:srgbClr val="8A8178"/>
                </a:solidFill>
              </a:rPr>
              <a:t>METRIC</a:t>
            </a:r>
          </a:p>
        </p:txBody>
      </p:sp>
      <p:sp>
        <p:nvSpPr>
          <p:cNvPr id="13" name="text">
            <a:extLst xmlns:a="http://schemas.openxmlformats.org/drawingml/2006/main">
              <a:ext uri="{FF2B5EF4-FFF2-40B4-BE49-F238E27FC236}">
                <a16:creationId xmlns:a16="http://schemas.microsoft.com/office/drawing/2014/main" id="{57B5E55D-2409-498F-B52F-346FFDA9E7FA}"/>
              </a:ext>
            </a:extLst>
          </p:cNvPr>
          <p:cNvSpPr>
            <a:spLocks xmlns:a="http://schemas.openxmlformats.org/drawingml/2006/main" noGrp="1"/>
          </p:cNvSpPr>
          <p:nvPr/>
        </p:nvSpPr>
        <p:spPr>
          <a:xfrm xmlns:a="http://schemas.openxmlformats.org/drawingml/2006/main">
            <a:off x="2641854" y="4429125"/>
            <a:ext cx="1641348"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1" i="0">
                <a:solidFill>
                  <a:srgbClr val="8A8178"/>
                </a:solidFill>
              </a:defRPr>
            </a:pPr>
            <a:r>
              <a:rPr sz="900" b="1" i="0">
                <a:solidFill>
                  <a:srgbClr val="8A8178"/>
                </a:solidFill>
              </a:rPr>
              <a:t>BIAS-ONLY</a:t>
            </a:r>
          </a:p>
        </p:txBody>
      </p:sp>
      <p:sp>
        <p:nvSpPr>
          <p:cNvPr id="14" name="text">
            <a:extLst xmlns:a="http://schemas.openxmlformats.org/drawingml/2006/main">
              <a:ext uri="{FF2B5EF4-FFF2-40B4-BE49-F238E27FC236}">
                <a16:creationId xmlns:a16="http://schemas.microsoft.com/office/drawing/2014/main" id="{FED22824-D903-450F-B474-83228CEDEDBF}"/>
              </a:ext>
            </a:extLst>
          </p:cNvPr>
          <p:cNvSpPr>
            <a:spLocks xmlns:a="http://schemas.openxmlformats.org/drawingml/2006/main" noGrp="1"/>
          </p:cNvSpPr>
          <p:nvPr/>
        </p:nvSpPr>
        <p:spPr>
          <a:xfrm xmlns:a="http://schemas.openxmlformats.org/drawingml/2006/main">
            <a:off x="4397502" y="4429125"/>
            <a:ext cx="1860804"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i="0">
                <a:solidFill>
                  <a:srgbClr val="8A8178"/>
                </a:solidFill>
              </a:defRPr>
            </a:pPr>
            <a:r>
              <a:rPr sz="900" b="1" i="0">
                <a:solidFill>
                  <a:srgbClr val="8A8178"/>
                </a:solidFill>
              </a:rPr>
              <a:t>30-FACTOR SVD</a:t>
            </a:r>
          </a:p>
        </p:txBody>
      </p:sp>
      <p:sp>
        <p:nvSpPr>
          <p:cNvPr id="15" name="text">
            <a:extLst xmlns:a="http://schemas.openxmlformats.org/drawingml/2006/main">
              <a:ext uri="{FF2B5EF4-FFF2-40B4-BE49-F238E27FC236}">
                <a16:creationId xmlns:a16="http://schemas.microsoft.com/office/drawing/2014/main" id="{AE4B75AC-9857-4722-9190-E8E477EE3744}"/>
              </a:ext>
            </a:extLst>
          </p:cNvPr>
          <p:cNvSpPr>
            <a:spLocks xmlns:a="http://schemas.openxmlformats.org/drawingml/2006/main" noGrp="1"/>
          </p:cNvSpPr>
          <p:nvPr/>
        </p:nvSpPr>
        <p:spPr>
          <a:xfrm xmlns:a="http://schemas.openxmlformats.org/drawingml/2006/main">
            <a:off x="6372606" y="4429125"/>
            <a:ext cx="5152644"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i="0">
                <a:solidFill>
                  <a:srgbClr val="8A8178"/>
                </a:solidFill>
              </a:defRPr>
            </a:pPr>
            <a:r>
              <a:rPr sz="900" b="1" i="0">
                <a:solidFill>
                  <a:srgbClr val="8A8178"/>
                </a:solidFill>
              </a:rPr>
              <a:t>INTERPRETATION</a:t>
            </a:r>
          </a:p>
        </p:txBody>
      </p:sp>
      <p:sp>
        <p:nvSpPr>
          <p:cNvPr id="16" name="rule">
            <a:extLst xmlns:a="http://schemas.openxmlformats.org/drawingml/2006/main">
              <a:ext uri="{FF2B5EF4-FFF2-40B4-BE49-F238E27FC236}">
                <a16:creationId xmlns:a16="http://schemas.microsoft.com/office/drawing/2014/main" id="{1B26A789-06EA-4B9E-88F0-1DC09C3DECDA}"/>
              </a:ext>
            </a:extLst>
          </p:cNvPr>
          <p:cNvSpPr>
            <a:spLocks xmlns:a="http://schemas.openxmlformats.org/drawingml/2006/main" noGrp="1"/>
          </p:cNvSpPr>
          <p:nvPr/>
        </p:nvSpPr>
        <p:spPr>
          <a:xfrm xmlns:a="http://schemas.openxmlformats.org/drawingml/2006/main">
            <a:off x="609600" y="4791075"/>
            <a:ext cx="10972800" cy="9525"/>
          </a:xfrm>
          <a:prstGeom xmlns:a="http://schemas.openxmlformats.org/drawingml/2006/main" prst="rect">
            <a:avLst/>
          </a:prstGeom>
          <a:solidFill xmlns:a="http://schemas.openxmlformats.org/drawingml/2006/main">
            <a:srgbClr val="1A1A1A"/>
          </a:solidFill>
          <a:ln xmlns:a="http://schemas.openxmlformats.org/drawingml/2006/main" w="9525">
            <a:solidFill>
              <a:srgbClr val="1A1A1A"/>
            </a:solidFill>
            <a:prstDash val="solid"/>
          </a:ln>
        </p:spPr>
      </p:sp>
      <p:sp>
        <p:nvSpPr>
          <p:cNvPr id="17" name="text">
            <a:extLst xmlns:a="http://schemas.openxmlformats.org/drawingml/2006/main">
              <a:ext uri="{FF2B5EF4-FFF2-40B4-BE49-F238E27FC236}">
                <a16:creationId xmlns:a16="http://schemas.microsoft.com/office/drawing/2014/main" id="{D6917E81-3877-4B88-9A5C-6E300A1E1BF7}"/>
              </a:ext>
            </a:extLst>
          </p:cNvPr>
          <p:cNvSpPr>
            <a:spLocks xmlns:a="http://schemas.openxmlformats.org/drawingml/2006/main" noGrp="1"/>
          </p:cNvSpPr>
          <p:nvPr/>
        </p:nvSpPr>
        <p:spPr>
          <a:xfrm xmlns:a="http://schemas.openxmlformats.org/drawingml/2006/main">
            <a:off x="666750" y="4857750"/>
            <a:ext cx="1860804"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i="0">
                <a:solidFill>
                  <a:srgbClr val="1A1A1A"/>
                </a:solidFill>
              </a:defRPr>
            </a:pPr>
            <a:r>
              <a:rPr sz="1050" b="1" i="0">
                <a:solidFill>
                  <a:srgbClr val="1A1A1A"/>
                </a:solidFill>
              </a:rPr>
              <a:t>RMSE</a:t>
            </a:r>
          </a:p>
        </p:txBody>
      </p:sp>
      <p:sp>
        <p:nvSpPr>
          <p:cNvPr id="18" name="text">
            <a:extLst xmlns:a="http://schemas.openxmlformats.org/drawingml/2006/main">
              <a:ext uri="{FF2B5EF4-FFF2-40B4-BE49-F238E27FC236}">
                <a16:creationId xmlns:a16="http://schemas.microsoft.com/office/drawing/2014/main" id="{BCA1E424-1C9C-4975-BC52-E29A750DF15F}"/>
              </a:ext>
            </a:extLst>
          </p:cNvPr>
          <p:cNvSpPr>
            <a:spLocks xmlns:a="http://schemas.openxmlformats.org/drawingml/2006/main" noGrp="1"/>
          </p:cNvSpPr>
          <p:nvPr/>
        </p:nvSpPr>
        <p:spPr>
          <a:xfrm xmlns:a="http://schemas.openxmlformats.org/drawingml/2006/main">
            <a:off x="2641854" y="4857750"/>
            <a:ext cx="1641348"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050" b="0" i="0">
                <a:solidFill>
                  <a:srgbClr val="5A5A5A"/>
                </a:solidFill>
              </a:defRPr>
            </a:pPr>
            <a:r>
              <a:rPr sz="1050" b="0" i="0">
                <a:solidFill>
                  <a:srgbClr val="5A5A5A"/>
                </a:solidFill>
              </a:rPr>
              <a:t>1.2552</a:t>
            </a:r>
          </a:p>
        </p:txBody>
      </p:sp>
      <p:sp>
        <p:nvSpPr>
          <p:cNvPr id="19" name="text">
            <a:extLst xmlns:a="http://schemas.openxmlformats.org/drawingml/2006/main">
              <a:ext uri="{FF2B5EF4-FFF2-40B4-BE49-F238E27FC236}">
                <a16:creationId xmlns:a16="http://schemas.microsoft.com/office/drawing/2014/main" id="{9F51CE2D-C86B-4A73-8B73-6B8C5730474A}"/>
              </a:ext>
            </a:extLst>
          </p:cNvPr>
          <p:cNvSpPr>
            <a:spLocks xmlns:a="http://schemas.openxmlformats.org/drawingml/2006/main" noGrp="1"/>
          </p:cNvSpPr>
          <p:nvPr/>
        </p:nvSpPr>
        <p:spPr>
          <a:xfrm xmlns:a="http://schemas.openxmlformats.org/drawingml/2006/main">
            <a:off x="4397502" y="4857750"/>
            <a:ext cx="1860804"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i="0">
                <a:solidFill>
                  <a:srgbClr val="5A5A5A"/>
                </a:solidFill>
              </a:defRPr>
            </a:pPr>
            <a:r>
              <a:rPr sz="1050" b="0" i="0">
                <a:solidFill>
                  <a:srgbClr val="5A5A5A"/>
                </a:solidFill>
              </a:rPr>
              <a:t>1.2551</a:t>
            </a:r>
          </a:p>
        </p:txBody>
      </p:sp>
      <p:sp>
        <p:nvSpPr>
          <p:cNvPr id="20" name="text">
            <a:extLst xmlns:a="http://schemas.openxmlformats.org/drawingml/2006/main">
              <a:ext uri="{FF2B5EF4-FFF2-40B4-BE49-F238E27FC236}">
                <a16:creationId xmlns:a16="http://schemas.microsoft.com/office/drawing/2014/main" id="{8415893A-CB11-4C7C-9821-04EC04A8651B}"/>
              </a:ext>
            </a:extLst>
          </p:cNvPr>
          <p:cNvSpPr>
            <a:spLocks xmlns:a="http://schemas.openxmlformats.org/drawingml/2006/main" noGrp="1"/>
          </p:cNvSpPr>
          <p:nvPr/>
        </p:nvSpPr>
        <p:spPr>
          <a:xfrm xmlns:a="http://schemas.openxmlformats.org/drawingml/2006/main">
            <a:off x="6372606" y="4857750"/>
            <a:ext cx="5152644"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i="0">
                <a:solidFill>
                  <a:srgbClr val="5A5A5A"/>
                </a:solidFill>
              </a:defRPr>
            </a:pPr>
            <a:r>
              <a:rPr sz="1050" b="0" i="0">
                <a:solidFill>
                  <a:srgbClr val="5A5A5A"/>
                </a:solidFill>
              </a:rPr>
              <a:t>Improvement is negligible</a:t>
            </a:r>
          </a:p>
        </p:txBody>
      </p:sp>
      <p:sp>
        <p:nvSpPr>
          <p:cNvPr id="21" name="rule">
            <a:extLst xmlns:a="http://schemas.openxmlformats.org/drawingml/2006/main">
              <a:ext uri="{FF2B5EF4-FFF2-40B4-BE49-F238E27FC236}">
                <a16:creationId xmlns:a16="http://schemas.microsoft.com/office/drawing/2014/main" id="{B0D67AE5-15E0-4C53-BBCE-0B004BBC4EE8}"/>
              </a:ext>
            </a:extLst>
          </p:cNvPr>
          <p:cNvSpPr>
            <a:spLocks xmlns:a="http://schemas.openxmlformats.org/drawingml/2006/main" noGrp="1"/>
          </p:cNvSpPr>
          <p:nvPr/>
        </p:nvSpPr>
        <p:spPr>
          <a:xfrm xmlns:a="http://schemas.openxmlformats.org/drawingml/2006/main">
            <a:off x="609600" y="5153025"/>
            <a:ext cx="10972800" cy="9525"/>
          </a:xfrm>
          <a:prstGeom xmlns:a="http://schemas.openxmlformats.org/drawingml/2006/main" prst="rect">
            <a:avLst/>
          </a:prstGeom>
          <a:solidFill xmlns:a="http://schemas.openxmlformats.org/drawingml/2006/main">
            <a:srgbClr val="B8B0A4"/>
          </a:solidFill>
          <a:ln xmlns:a="http://schemas.openxmlformats.org/drawingml/2006/main" w="9525">
            <a:solidFill>
              <a:srgbClr val="B8B0A4"/>
            </a:solidFill>
            <a:prstDash val="solid"/>
          </a:ln>
        </p:spPr>
      </p:sp>
      <p:sp>
        <p:nvSpPr>
          <p:cNvPr id="22" name="text">
            <a:extLst xmlns:a="http://schemas.openxmlformats.org/drawingml/2006/main">
              <a:ext uri="{FF2B5EF4-FFF2-40B4-BE49-F238E27FC236}">
                <a16:creationId xmlns:a16="http://schemas.microsoft.com/office/drawing/2014/main" id="{F2B7F24A-D96C-4E90-B4E2-DDE8A3BB110E}"/>
              </a:ext>
            </a:extLst>
          </p:cNvPr>
          <p:cNvSpPr>
            <a:spLocks xmlns:a="http://schemas.openxmlformats.org/drawingml/2006/main" noGrp="1"/>
          </p:cNvSpPr>
          <p:nvPr/>
        </p:nvSpPr>
        <p:spPr>
          <a:xfrm xmlns:a="http://schemas.openxmlformats.org/drawingml/2006/main">
            <a:off x="666750" y="5219700"/>
            <a:ext cx="1860804"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i="0">
                <a:solidFill>
                  <a:srgbClr val="1A1A1A"/>
                </a:solidFill>
              </a:defRPr>
            </a:pPr>
            <a:r>
              <a:rPr sz="1050" b="1" i="0">
                <a:solidFill>
                  <a:srgbClr val="1A1A1A"/>
                </a:solidFill>
              </a:rPr>
              <a:t>MAE</a:t>
            </a:r>
          </a:p>
        </p:txBody>
      </p:sp>
      <p:sp>
        <p:nvSpPr>
          <p:cNvPr id="23" name="text">
            <a:extLst xmlns:a="http://schemas.openxmlformats.org/drawingml/2006/main">
              <a:ext uri="{FF2B5EF4-FFF2-40B4-BE49-F238E27FC236}">
                <a16:creationId xmlns:a16="http://schemas.microsoft.com/office/drawing/2014/main" id="{5298BEDD-D14C-413B-A2E9-6AB7DB0019BC}"/>
              </a:ext>
            </a:extLst>
          </p:cNvPr>
          <p:cNvSpPr>
            <a:spLocks xmlns:a="http://schemas.openxmlformats.org/drawingml/2006/main" noGrp="1"/>
          </p:cNvSpPr>
          <p:nvPr/>
        </p:nvSpPr>
        <p:spPr>
          <a:xfrm xmlns:a="http://schemas.openxmlformats.org/drawingml/2006/main">
            <a:off x="2641854" y="5219700"/>
            <a:ext cx="1641348"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050" b="0" i="0">
                <a:solidFill>
                  <a:srgbClr val="5A5A5A"/>
                </a:solidFill>
              </a:defRPr>
            </a:pPr>
            <a:r>
              <a:rPr sz="1050" b="0" i="0">
                <a:solidFill>
                  <a:srgbClr val="5A5A5A"/>
                </a:solidFill>
              </a:rPr>
              <a:t>0.9604</a:t>
            </a:r>
          </a:p>
        </p:txBody>
      </p:sp>
      <p:sp>
        <p:nvSpPr>
          <p:cNvPr id="24" name="text">
            <a:extLst xmlns:a="http://schemas.openxmlformats.org/drawingml/2006/main">
              <a:ext uri="{FF2B5EF4-FFF2-40B4-BE49-F238E27FC236}">
                <a16:creationId xmlns:a16="http://schemas.microsoft.com/office/drawing/2014/main" id="{EC31F1DF-B051-422F-90D0-068F291A0831}"/>
              </a:ext>
            </a:extLst>
          </p:cNvPr>
          <p:cNvSpPr>
            <a:spLocks xmlns:a="http://schemas.openxmlformats.org/drawingml/2006/main" noGrp="1"/>
          </p:cNvSpPr>
          <p:nvPr/>
        </p:nvSpPr>
        <p:spPr>
          <a:xfrm xmlns:a="http://schemas.openxmlformats.org/drawingml/2006/main">
            <a:off x="4397502" y="5219700"/>
            <a:ext cx="1860804"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i="0">
                <a:solidFill>
                  <a:srgbClr val="5A5A5A"/>
                </a:solidFill>
              </a:defRPr>
            </a:pPr>
            <a:r>
              <a:rPr sz="1050" b="0" i="0">
                <a:solidFill>
                  <a:srgbClr val="5A5A5A"/>
                </a:solidFill>
              </a:rPr>
              <a:t>0.9560</a:t>
            </a:r>
          </a:p>
        </p:txBody>
      </p:sp>
      <p:sp>
        <p:nvSpPr>
          <p:cNvPr id="25" name="text">
            <a:extLst xmlns:a="http://schemas.openxmlformats.org/drawingml/2006/main">
              <a:ext uri="{FF2B5EF4-FFF2-40B4-BE49-F238E27FC236}">
                <a16:creationId xmlns:a16="http://schemas.microsoft.com/office/drawing/2014/main" id="{7E02750B-4442-47DE-9683-F5C9A3E7BC8D}"/>
              </a:ext>
            </a:extLst>
          </p:cNvPr>
          <p:cNvSpPr>
            <a:spLocks xmlns:a="http://schemas.openxmlformats.org/drawingml/2006/main" noGrp="1"/>
          </p:cNvSpPr>
          <p:nvPr/>
        </p:nvSpPr>
        <p:spPr>
          <a:xfrm xmlns:a="http://schemas.openxmlformats.org/drawingml/2006/main">
            <a:off x="6372606" y="5219700"/>
            <a:ext cx="5152644"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i="0">
                <a:solidFill>
                  <a:srgbClr val="5A5A5A"/>
                </a:solidFill>
              </a:defRPr>
            </a:pPr>
            <a:r>
              <a:rPr sz="1050" b="0" i="0">
                <a:solidFill>
                  <a:srgbClr val="5A5A5A"/>
                </a:solidFill>
              </a:rPr>
              <a:t>Average error is just under one point</a:t>
            </a:r>
          </a:p>
        </p:txBody>
      </p:sp>
      <p:sp>
        <p:nvSpPr>
          <p:cNvPr id="26" name="rule">
            <a:extLst xmlns:a="http://schemas.openxmlformats.org/drawingml/2006/main">
              <a:ext uri="{FF2B5EF4-FFF2-40B4-BE49-F238E27FC236}">
                <a16:creationId xmlns:a16="http://schemas.microsoft.com/office/drawing/2014/main" id="{0530DFE5-2DCB-445C-A86C-B8E490ECF568}"/>
              </a:ext>
            </a:extLst>
          </p:cNvPr>
          <p:cNvSpPr>
            <a:spLocks xmlns:a="http://schemas.openxmlformats.org/drawingml/2006/main" noGrp="1"/>
          </p:cNvSpPr>
          <p:nvPr/>
        </p:nvSpPr>
        <p:spPr>
          <a:xfrm xmlns:a="http://schemas.openxmlformats.org/drawingml/2006/main">
            <a:off x="609600" y="5514975"/>
            <a:ext cx="10972800" cy="9525"/>
          </a:xfrm>
          <a:prstGeom xmlns:a="http://schemas.openxmlformats.org/drawingml/2006/main" prst="rect">
            <a:avLst/>
          </a:prstGeom>
          <a:solidFill xmlns:a="http://schemas.openxmlformats.org/drawingml/2006/main">
            <a:srgbClr val="B8B0A4"/>
          </a:solidFill>
          <a:ln xmlns:a="http://schemas.openxmlformats.org/drawingml/2006/main" w="9525">
            <a:solidFill>
              <a:srgbClr val="B8B0A4"/>
            </a:solidFill>
            <a:prstDash val="solid"/>
          </a:ln>
        </p:spPr>
      </p:sp>
      <p:sp>
        <p:nvSpPr>
          <p:cNvPr id="27" name="text">
            <a:extLst xmlns:a="http://schemas.openxmlformats.org/drawingml/2006/main">
              <a:ext uri="{FF2B5EF4-FFF2-40B4-BE49-F238E27FC236}">
                <a16:creationId xmlns:a16="http://schemas.microsoft.com/office/drawing/2014/main" id="{E14E6AC5-FB27-4AC9-9F8B-9CBDE1D381AF}"/>
              </a:ext>
            </a:extLst>
          </p:cNvPr>
          <p:cNvSpPr>
            <a:spLocks xmlns:a="http://schemas.openxmlformats.org/drawingml/2006/main" noGrp="1"/>
          </p:cNvSpPr>
          <p:nvPr/>
        </p:nvSpPr>
        <p:spPr>
          <a:xfrm xmlns:a="http://schemas.openxmlformats.org/drawingml/2006/main">
            <a:off x="666750" y="5581650"/>
            <a:ext cx="1860804"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i="0">
                <a:solidFill>
                  <a:srgbClr val="1A1A1A"/>
                </a:solidFill>
              </a:defRPr>
            </a:pPr>
            <a:r>
              <a:rPr sz="1050" b="1" i="0">
                <a:solidFill>
                  <a:srgbClr val="1A1A1A"/>
                </a:solidFill>
              </a:rPr>
              <a:t>Precision@10</a:t>
            </a:r>
          </a:p>
        </p:txBody>
      </p:sp>
      <p:sp>
        <p:nvSpPr>
          <p:cNvPr id="28" name="text">
            <a:extLst xmlns:a="http://schemas.openxmlformats.org/drawingml/2006/main">
              <a:ext uri="{FF2B5EF4-FFF2-40B4-BE49-F238E27FC236}">
                <a16:creationId xmlns:a16="http://schemas.microsoft.com/office/drawing/2014/main" id="{741A13D7-43C7-4834-B378-25707D68CFEA}"/>
              </a:ext>
            </a:extLst>
          </p:cNvPr>
          <p:cNvSpPr>
            <a:spLocks xmlns:a="http://schemas.openxmlformats.org/drawingml/2006/main" noGrp="1"/>
          </p:cNvSpPr>
          <p:nvPr/>
        </p:nvSpPr>
        <p:spPr>
          <a:xfrm xmlns:a="http://schemas.openxmlformats.org/drawingml/2006/main">
            <a:off x="2641854" y="5581650"/>
            <a:ext cx="1641348"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050" b="0" i="0">
                <a:solidFill>
                  <a:srgbClr val="5A5A5A"/>
                </a:solidFill>
              </a:defRPr>
            </a:pPr>
            <a:r>
              <a:rPr sz="1050" b="0" i="0">
                <a:solidFill>
                  <a:srgbClr val="5A5A5A"/>
                </a:solidFill>
              </a:rPr>
              <a:t>—</a:t>
            </a:r>
          </a:p>
        </p:txBody>
      </p:sp>
      <p:sp>
        <p:nvSpPr>
          <p:cNvPr id="29" name="text">
            <a:extLst xmlns:a="http://schemas.openxmlformats.org/drawingml/2006/main">
              <a:ext uri="{FF2B5EF4-FFF2-40B4-BE49-F238E27FC236}">
                <a16:creationId xmlns:a16="http://schemas.microsoft.com/office/drawing/2014/main" id="{36828022-DA59-4732-892F-3C3F11A7B323}"/>
              </a:ext>
            </a:extLst>
          </p:cNvPr>
          <p:cNvSpPr>
            <a:spLocks xmlns:a="http://schemas.openxmlformats.org/drawingml/2006/main" noGrp="1"/>
          </p:cNvSpPr>
          <p:nvPr/>
        </p:nvSpPr>
        <p:spPr>
          <a:xfrm xmlns:a="http://schemas.openxmlformats.org/drawingml/2006/main">
            <a:off x="4397502" y="5581650"/>
            <a:ext cx="1860804"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i="0">
                <a:solidFill>
                  <a:srgbClr val="5A5A5A"/>
                </a:solidFill>
              </a:defRPr>
            </a:pPr>
            <a:r>
              <a:rPr sz="1050" b="0" i="0">
                <a:solidFill>
                  <a:srgbClr val="5A5A5A"/>
                </a:solidFill>
              </a:rPr>
              <a:t>0.6397</a:t>
            </a:r>
          </a:p>
        </p:txBody>
      </p:sp>
      <p:sp>
        <p:nvSpPr>
          <p:cNvPr id="30" name="text">
            <a:extLst xmlns:a="http://schemas.openxmlformats.org/drawingml/2006/main">
              <a:ext uri="{FF2B5EF4-FFF2-40B4-BE49-F238E27FC236}">
                <a16:creationId xmlns:a16="http://schemas.microsoft.com/office/drawing/2014/main" id="{2DCDD38A-E987-49E3-9DA9-3AA6E947E380}"/>
              </a:ext>
            </a:extLst>
          </p:cNvPr>
          <p:cNvSpPr>
            <a:spLocks xmlns:a="http://schemas.openxmlformats.org/drawingml/2006/main" noGrp="1"/>
          </p:cNvSpPr>
          <p:nvPr/>
        </p:nvSpPr>
        <p:spPr>
          <a:xfrm xmlns:a="http://schemas.openxmlformats.org/drawingml/2006/main">
            <a:off x="6372606" y="5581650"/>
            <a:ext cx="5152644"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i="0">
                <a:solidFill>
                  <a:srgbClr val="5A5A5A"/>
                </a:solidFill>
              </a:defRPr>
            </a:pPr>
            <a:r>
              <a:rPr sz="1050" b="0" i="0">
                <a:solidFill>
                  <a:srgbClr val="5A5A5A"/>
                </a:solidFill>
              </a:rPr>
              <a:t>Scoped held-out ranking evidence</a:t>
            </a:r>
          </a:p>
        </p:txBody>
      </p:sp>
      <p:sp>
        <p:nvSpPr>
          <p:cNvPr id="31" name="rule">
            <a:extLst xmlns:a="http://schemas.openxmlformats.org/drawingml/2006/main">
              <a:ext uri="{FF2B5EF4-FFF2-40B4-BE49-F238E27FC236}">
                <a16:creationId xmlns:a16="http://schemas.microsoft.com/office/drawing/2014/main" id="{7B5C2BCB-972E-40D8-8264-DE0E29476C3C}"/>
              </a:ext>
            </a:extLst>
          </p:cNvPr>
          <p:cNvSpPr>
            <a:spLocks xmlns:a="http://schemas.openxmlformats.org/drawingml/2006/main" noGrp="1"/>
          </p:cNvSpPr>
          <p:nvPr/>
        </p:nvSpPr>
        <p:spPr>
          <a:xfrm xmlns:a="http://schemas.openxmlformats.org/drawingml/2006/main">
            <a:off x="609600" y="5876925"/>
            <a:ext cx="10972800" cy="9525"/>
          </a:xfrm>
          <a:prstGeom xmlns:a="http://schemas.openxmlformats.org/drawingml/2006/main" prst="rect">
            <a:avLst/>
          </a:prstGeom>
          <a:solidFill xmlns:a="http://schemas.openxmlformats.org/drawingml/2006/main">
            <a:srgbClr val="B8B0A4"/>
          </a:solidFill>
          <a:ln xmlns:a="http://schemas.openxmlformats.org/drawingml/2006/main" w="9525">
            <a:solidFill>
              <a:srgbClr val="B8B0A4"/>
            </a:solidFill>
            <a:prstDash val="solid"/>
          </a:ln>
        </p:spPr>
      </p:sp>
      <p:sp>
        <p:nvSpPr>
          <p:cNvPr id="32" name="text">
            <a:extLst xmlns:a="http://schemas.openxmlformats.org/drawingml/2006/main">
              <a:ext uri="{FF2B5EF4-FFF2-40B4-BE49-F238E27FC236}">
                <a16:creationId xmlns:a16="http://schemas.microsoft.com/office/drawing/2014/main" id="{C86C7E2E-09DB-42C2-A38A-CDE0C1A6371C}"/>
              </a:ext>
            </a:extLst>
          </p:cNvPr>
          <p:cNvSpPr>
            <a:spLocks xmlns:a="http://schemas.openxmlformats.org/drawingml/2006/main" noGrp="1"/>
          </p:cNvSpPr>
          <p:nvPr/>
        </p:nvSpPr>
        <p:spPr>
          <a:xfrm xmlns:a="http://schemas.openxmlformats.org/drawingml/2006/main">
            <a:off x="666750" y="5943600"/>
            <a:ext cx="1860804"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i="0">
                <a:solidFill>
                  <a:srgbClr val="1A1A1A"/>
                </a:solidFill>
              </a:defRPr>
            </a:pPr>
            <a:r>
              <a:rPr sz="1050" b="1" i="0">
                <a:solidFill>
                  <a:srgbClr val="1A1A1A"/>
                </a:solidFill>
              </a:rPr>
              <a:t>Recall@10</a:t>
            </a:r>
          </a:p>
        </p:txBody>
      </p:sp>
      <p:sp>
        <p:nvSpPr>
          <p:cNvPr id="33" name="text">
            <a:extLst xmlns:a="http://schemas.openxmlformats.org/drawingml/2006/main">
              <a:ext uri="{FF2B5EF4-FFF2-40B4-BE49-F238E27FC236}">
                <a16:creationId xmlns:a16="http://schemas.microsoft.com/office/drawing/2014/main" id="{C77A1CCE-26D3-4EB5-A9EE-6230294351AE}"/>
              </a:ext>
            </a:extLst>
          </p:cNvPr>
          <p:cNvSpPr>
            <a:spLocks xmlns:a="http://schemas.openxmlformats.org/drawingml/2006/main" noGrp="1"/>
          </p:cNvSpPr>
          <p:nvPr/>
        </p:nvSpPr>
        <p:spPr>
          <a:xfrm xmlns:a="http://schemas.openxmlformats.org/drawingml/2006/main">
            <a:off x="2641854" y="5943600"/>
            <a:ext cx="1641348"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050" b="0" i="0">
                <a:solidFill>
                  <a:srgbClr val="5A5A5A"/>
                </a:solidFill>
              </a:defRPr>
            </a:pPr>
            <a:r>
              <a:rPr sz="1050" b="0" i="0">
                <a:solidFill>
                  <a:srgbClr val="5A5A5A"/>
                </a:solidFill>
              </a:rPr>
              <a:t>—</a:t>
            </a:r>
          </a:p>
        </p:txBody>
      </p:sp>
      <p:sp>
        <p:nvSpPr>
          <p:cNvPr id="34" name="text">
            <a:extLst xmlns:a="http://schemas.openxmlformats.org/drawingml/2006/main">
              <a:ext uri="{FF2B5EF4-FFF2-40B4-BE49-F238E27FC236}">
                <a16:creationId xmlns:a16="http://schemas.microsoft.com/office/drawing/2014/main" id="{51B7A282-C4D7-4A20-8BF1-A8609AADD059}"/>
              </a:ext>
            </a:extLst>
          </p:cNvPr>
          <p:cNvSpPr>
            <a:spLocks xmlns:a="http://schemas.openxmlformats.org/drawingml/2006/main" noGrp="1"/>
          </p:cNvSpPr>
          <p:nvPr/>
        </p:nvSpPr>
        <p:spPr>
          <a:xfrm xmlns:a="http://schemas.openxmlformats.org/drawingml/2006/main">
            <a:off x="4397502" y="5943600"/>
            <a:ext cx="1860804"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i="0">
                <a:solidFill>
                  <a:srgbClr val="5A5A5A"/>
                </a:solidFill>
              </a:defRPr>
            </a:pPr>
            <a:r>
              <a:rPr sz="1050" b="0" i="0">
                <a:solidFill>
                  <a:srgbClr val="5A5A5A"/>
                </a:solidFill>
              </a:rPr>
              <a:t>0.8273</a:t>
            </a:r>
          </a:p>
        </p:txBody>
      </p:sp>
      <p:sp>
        <p:nvSpPr>
          <p:cNvPr id="35" name="text">
            <a:extLst xmlns:a="http://schemas.openxmlformats.org/drawingml/2006/main">
              <a:ext uri="{FF2B5EF4-FFF2-40B4-BE49-F238E27FC236}">
                <a16:creationId xmlns:a16="http://schemas.microsoft.com/office/drawing/2014/main" id="{3170ABAA-83EE-44D6-8976-CDC1407BB1D6}"/>
              </a:ext>
            </a:extLst>
          </p:cNvPr>
          <p:cNvSpPr>
            <a:spLocks xmlns:a="http://schemas.openxmlformats.org/drawingml/2006/main" noGrp="1"/>
          </p:cNvSpPr>
          <p:nvPr/>
        </p:nvSpPr>
        <p:spPr>
          <a:xfrm xmlns:a="http://schemas.openxmlformats.org/drawingml/2006/main">
            <a:off x="6372606" y="5943600"/>
            <a:ext cx="5152644"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i="0">
                <a:solidFill>
                  <a:srgbClr val="5A5A5A"/>
                </a:solidFill>
              </a:defRPr>
            </a:pPr>
            <a:r>
              <a:rPr sz="1050" b="0" i="0">
                <a:solidFill>
                  <a:srgbClr val="5A5A5A"/>
                </a:solidFill>
              </a:rPr>
              <a:t>Same users and candidate set</a:t>
            </a:r>
          </a:p>
        </p:txBody>
      </p:sp>
      <p:sp>
        <p:nvSpPr>
          <p:cNvPr id="36" name="rule">
            <a:extLst xmlns:a="http://schemas.openxmlformats.org/drawingml/2006/main">
              <a:ext uri="{FF2B5EF4-FFF2-40B4-BE49-F238E27FC236}">
                <a16:creationId xmlns:a16="http://schemas.microsoft.com/office/drawing/2014/main" id="{E4409343-E022-401A-B086-BD687C575982}"/>
              </a:ext>
            </a:extLst>
          </p:cNvPr>
          <p:cNvSpPr>
            <a:spLocks xmlns:a="http://schemas.openxmlformats.org/drawingml/2006/main" noGrp="1"/>
          </p:cNvSpPr>
          <p:nvPr/>
        </p:nvSpPr>
        <p:spPr>
          <a:xfrm xmlns:a="http://schemas.openxmlformats.org/drawingml/2006/main">
            <a:off x="609600" y="6238875"/>
            <a:ext cx="10972800" cy="9525"/>
          </a:xfrm>
          <a:prstGeom xmlns:a="http://schemas.openxmlformats.org/drawingml/2006/main" prst="rect">
            <a:avLst/>
          </a:prstGeom>
          <a:solidFill xmlns:a="http://schemas.openxmlformats.org/drawingml/2006/main">
            <a:srgbClr val="B8B0A4"/>
          </a:solidFill>
          <a:ln xmlns:a="http://schemas.openxmlformats.org/drawingml/2006/main" w="9525">
            <a:solidFill>
              <a:srgbClr val="B8B0A4"/>
            </a:solidFill>
            <a:prstDash val="solid"/>
          </a:ln>
        </p:spPr>
      </p:sp>
    </p:spTree>
    <p:extLst>
      <p:ext uri="{BB962C8B-B14F-4D97-AF65-F5344CB8AC3E}">
        <p14:creationId xmlns:p14="http://schemas.microsoft.com/office/powerpoint/2010/main" val="1982984012"/>
      </p:ext>
    </p:extLst>
  </p:cSld>
</p:sld>
</file>

<file path=ppt/slides/slide13.xml><?xml version="1.0" encoding="utf-8"?>
<p:sld xmlns:p="http://schemas.openxmlformats.org/presentationml/2006/main">
  <p:cSld>
    <p:bg>
      <p:bgPr>
        <a:solidFill xmlns:a="http://schemas.openxmlformats.org/drawingml/2006/main">
          <a:srgbClr val="EDE8E0"/>
        </a:solidFill>
      </p:bgPr>
    </p:bg>
    <p:spTree>
      <p:nvGrpSpPr>
        <p:cNvPr id="1" name=""/>
        <p:cNvGrpSpPr/>
        <p:nvPr/>
      </p:nvGrpSpPr>
      <p:grpSpPr>
        <a:xfrm xmlns:a="http://schemas.openxmlformats.org/drawingml/2006/main"/>
      </p:grpSpPr>
      <p:sp>
        <p:nvSpPr>
          <p:cNvPr id="38" name="outer-ring">
            <a:extLst xmlns:a="http://schemas.openxmlformats.org/drawingml/2006/main">
              <a:ext uri="{FF2B5EF4-FFF2-40B4-BE49-F238E27FC236}">
                <a16:creationId xmlns:a16="http://schemas.microsoft.com/office/drawing/2014/main" id="{D3DF7E53-CA13-4606-A349-534B74BBDFC9}"/>
              </a:ext>
            </a:extLst>
          </p:cNvPr>
          <p:cNvSpPr>
            <a:spLocks xmlns:a="http://schemas.openxmlformats.org/drawingml/2006/main" noGrp="1"/>
          </p:cNvSpPr>
          <p:nvPr/>
        </p:nvSpPr>
        <p:spPr>
          <a:xfrm xmlns:a="http://schemas.openxmlformats.org/drawingml/2006/main">
            <a:off x="9620250" y="-1143000"/>
            <a:ext cx="3714750" cy="3714750"/>
          </a:xfrm>
          <a:prstGeom xmlns:a="http://schemas.openxmlformats.org/drawingml/2006/main" prst="rect">
            <a:avLst/>
          </a:prstGeom>
          <a:noFill xmlns:a="http://schemas.openxmlformats.org/drawingml/2006/main"/>
          <a:ln xmlns:a="http://schemas.openxmlformats.org/drawingml/2006/main" w="9525">
            <a:solidFill>
              <a:srgbClr val="B8B0A4"/>
            </a:solidFill>
            <a:prstDash val="solid"/>
          </a:ln>
        </p:spPr>
      </p:sp>
      <p:sp>
        <p:nvSpPr>
          <p:cNvPr id="2" name="inner-ring">
            <a:extLst xmlns:a="http://schemas.openxmlformats.org/drawingml/2006/main">
              <a:ext uri="{FF2B5EF4-FFF2-40B4-BE49-F238E27FC236}">
                <a16:creationId xmlns:a16="http://schemas.microsoft.com/office/drawing/2014/main" id="{C1073887-1732-4902-9EE3-1A2CD882605F}"/>
              </a:ext>
            </a:extLst>
          </p:cNvPr>
          <p:cNvSpPr>
            <a:spLocks xmlns:a="http://schemas.openxmlformats.org/drawingml/2006/main" noGrp="1"/>
          </p:cNvSpPr>
          <p:nvPr/>
        </p:nvSpPr>
        <p:spPr>
          <a:xfrm xmlns:a="http://schemas.openxmlformats.org/drawingml/2006/main">
            <a:off x="10191750" y="-571500"/>
            <a:ext cx="2571750" cy="2571750"/>
          </a:xfrm>
          <a:prstGeom xmlns:a="http://schemas.openxmlformats.org/drawingml/2006/main" prst="rect">
            <a:avLst/>
          </a:prstGeom>
          <a:noFill xmlns:a="http://schemas.openxmlformats.org/drawingml/2006/main"/>
          <a:ln xmlns:a="http://schemas.openxmlformats.org/drawingml/2006/main" w="9525">
            <a:solidFill>
              <a:srgbClr val="B8B0A4"/>
            </a:solidFill>
            <a:prstDash val="solid"/>
          </a:ln>
        </p:spPr>
      </p:sp>
      <p:sp>
        <p:nvSpPr>
          <p:cNvPr id="3" name="eyebrow">
            <a:extLst xmlns:a="http://schemas.openxmlformats.org/drawingml/2006/main">
              <a:ext uri="{FF2B5EF4-FFF2-40B4-BE49-F238E27FC236}">
                <a16:creationId xmlns:a16="http://schemas.microsoft.com/office/drawing/2014/main" id="{F1396DEB-72A6-4A0A-AA5E-3EE5871C777E}"/>
              </a:ext>
            </a:extLst>
          </p:cNvPr>
          <p:cNvSpPr>
            <a:spLocks xmlns:a="http://schemas.openxmlformats.org/drawingml/2006/main" noGrp="1"/>
          </p:cNvSpPr>
          <p:nvPr/>
        </p:nvSpPr>
        <p:spPr>
          <a:xfrm xmlns:a="http://schemas.openxmlformats.org/drawingml/2006/main">
            <a:off x="609600" y="4000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i="0">
                <a:solidFill>
                  <a:srgbClr val="8A8178"/>
                </a:solidFill>
              </a:defRPr>
            </a:pPr>
            <a:r>
              <a:rPr sz="975" b="1" i="0">
                <a:solidFill>
                  <a:srgbClr val="8A8178"/>
                </a:solidFill>
              </a:rPr>
              <a:t>RECOMMENDATION SERVING</a:t>
            </a:r>
          </a:p>
        </p:txBody>
      </p:sp>
      <p:sp>
        <p:nvSpPr>
          <p:cNvPr id="4" name="title">
            <a:extLst xmlns:a="http://schemas.openxmlformats.org/drawingml/2006/main">
              <a:ext uri="{FF2B5EF4-FFF2-40B4-BE49-F238E27FC236}">
                <a16:creationId xmlns:a16="http://schemas.microsoft.com/office/drawing/2014/main" id="{690543B4-8669-4C7E-A391-68C1434A10BC}"/>
              </a:ext>
            </a:extLst>
          </p:cNvPr>
          <p:cNvSpPr>
            <a:spLocks xmlns:a="http://schemas.openxmlformats.org/drawingml/2006/main" noGrp="1"/>
          </p:cNvSpPr>
          <p:nvPr/>
        </p:nvSpPr>
        <p:spPr>
          <a:xfrm xmlns:a="http://schemas.openxmlformats.org/drawingml/2006/main">
            <a:off x="609600" y="723900"/>
            <a:ext cx="10668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150" b="0" i="0">
                <a:solidFill>
                  <a:srgbClr val="1A1A1A"/>
                </a:solidFill>
              </a:defRPr>
            </a:pPr>
            <a:r>
              <a:rPr sz="3150" b="0" i="0">
                <a:solidFill>
                  <a:srgbClr val="1A1A1A"/>
                </a:solidFill>
              </a:rPr>
              <a:t>Serving refits after evaluation and returns only unseen anime</a:t>
            </a:r>
          </a:p>
        </p:txBody>
      </p:sp>
      <p:sp>
        <p:nvSpPr>
          <p:cNvPr id="5" name="rule">
            <a:extLst xmlns:a="http://schemas.openxmlformats.org/drawingml/2006/main">
              <a:ext uri="{FF2B5EF4-FFF2-40B4-BE49-F238E27FC236}">
                <a16:creationId xmlns:a16="http://schemas.microsoft.com/office/drawing/2014/main" id="{C1ADF114-8B7F-418B-B47A-8FD0B6642FC5}"/>
              </a:ext>
            </a:extLst>
          </p:cNvPr>
          <p:cNvSpPr>
            <a:spLocks xmlns:a="http://schemas.openxmlformats.org/drawingml/2006/main" noGrp="1"/>
          </p:cNvSpPr>
          <p:nvPr/>
        </p:nvSpPr>
        <p:spPr>
          <a:xfrm xmlns:a="http://schemas.openxmlformats.org/drawingml/2006/main">
            <a:off x="609600" y="6429375"/>
            <a:ext cx="10972800" cy="9525"/>
          </a:xfrm>
          <a:prstGeom xmlns:a="http://schemas.openxmlformats.org/drawingml/2006/main" prst="rect">
            <a:avLst/>
          </a:prstGeom>
          <a:solidFill xmlns:a="http://schemas.openxmlformats.org/drawingml/2006/main">
            <a:srgbClr val="B8B0A4"/>
          </a:solidFill>
          <a:ln xmlns:a="http://schemas.openxmlformats.org/drawingml/2006/main" w="9525">
            <a:solidFill>
              <a:srgbClr val="B8B0A4"/>
            </a:solidFill>
            <a:prstDash val="solid"/>
          </a:ln>
        </p:spPr>
      </p:sp>
      <p:sp>
        <p:nvSpPr>
          <p:cNvPr id="6" name="text">
            <a:extLst xmlns:a="http://schemas.openxmlformats.org/drawingml/2006/main">
              <a:ext uri="{FF2B5EF4-FFF2-40B4-BE49-F238E27FC236}">
                <a16:creationId xmlns:a16="http://schemas.microsoft.com/office/drawing/2014/main" id="{F216D75E-8B8C-49DC-B8DD-34218C14A005}"/>
              </a:ext>
            </a:extLst>
          </p:cNvPr>
          <p:cNvSpPr>
            <a:spLocks xmlns:a="http://schemas.openxmlformats.org/drawingml/2006/main" noGrp="1"/>
          </p:cNvSpPr>
          <p:nvPr/>
        </p:nvSpPr>
        <p:spPr>
          <a:xfrm xmlns:a="http://schemas.openxmlformats.org/drawingml/2006/main">
            <a:off x="609600" y="652462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1" i="0">
                <a:solidFill>
                  <a:srgbClr val="8A8178"/>
                </a:solidFill>
              </a:defRPr>
            </a:pPr>
            <a:r>
              <a:rPr sz="750" b="1" i="0">
                <a:solidFill>
                  <a:srgbClr val="8A8178"/>
                </a:solidFill>
              </a:rPr>
              <a:t>GROUP 14 · DUY TAN UNIVERSITY, DA NANG</a:t>
            </a:r>
          </a:p>
        </p:txBody>
      </p:sp>
      <p:sp>
        <p:nvSpPr>
          <p:cNvPr id="7" name="text">
            <a:extLst xmlns:a="http://schemas.openxmlformats.org/drawingml/2006/main">
              <a:ext uri="{FF2B5EF4-FFF2-40B4-BE49-F238E27FC236}">
                <a16:creationId xmlns:a16="http://schemas.microsoft.com/office/drawing/2014/main" id="{A452FC7D-EAB2-4CAC-9FFB-3DB5E6448ED6}"/>
              </a:ext>
            </a:extLst>
          </p:cNvPr>
          <p:cNvSpPr>
            <a:spLocks xmlns:a="http://schemas.openxmlformats.org/drawingml/2006/main" noGrp="1"/>
          </p:cNvSpPr>
          <p:nvPr/>
        </p:nvSpPr>
        <p:spPr>
          <a:xfrm xmlns:a="http://schemas.openxmlformats.org/drawingml/2006/main">
            <a:off x="11144250" y="65246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750" b="0" i="0">
                <a:solidFill>
                  <a:srgbClr val="8A8178"/>
                </a:solidFill>
              </a:defRPr>
            </a:pPr>
            <a:r>
              <a:rPr sz="750" b="0" i="0">
                <a:solidFill>
                  <a:srgbClr val="8A8178"/>
                </a:solidFill>
              </a:rPr>
              <a:t>13</a:t>
            </a:r>
          </a:p>
        </p:txBody>
      </p:sp>
      <p:sp>
        <p:nvSpPr>
          <p:cNvPr id="8" name="rule">
            <a:extLst xmlns:a="http://schemas.openxmlformats.org/drawingml/2006/main">
              <a:ext uri="{FF2B5EF4-FFF2-40B4-BE49-F238E27FC236}">
                <a16:creationId xmlns:a16="http://schemas.microsoft.com/office/drawing/2014/main" id="{3517E227-A98E-4B97-8D2F-A0ABEE22224A}"/>
              </a:ext>
            </a:extLst>
          </p:cNvPr>
          <p:cNvSpPr>
            <a:spLocks xmlns:a="http://schemas.openxmlformats.org/drawingml/2006/main" noGrp="1"/>
          </p:cNvSpPr>
          <p:nvPr/>
        </p:nvSpPr>
        <p:spPr>
          <a:xfrm xmlns:a="http://schemas.openxmlformats.org/drawingml/2006/main">
            <a:off x="609600" y="1666875"/>
            <a:ext cx="4476750" cy="9525"/>
          </a:xfrm>
          <a:prstGeom xmlns:a="http://schemas.openxmlformats.org/drawingml/2006/main" prst="rect">
            <a:avLst/>
          </a:prstGeom>
          <a:solidFill xmlns:a="http://schemas.openxmlformats.org/drawingml/2006/main">
            <a:srgbClr val="1A1A1A"/>
          </a:solidFill>
          <a:ln xmlns:a="http://schemas.openxmlformats.org/drawingml/2006/main" w="9525">
            <a:solidFill>
              <a:srgbClr val="1A1A1A"/>
            </a:solidFill>
            <a:prstDash val="solid"/>
          </a:ln>
        </p:spPr>
      </p:sp>
      <p:sp>
        <p:nvSpPr>
          <p:cNvPr id="9" name="text">
            <a:extLst xmlns:a="http://schemas.openxmlformats.org/drawingml/2006/main">
              <a:ext uri="{FF2B5EF4-FFF2-40B4-BE49-F238E27FC236}">
                <a16:creationId xmlns:a16="http://schemas.microsoft.com/office/drawing/2014/main" id="{A6BF2D28-D409-4027-89EA-47F6B1586ADE}"/>
              </a:ext>
            </a:extLst>
          </p:cNvPr>
          <p:cNvSpPr>
            <a:spLocks xmlns:a="http://schemas.openxmlformats.org/drawingml/2006/main" noGrp="1"/>
          </p:cNvSpPr>
          <p:nvPr/>
        </p:nvSpPr>
        <p:spPr>
          <a:xfrm xmlns:a="http://schemas.openxmlformats.org/drawingml/2006/main">
            <a:off x="609600" y="1781175"/>
            <a:ext cx="4476750" cy="71247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i="0">
                <a:solidFill>
                  <a:srgbClr val="1A1A1A"/>
                </a:solidFill>
              </a:defRPr>
            </a:pPr>
            <a:r>
              <a:rPr sz="1650" b="0" i="0">
                <a:solidFill>
                  <a:srgbClr val="1A1A1A"/>
                </a:solidFill>
              </a:rPr>
              <a:t>Serving protocol</a:t>
            </a:r>
          </a:p>
        </p:txBody>
      </p:sp>
      <p:sp>
        <p:nvSpPr>
          <p:cNvPr id="10" name="text">
            <a:extLst xmlns:a="http://schemas.openxmlformats.org/drawingml/2006/main">
              <a:ext uri="{FF2B5EF4-FFF2-40B4-BE49-F238E27FC236}">
                <a16:creationId xmlns:a16="http://schemas.microsoft.com/office/drawing/2014/main" id="{B3BBFBA9-A27B-426E-93C6-82D0F74E8BD5}"/>
              </a:ext>
            </a:extLst>
          </p:cNvPr>
          <p:cNvSpPr>
            <a:spLocks xmlns:a="http://schemas.openxmlformats.org/drawingml/2006/main" noGrp="1"/>
          </p:cNvSpPr>
          <p:nvPr/>
        </p:nvSpPr>
        <p:spPr>
          <a:xfrm xmlns:a="http://schemas.openxmlformats.org/drawingml/2006/main">
            <a:off x="609600" y="2162175"/>
            <a:ext cx="4476750" cy="2714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i="0">
                <a:solidFill>
                  <a:srgbClr val="5A5A5A"/>
                </a:solidFill>
              </a:defRPr>
            </a:pPr>
            <a:r>
              <a:rPr sz="1350" b="0" i="0">
                <a:solidFill>
                  <a:srgbClr val="5A5A5A"/>
                </a:solidFill>
              </a:rPr>
              <a:t>1. Freeze outer-test metrics.</a:t>
            </a:r>
          </a:p>
          <a:p xmlns:a="http://schemas.openxmlformats.org/drawingml/2006/main">
            <a:pPr algn="l">
              <a:buNone/>
              <a:defRPr sz="1350" b="0" i="0">
                <a:solidFill>
                  <a:srgbClr val="5A5A5A"/>
                </a:solidFill>
              </a:defRPr>
            </a:pPr>
            <a:r>
              <a:rPr sz="1350" b="0" i="0">
                <a:solidFill>
                  <a:srgbClr val="5A5A5A"/>
                </a:solidFill>
              </a:rPr>
              <a:t>2. Refit 30-factor SVD on all 952,497 model interactions.</a:t>
            </a:r>
          </a:p>
          <a:p xmlns:a="http://schemas.openxmlformats.org/drawingml/2006/main">
            <a:pPr algn="l">
              <a:buNone/>
              <a:defRPr sz="1350" b="0" i="0">
                <a:solidFill>
                  <a:srgbClr val="5A5A5A"/>
                </a:solidFill>
              </a:defRPr>
            </a:pPr>
            <a:r>
              <a:rPr sz="1350" b="0" i="0">
                <a:solidFill>
                  <a:srgbClr val="5A5A5A"/>
                </a:solidFill>
              </a:rPr>
              <a:t>3. Remove anime already rated by the user.</a:t>
            </a:r>
          </a:p>
          <a:p xmlns:a="http://schemas.openxmlformats.org/drawingml/2006/main">
            <a:pPr algn="l">
              <a:buNone/>
              <a:defRPr sz="1350" b="0" i="0">
                <a:solidFill>
                  <a:srgbClr val="5A5A5A"/>
                </a:solidFill>
              </a:defRPr>
            </a:pPr>
            <a:r>
              <a:rPr sz="1350" b="0" i="0">
                <a:solidFill>
                  <a:srgbClr val="5A5A5A"/>
                </a:solidFill>
              </a:rPr>
              <a:t>4. Sort predicted scores; break ties by anime ID.</a:t>
            </a:r>
          </a:p>
          <a:p xmlns:a="http://schemas.openxmlformats.org/drawingml/2006/main">
            <a:pPr algn="l">
              <a:buNone/>
              <a:defRPr sz="1350" b="0" i="0">
                <a:solidFill>
                  <a:srgbClr val="5A5A5A"/>
                </a:solidFill>
              </a:defRPr>
            </a:pPr>
            <a:r>
              <a:rPr sz="1350" b="0" i="0">
                <a:solidFill>
                  <a:srgbClr val="5A5A5A"/>
                </a:solidFill>
              </a:rPr>
              <a:t>5. Return 10; join metadata after ranking.</a:t>
            </a:r>
          </a:p>
          <a:p xmlns:a="http://schemas.openxmlformats.org/drawingml/2006/main">
            <a:r>
              <a:t/>
            </a:r>
          </a:p>
          <a:p xmlns:a="http://schemas.openxmlformats.org/drawingml/2006/main">
            <a:pPr algn="l">
              <a:buNone/>
              <a:defRPr sz="1350" b="0" i="0">
                <a:solidFill>
                  <a:srgbClr val="5A5A5A"/>
                </a:solidFill>
              </a:defRPr>
            </a:pPr>
            <a:r>
              <a:rPr sz="1350" b="0" i="0">
                <a:solidFill>
                  <a:srgbClr val="5A5A5A"/>
                </a:solidFill>
              </a:rPr>
              <a:t>Seven profiles are demonstrations, not extra test folds.</a:t>
            </a:r>
          </a:p>
        </p:txBody>
      </p:sp>
      <p:sp>
        <p:nvSpPr>
          <p:cNvPr id="11" name="text">
            <a:extLst xmlns:a="http://schemas.openxmlformats.org/drawingml/2006/main">
              <a:ext uri="{FF2B5EF4-FFF2-40B4-BE49-F238E27FC236}">
                <a16:creationId xmlns:a16="http://schemas.microsoft.com/office/drawing/2014/main" id="{EF16DE4F-AD5D-40FD-B594-B8763EC40983}"/>
              </a:ext>
            </a:extLst>
          </p:cNvPr>
          <p:cNvSpPr>
            <a:spLocks xmlns:a="http://schemas.openxmlformats.org/drawingml/2006/main" noGrp="1"/>
          </p:cNvSpPr>
          <p:nvPr/>
        </p:nvSpPr>
        <p:spPr>
          <a:xfrm xmlns:a="http://schemas.openxmlformats.org/drawingml/2006/main">
            <a:off x="5619750" y="1666875"/>
            <a:ext cx="59626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i="0">
                <a:solidFill>
                  <a:srgbClr val="8A8178"/>
                </a:solidFill>
              </a:defRPr>
            </a:pPr>
            <a:r>
              <a:rPr sz="900" b="1" i="0">
                <a:solidFill>
                  <a:srgbClr val="8A8178"/>
                </a:solidFill>
              </a:rPr>
              <a:t>TYPICAL HISTORY · USER 25321</a:t>
            </a:r>
          </a:p>
        </p:txBody>
      </p:sp>
      <p:sp>
        <p:nvSpPr>
          <p:cNvPr id="12" name="text">
            <a:extLst xmlns:a="http://schemas.openxmlformats.org/drawingml/2006/main">
              <a:ext uri="{FF2B5EF4-FFF2-40B4-BE49-F238E27FC236}">
                <a16:creationId xmlns:a16="http://schemas.microsoft.com/office/drawing/2014/main" id="{14160E28-CB76-4E84-8F7F-D3593A263CF3}"/>
              </a:ext>
            </a:extLst>
          </p:cNvPr>
          <p:cNvSpPr>
            <a:spLocks xmlns:a="http://schemas.openxmlformats.org/drawingml/2006/main" noGrp="1"/>
          </p:cNvSpPr>
          <p:nvPr/>
        </p:nvSpPr>
        <p:spPr>
          <a:xfrm xmlns:a="http://schemas.openxmlformats.org/drawingml/2006/main">
            <a:off x="5619750" y="1943100"/>
            <a:ext cx="5962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0" i="0">
                <a:solidFill>
                  <a:srgbClr val="5A5A5A"/>
                </a:solidFill>
              </a:defRPr>
            </a:pPr>
            <a:r>
              <a:rPr sz="1200" b="0" i="0">
                <a:solidFill>
                  <a:srgbClr val="5A5A5A"/>
                </a:solidFill>
              </a:rPr>
              <a:t>33 retained ratings · mean observed rating 7.79</a:t>
            </a:r>
          </a:p>
        </p:txBody>
      </p:sp>
      <p:sp>
        <p:nvSpPr>
          <p:cNvPr id="13" name="text">
            <a:extLst xmlns:a="http://schemas.openxmlformats.org/drawingml/2006/main">
              <a:ext uri="{FF2B5EF4-FFF2-40B4-BE49-F238E27FC236}">
                <a16:creationId xmlns:a16="http://schemas.microsoft.com/office/drawing/2014/main" id="{6ED86031-12AF-4400-8FD8-4F85C784B292}"/>
              </a:ext>
            </a:extLst>
          </p:cNvPr>
          <p:cNvSpPr>
            <a:spLocks xmlns:a="http://schemas.openxmlformats.org/drawingml/2006/main" noGrp="1"/>
          </p:cNvSpPr>
          <p:nvPr/>
        </p:nvSpPr>
        <p:spPr>
          <a:xfrm xmlns:a="http://schemas.openxmlformats.org/drawingml/2006/main">
            <a:off x="5676900" y="2333625"/>
            <a:ext cx="720471"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i="0">
                <a:solidFill>
                  <a:srgbClr val="8A8178"/>
                </a:solidFill>
              </a:defRPr>
            </a:pPr>
            <a:r>
              <a:rPr sz="900" b="1" i="0">
                <a:solidFill>
                  <a:srgbClr val="8A8178"/>
                </a:solidFill>
              </a:rPr>
              <a:t>RANK</a:t>
            </a:r>
          </a:p>
        </p:txBody>
      </p:sp>
      <p:sp>
        <p:nvSpPr>
          <p:cNvPr id="14" name="text">
            <a:extLst xmlns:a="http://schemas.openxmlformats.org/drawingml/2006/main">
              <a:ext uri="{FF2B5EF4-FFF2-40B4-BE49-F238E27FC236}">
                <a16:creationId xmlns:a16="http://schemas.microsoft.com/office/drawing/2014/main" id="{B6C92B20-7BA3-46C5-BA39-DD611D67C0D8}"/>
              </a:ext>
            </a:extLst>
          </p:cNvPr>
          <p:cNvSpPr>
            <a:spLocks xmlns:a="http://schemas.openxmlformats.org/drawingml/2006/main" noGrp="1"/>
          </p:cNvSpPr>
          <p:nvPr/>
        </p:nvSpPr>
        <p:spPr>
          <a:xfrm xmlns:a="http://schemas.openxmlformats.org/drawingml/2006/main">
            <a:off x="6511671" y="2333625"/>
            <a:ext cx="3582543"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1" i="0">
                <a:solidFill>
                  <a:srgbClr val="8A8178"/>
                </a:solidFill>
              </a:defRPr>
            </a:pPr>
            <a:r>
              <a:rPr sz="900" b="1" i="0">
                <a:solidFill>
                  <a:srgbClr val="8A8178"/>
                </a:solidFill>
              </a:rPr>
              <a:t>ANIME</a:t>
            </a:r>
          </a:p>
        </p:txBody>
      </p:sp>
      <p:sp>
        <p:nvSpPr>
          <p:cNvPr id="15" name="text">
            <a:extLst xmlns:a="http://schemas.openxmlformats.org/drawingml/2006/main">
              <a:ext uri="{FF2B5EF4-FFF2-40B4-BE49-F238E27FC236}">
                <a16:creationId xmlns:a16="http://schemas.microsoft.com/office/drawing/2014/main" id="{1D4258F2-9CFA-4B2D-B08B-70CA851F6750}"/>
              </a:ext>
            </a:extLst>
          </p:cNvPr>
          <p:cNvSpPr>
            <a:spLocks xmlns:a="http://schemas.openxmlformats.org/drawingml/2006/main" noGrp="1"/>
          </p:cNvSpPr>
          <p:nvPr/>
        </p:nvSpPr>
        <p:spPr>
          <a:xfrm xmlns:a="http://schemas.openxmlformats.org/drawingml/2006/main">
            <a:off x="10208514" y="2333625"/>
            <a:ext cx="1316736"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i="0">
                <a:solidFill>
                  <a:srgbClr val="8A8178"/>
                </a:solidFill>
              </a:defRPr>
            </a:pPr>
            <a:r>
              <a:rPr sz="900" b="1" i="0">
                <a:solidFill>
                  <a:srgbClr val="8A8178"/>
                </a:solidFill>
              </a:rPr>
              <a:t>PREDICTED</a:t>
            </a:r>
          </a:p>
        </p:txBody>
      </p:sp>
      <p:sp>
        <p:nvSpPr>
          <p:cNvPr id="16" name="rule">
            <a:extLst xmlns:a="http://schemas.openxmlformats.org/drawingml/2006/main">
              <a:ext uri="{FF2B5EF4-FFF2-40B4-BE49-F238E27FC236}">
                <a16:creationId xmlns:a16="http://schemas.microsoft.com/office/drawing/2014/main" id="{F2A9810D-E6CD-4F19-BC0D-EB14F5B1BB97}"/>
              </a:ext>
            </a:extLst>
          </p:cNvPr>
          <p:cNvSpPr>
            <a:spLocks xmlns:a="http://schemas.openxmlformats.org/drawingml/2006/main" noGrp="1"/>
          </p:cNvSpPr>
          <p:nvPr/>
        </p:nvSpPr>
        <p:spPr>
          <a:xfrm xmlns:a="http://schemas.openxmlformats.org/drawingml/2006/main">
            <a:off x="5619750" y="2752725"/>
            <a:ext cx="5962650" cy="9525"/>
          </a:xfrm>
          <a:prstGeom xmlns:a="http://schemas.openxmlformats.org/drawingml/2006/main" prst="rect">
            <a:avLst/>
          </a:prstGeom>
          <a:solidFill xmlns:a="http://schemas.openxmlformats.org/drawingml/2006/main">
            <a:srgbClr val="1A1A1A"/>
          </a:solidFill>
          <a:ln xmlns:a="http://schemas.openxmlformats.org/drawingml/2006/main" w="9525">
            <a:solidFill>
              <a:srgbClr val="1A1A1A"/>
            </a:solidFill>
            <a:prstDash val="solid"/>
          </a:ln>
        </p:spPr>
      </p:sp>
      <p:sp>
        <p:nvSpPr>
          <p:cNvPr id="17" name="text">
            <a:extLst xmlns:a="http://schemas.openxmlformats.org/drawingml/2006/main">
              <a:ext uri="{FF2B5EF4-FFF2-40B4-BE49-F238E27FC236}">
                <a16:creationId xmlns:a16="http://schemas.microsoft.com/office/drawing/2014/main" id="{3C094E4B-6961-4E69-A74F-6460E085A8F0}"/>
              </a:ext>
            </a:extLst>
          </p:cNvPr>
          <p:cNvSpPr>
            <a:spLocks xmlns:a="http://schemas.openxmlformats.org/drawingml/2006/main" noGrp="1"/>
          </p:cNvSpPr>
          <p:nvPr/>
        </p:nvSpPr>
        <p:spPr>
          <a:xfrm xmlns:a="http://schemas.openxmlformats.org/drawingml/2006/main">
            <a:off x="5676900" y="2819400"/>
            <a:ext cx="720471"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i="0">
                <a:solidFill>
                  <a:srgbClr val="1A1A1A"/>
                </a:solidFill>
              </a:defRPr>
            </a:pPr>
            <a:r>
              <a:rPr sz="1050" b="1" i="0">
                <a:solidFill>
                  <a:srgbClr val="1A1A1A"/>
                </a:solidFill>
              </a:rPr>
              <a:t>1</a:t>
            </a:r>
          </a:p>
        </p:txBody>
      </p:sp>
      <p:sp>
        <p:nvSpPr>
          <p:cNvPr id="18" name="text">
            <a:extLst xmlns:a="http://schemas.openxmlformats.org/drawingml/2006/main">
              <a:ext uri="{FF2B5EF4-FFF2-40B4-BE49-F238E27FC236}">
                <a16:creationId xmlns:a16="http://schemas.microsoft.com/office/drawing/2014/main" id="{83B93EAB-B399-4F7E-ADDB-FECD9650D724}"/>
              </a:ext>
            </a:extLst>
          </p:cNvPr>
          <p:cNvSpPr>
            <a:spLocks xmlns:a="http://schemas.openxmlformats.org/drawingml/2006/main" noGrp="1"/>
          </p:cNvSpPr>
          <p:nvPr/>
        </p:nvSpPr>
        <p:spPr>
          <a:xfrm xmlns:a="http://schemas.openxmlformats.org/drawingml/2006/main">
            <a:off x="6511671" y="2819400"/>
            <a:ext cx="3582543"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050" b="0" i="0">
                <a:solidFill>
                  <a:srgbClr val="5A5A5A"/>
                </a:solidFill>
              </a:defRPr>
            </a:pPr>
            <a:r>
              <a:rPr sz="1050" b="0" i="0">
                <a:solidFill>
                  <a:srgbClr val="5A5A5A"/>
                </a:solidFill>
              </a:rPr>
              <a:t>Ginga Eiyuu Densetsu</a:t>
            </a:r>
          </a:p>
        </p:txBody>
      </p:sp>
      <p:sp>
        <p:nvSpPr>
          <p:cNvPr id="19" name="text">
            <a:extLst xmlns:a="http://schemas.openxmlformats.org/drawingml/2006/main">
              <a:ext uri="{FF2B5EF4-FFF2-40B4-BE49-F238E27FC236}">
                <a16:creationId xmlns:a16="http://schemas.microsoft.com/office/drawing/2014/main" id="{5057E7FD-F169-47EA-89AC-E627C4339307}"/>
              </a:ext>
            </a:extLst>
          </p:cNvPr>
          <p:cNvSpPr>
            <a:spLocks xmlns:a="http://schemas.openxmlformats.org/drawingml/2006/main" noGrp="1"/>
          </p:cNvSpPr>
          <p:nvPr/>
        </p:nvSpPr>
        <p:spPr>
          <a:xfrm xmlns:a="http://schemas.openxmlformats.org/drawingml/2006/main">
            <a:off x="10208514" y="2819400"/>
            <a:ext cx="1316736"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i="0">
                <a:solidFill>
                  <a:srgbClr val="5A5A5A"/>
                </a:solidFill>
              </a:defRPr>
            </a:pPr>
            <a:r>
              <a:rPr sz="1050" b="0" i="0">
                <a:solidFill>
                  <a:srgbClr val="5A5A5A"/>
                </a:solidFill>
              </a:rPr>
              <a:t>9.6250</a:t>
            </a:r>
          </a:p>
        </p:txBody>
      </p:sp>
      <p:sp>
        <p:nvSpPr>
          <p:cNvPr id="20" name="rule">
            <a:extLst xmlns:a="http://schemas.openxmlformats.org/drawingml/2006/main">
              <a:ext uri="{FF2B5EF4-FFF2-40B4-BE49-F238E27FC236}">
                <a16:creationId xmlns:a16="http://schemas.microsoft.com/office/drawing/2014/main" id="{6B9A0611-8045-4EEC-893C-61A9DDF108FC}"/>
              </a:ext>
            </a:extLst>
          </p:cNvPr>
          <p:cNvSpPr>
            <a:spLocks xmlns:a="http://schemas.openxmlformats.org/drawingml/2006/main" noGrp="1"/>
          </p:cNvSpPr>
          <p:nvPr/>
        </p:nvSpPr>
        <p:spPr>
          <a:xfrm xmlns:a="http://schemas.openxmlformats.org/drawingml/2006/main">
            <a:off x="5619750" y="3171825"/>
            <a:ext cx="5962650" cy="9525"/>
          </a:xfrm>
          <a:prstGeom xmlns:a="http://schemas.openxmlformats.org/drawingml/2006/main" prst="rect">
            <a:avLst/>
          </a:prstGeom>
          <a:solidFill xmlns:a="http://schemas.openxmlformats.org/drawingml/2006/main">
            <a:srgbClr val="B8B0A4"/>
          </a:solidFill>
          <a:ln xmlns:a="http://schemas.openxmlformats.org/drawingml/2006/main" w="9525">
            <a:solidFill>
              <a:srgbClr val="B8B0A4"/>
            </a:solidFill>
            <a:prstDash val="solid"/>
          </a:ln>
        </p:spPr>
      </p:sp>
      <p:sp>
        <p:nvSpPr>
          <p:cNvPr id="21" name="text">
            <a:extLst xmlns:a="http://schemas.openxmlformats.org/drawingml/2006/main">
              <a:ext uri="{FF2B5EF4-FFF2-40B4-BE49-F238E27FC236}">
                <a16:creationId xmlns:a16="http://schemas.microsoft.com/office/drawing/2014/main" id="{BF78D715-BA39-43D1-BDC7-BA61044CE5AB}"/>
              </a:ext>
            </a:extLst>
          </p:cNvPr>
          <p:cNvSpPr>
            <a:spLocks xmlns:a="http://schemas.openxmlformats.org/drawingml/2006/main" noGrp="1"/>
          </p:cNvSpPr>
          <p:nvPr/>
        </p:nvSpPr>
        <p:spPr>
          <a:xfrm xmlns:a="http://schemas.openxmlformats.org/drawingml/2006/main">
            <a:off x="5676900" y="3238500"/>
            <a:ext cx="720471"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i="0">
                <a:solidFill>
                  <a:srgbClr val="1A1A1A"/>
                </a:solidFill>
              </a:defRPr>
            </a:pPr>
            <a:r>
              <a:rPr sz="1050" b="1" i="0">
                <a:solidFill>
                  <a:srgbClr val="1A1A1A"/>
                </a:solidFill>
              </a:rPr>
              <a:t>2</a:t>
            </a:r>
          </a:p>
        </p:txBody>
      </p:sp>
      <p:sp>
        <p:nvSpPr>
          <p:cNvPr id="22" name="text">
            <a:extLst xmlns:a="http://schemas.openxmlformats.org/drawingml/2006/main">
              <a:ext uri="{FF2B5EF4-FFF2-40B4-BE49-F238E27FC236}">
                <a16:creationId xmlns:a16="http://schemas.microsoft.com/office/drawing/2014/main" id="{24DD74B2-3875-4CCA-B581-4CA3049D0B87}"/>
              </a:ext>
            </a:extLst>
          </p:cNvPr>
          <p:cNvSpPr>
            <a:spLocks xmlns:a="http://schemas.openxmlformats.org/drawingml/2006/main" noGrp="1"/>
          </p:cNvSpPr>
          <p:nvPr/>
        </p:nvSpPr>
        <p:spPr>
          <a:xfrm xmlns:a="http://schemas.openxmlformats.org/drawingml/2006/main">
            <a:off x="6511671" y="3238500"/>
            <a:ext cx="3582543"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050" b="0" i="0">
                <a:solidFill>
                  <a:srgbClr val="5A5A5A"/>
                </a:solidFill>
              </a:defRPr>
            </a:pPr>
            <a:r>
              <a:rPr sz="1050" b="0" i="0">
                <a:solidFill>
                  <a:srgbClr val="5A5A5A"/>
                </a:solidFill>
              </a:rPr>
              <a:t>Gintama°</a:t>
            </a:r>
          </a:p>
        </p:txBody>
      </p:sp>
      <p:sp>
        <p:nvSpPr>
          <p:cNvPr id="23" name="text">
            <a:extLst xmlns:a="http://schemas.openxmlformats.org/drawingml/2006/main">
              <a:ext uri="{FF2B5EF4-FFF2-40B4-BE49-F238E27FC236}">
                <a16:creationId xmlns:a16="http://schemas.microsoft.com/office/drawing/2014/main" id="{2AAC6358-690A-4A71-A97A-9F17F106F50F}"/>
              </a:ext>
            </a:extLst>
          </p:cNvPr>
          <p:cNvSpPr>
            <a:spLocks xmlns:a="http://schemas.openxmlformats.org/drawingml/2006/main" noGrp="1"/>
          </p:cNvSpPr>
          <p:nvPr/>
        </p:nvSpPr>
        <p:spPr>
          <a:xfrm xmlns:a="http://schemas.openxmlformats.org/drawingml/2006/main">
            <a:off x="10208514" y="3238500"/>
            <a:ext cx="1316736"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i="0">
                <a:solidFill>
                  <a:srgbClr val="5A5A5A"/>
                </a:solidFill>
              </a:defRPr>
            </a:pPr>
            <a:r>
              <a:rPr sz="1050" b="0" i="0">
                <a:solidFill>
                  <a:srgbClr val="5A5A5A"/>
                </a:solidFill>
              </a:rPr>
              <a:t>9.4408</a:t>
            </a:r>
          </a:p>
        </p:txBody>
      </p:sp>
      <p:sp>
        <p:nvSpPr>
          <p:cNvPr id="24" name="rule">
            <a:extLst xmlns:a="http://schemas.openxmlformats.org/drawingml/2006/main">
              <a:ext uri="{FF2B5EF4-FFF2-40B4-BE49-F238E27FC236}">
                <a16:creationId xmlns:a16="http://schemas.microsoft.com/office/drawing/2014/main" id="{D55378CF-51FF-436F-87F6-BAE52D7F31E2}"/>
              </a:ext>
            </a:extLst>
          </p:cNvPr>
          <p:cNvSpPr>
            <a:spLocks xmlns:a="http://schemas.openxmlformats.org/drawingml/2006/main" noGrp="1"/>
          </p:cNvSpPr>
          <p:nvPr/>
        </p:nvSpPr>
        <p:spPr>
          <a:xfrm xmlns:a="http://schemas.openxmlformats.org/drawingml/2006/main">
            <a:off x="5619750" y="3590925"/>
            <a:ext cx="5962650" cy="9525"/>
          </a:xfrm>
          <a:prstGeom xmlns:a="http://schemas.openxmlformats.org/drawingml/2006/main" prst="rect">
            <a:avLst/>
          </a:prstGeom>
          <a:solidFill xmlns:a="http://schemas.openxmlformats.org/drawingml/2006/main">
            <a:srgbClr val="B8B0A4"/>
          </a:solidFill>
          <a:ln xmlns:a="http://schemas.openxmlformats.org/drawingml/2006/main" w="9525">
            <a:solidFill>
              <a:srgbClr val="B8B0A4"/>
            </a:solidFill>
            <a:prstDash val="solid"/>
          </a:ln>
        </p:spPr>
      </p:sp>
      <p:sp>
        <p:nvSpPr>
          <p:cNvPr id="25" name="text">
            <a:extLst xmlns:a="http://schemas.openxmlformats.org/drawingml/2006/main">
              <a:ext uri="{FF2B5EF4-FFF2-40B4-BE49-F238E27FC236}">
                <a16:creationId xmlns:a16="http://schemas.microsoft.com/office/drawing/2014/main" id="{64B5101E-5958-4D70-AB6E-D26C391F7733}"/>
              </a:ext>
            </a:extLst>
          </p:cNvPr>
          <p:cNvSpPr>
            <a:spLocks xmlns:a="http://schemas.openxmlformats.org/drawingml/2006/main" noGrp="1"/>
          </p:cNvSpPr>
          <p:nvPr/>
        </p:nvSpPr>
        <p:spPr>
          <a:xfrm xmlns:a="http://schemas.openxmlformats.org/drawingml/2006/main">
            <a:off x="5676900" y="3657600"/>
            <a:ext cx="720471"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i="0">
                <a:solidFill>
                  <a:srgbClr val="1A1A1A"/>
                </a:solidFill>
              </a:defRPr>
            </a:pPr>
            <a:r>
              <a:rPr sz="1050" b="1" i="0">
                <a:solidFill>
                  <a:srgbClr val="1A1A1A"/>
                </a:solidFill>
              </a:rPr>
              <a:t>3</a:t>
            </a:r>
          </a:p>
        </p:txBody>
      </p:sp>
      <p:sp>
        <p:nvSpPr>
          <p:cNvPr id="26" name="text">
            <a:extLst xmlns:a="http://schemas.openxmlformats.org/drawingml/2006/main">
              <a:ext uri="{FF2B5EF4-FFF2-40B4-BE49-F238E27FC236}">
                <a16:creationId xmlns:a16="http://schemas.microsoft.com/office/drawing/2014/main" id="{D8CEAB8D-6E8E-4751-8B6A-952C81E39B28}"/>
              </a:ext>
            </a:extLst>
          </p:cNvPr>
          <p:cNvSpPr>
            <a:spLocks xmlns:a="http://schemas.openxmlformats.org/drawingml/2006/main" noGrp="1"/>
          </p:cNvSpPr>
          <p:nvPr/>
        </p:nvSpPr>
        <p:spPr>
          <a:xfrm xmlns:a="http://schemas.openxmlformats.org/drawingml/2006/main">
            <a:off x="6511671" y="3657600"/>
            <a:ext cx="3582543"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050" b="0" i="0">
                <a:solidFill>
                  <a:srgbClr val="5A5A5A"/>
                </a:solidFill>
              </a:defRPr>
            </a:pPr>
            <a:r>
              <a:rPr sz="1050" b="0" i="0">
                <a:solidFill>
                  <a:srgbClr val="5A5A5A"/>
                </a:solidFill>
              </a:rPr>
              <a:t>Neon Genesis Evangelion</a:t>
            </a:r>
          </a:p>
        </p:txBody>
      </p:sp>
      <p:sp>
        <p:nvSpPr>
          <p:cNvPr id="27" name="text">
            <a:extLst xmlns:a="http://schemas.openxmlformats.org/drawingml/2006/main">
              <a:ext uri="{FF2B5EF4-FFF2-40B4-BE49-F238E27FC236}">
                <a16:creationId xmlns:a16="http://schemas.microsoft.com/office/drawing/2014/main" id="{AA4E4531-58D5-40D1-B68B-FBB643397757}"/>
              </a:ext>
            </a:extLst>
          </p:cNvPr>
          <p:cNvSpPr>
            <a:spLocks xmlns:a="http://schemas.openxmlformats.org/drawingml/2006/main" noGrp="1"/>
          </p:cNvSpPr>
          <p:nvPr/>
        </p:nvSpPr>
        <p:spPr>
          <a:xfrm xmlns:a="http://schemas.openxmlformats.org/drawingml/2006/main">
            <a:off x="10208514" y="3657600"/>
            <a:ext cx="1316736"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i="0">
                <a:solidFill>
                  <a:srgbClr val="5A5A5A"/>
                </a:solidFill>
              </a:defRPr>
            </a:pPr>
            <a:r>
              <a:rPr sz="1050" b="0" i="0">
                <a:solidFill>
                  <a:srgbClr val="5A5A5A"/>
                </a:solidFill>
              </a:rPr>
              <a:t>9.4265</a:t>
            </a:r>
          </a:p>
        </p:txBody>
      </p:sp>
      <p:sp>
        <p:nvSpPr>
          <p:cNvPr id="28" name="rule">
            <a:extLst xmlns:a="http://schemas.openxmlformats.org/drawingml/2006/main">
              <a:ext uri="{FF2B5EF4-FFF2-40B4-BE49-F238E27FC236}">
                <a16:creationId xmlns:a16="http://schemas.microsoft.com/office/drawing/2014/main" id="{0CDECEA2-61E8-43EB-B2A0-590C965F81F7}"/>
              </a:ext>
            </a:extLst>
          </p:cNvPr>
          <p:cNvSpPr>
            <a:spLocks xmlns:a="http://schemas.openxmlformats.org/drawingml/2006/main" noGrp="1"/>
          </p:cNvSpPr>
          <p:nvPr/>
        </p:nvSpPr>
        <p:spPr>
          <a:xfrm xmlns:a="http://schemas.openxmlformats.org/drawingml/2006/main">
            <a:off x="5619750" y="4010025"/>
            <a:ext cx="5962650" cy="9525"/>
          </a:xfrm>
          <a:prstGeom xmlns:a="http://schemas.openxmlformats.org/drawingml/2006/main" prst="rect">
            <a:avLst/>
          </a:prstGeom>
          <a:solidFill xmlns:a="http://schemas.openxmlformats.org/drawingml/2006/main">
            <a:srgbClr val="B8B0A4"/>
          </a:solidFill>
          <a:ln xmlns:a="http://schemas.openxmlformats.org/drawingml/2006/main" w="9525">
            <a:solidFill>
              <a:srgbClr val="B8B0A4"/>
            </a:solidFill>
            <a:prstDash val="solid"/>
          </a:ln>
        </p:spPr>
      </p:sp>
      <p:sp>
        <p:nvSpPr>
          <p:cNvPr id="29" name="text">
            <a:extLst xmlns:a="http://schemas.openxmlformats.org/drawingml/2006/main">
              <a:ext uri="{FF2B5EF4-FFF2-40B4-BE49-F238E27FC236}">
                <a16:creationId xmlns:a16="http://schemas.microsoft.com/office/drawing/2014/main" id="{F55F93E3-4979-4BDB-BD3D-D276C23D8F06}"/>
              </a:ext>
            </a:extLst>
          </p:cNvPr>
          <p:cNvSpPr>
            <a:spLocks xmlns:a="http://schemas.openxmlformats.org/drawingml/2006/main" noGrp="1"/>
          </p:cNvSpPr>
          <p:nvPr/>
        </p:nvSpPr>
        <p:spPr>
          <a:xfrm xmlns:a="http://schemas.openxmlformats.org/drawingml/2006/main">
            <a:off x="5676900" y="4076700"/>
            <a:ext cx="720471"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i="0">
                <a:solidFill>
                  <a:srgbClr val="1A1A1A"/>
                </a:solidFill>
              </a:defRPr>
            </a:pPr>
            <a:r>
              <a:rPr sz="1050" b="1" i="0">
                <a:solidFill>
                  <a:srgbClr val="1A1A1A"/>
                </a:solidFill>
              </a:rPr>
              <a:t>4</a:t>
            </a:r>
          </a:p>
        </p:txBody>
      </p:sp>
      <p:sp>
        <p:nvSpPr>
          <p:cNvPr id="30" name="text">
            <a:extLst xmlns:a="http://schemas.openxmlformats.org/drawingml/2006/main">
              <a:ext uri="{FF2B5EF4-FFF2-40B4-BE49-F238E27FC236}">
                <a16:creationId xmlns:a16="http://schemas.microsoft.com/office/drawing/2014/main" id="{F6021FBA-8960-4608-9001-752987EAF793}"/>
              </a:ext>
            </a:extLst>
          </p:cNvPr>
          <p:cNvSpPr>
            <a:spLocks xmlns:a="http://schemas.openxmlformats.org/drawingml/2006/main" noGrp="1"/>
          </p:cNvSpPr>
          <p:nvPr/>
        </p:nvSpPr>
        <p:spPr>
          <a:xfrm xmlns:a="http://schemas.openxmlformats.org/drawingml/2006/main">
            <a:off x="6511671" y="4076700"/>
            <a:ext cx="3582543"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050" b="0" i="0">
                <a:solidFill>
                  <a:srgbClr val="5A5A5A"/>
                </a:solidFill>
              </a:defRPr>
            </a:pPr>
            <a:r>
              <a:rPr sz="1050" b="0" i="0">
                <a:solidFill>
                  <a:srgbClr val="5A5A5A"/>
                </a:solidFill>
              </a:rPr>
              <a:t>Fullmetal Alchemist: Brotherhood</a:t>
            </a:r>
          </a:p>
        </p:txBody>
      </p:sp>
      <p:sp>
        <p:nvSpPr>
          <p:cNvPr id="31" name="text">
            <a:extLst xmlns:a="http://schemas.openxmlformats.org/drawingml/2006/main">
              <a:ext uri="{FF2B5EF4-FFF2-40B4-BE49-F238E27FC236}">
                <a16:creationId xmlns:a16="http://schemas.microsoft.com/office/drawing/2014/main" id="{2FAD4EA4-FE6F-4161-BDCD-6236F95E0D6B}"/>
              </a:ext>
            </a:extLst>
          </p:cNvPr>
          <p:cNvSpPr>
            <a:spLocks xmlns:a="http://schemas.openxmlformats.org/drawingml/2006/main" noGrp="1"/>
          </p:cNvSpPr>
          <p:nvPr/>
        </p:nvSpPr>
        <p:spPr>
          <a:xfrm xmlns:a="http://schemas.openxmlformats.org/drawingml/2006/main">
            <a:off x="10208514" y="4076700"/>
            <a:ext cx="1316736"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i="0">
                <a:solidFill>
                  <a:srgbClr val="5A5A5A"/>
                </a:solidFill>
              </a:defRPr>
            </a:pPr>
            <a:r>
              <a:rPr sz="1050" b="0" i="0">
                <a:solidFill>
                  <a:srgbClr val="5A5A5A"/>
                </a:solidFill>
              </a:rPr>
              <a:t>9.3124</a:t>
            </a:r>
          </a:p>
        </p:txBody>
      </p:sp>
      <p:sp>
        <p:nvSpPr>
          <p:cNvPr id="32" name="rule">
            <a:extLst xmlns:a="http://schemas.openxmlformats.org/drawingml/2006/main">
              <a:ext uri="{FF2B5EF4-FFF2-40B4-BE49-F238E27FC236}">
                <a16:creationId xmlns:a16="http://schemas.microsoft.com/office/drawing/2014/main" id="{3B5B2371-76A1-4215-8214-5A633B30769F}"/>
              </a:ext>
            </a:extLst>
          </p:cNvPr>
          <p:cNvSpPr>
            <a:spLocks xmlns:a="http://schemas.openxmlformats.org/drawingml/2006/main" noGrp="1"/>
          </p:cNvSpPr>
          <p:nvPr/>
        </p:nvSpPr>
        <p:spPr>
          <a:xfrm xmlns:a="http://schemas.openxmlformats.org/drawingml/2006/main">
            <a:off x="5619750" y="4429125"/>
            <a:ext cx="5962650" cy="9525"/>
          </a:xfrm>
          <a:prstGeom xmlns:a="http://schemas.openxmlformats.org/drawingml/2006/main" prst="rect">
            <a:avLst/>
          </a:prstGeom>
          <a:solidFill xmlns:a="http://schemas.openxmlformats.org/drawingml/2006/main">
            <a:srgbClr val="B8B0A4"/>
          </a:solidFill>
          <a:ln xmlns:a="http://schemas.openxmlformats.org/drawingml/2006/main" w="9525">
            <a:solidFill>
              <a:srgbClr val="B8B0A4"/>
            </a:solidFill>
            <a:prstDash val="solid"/>
          </a:ln>
        </p:spPr>
      </p:sp>
      <p:sp>
        <p:nvSpPr>
          <p:cNvPr id="33" name="text">
            <a:extLst xmlns:a="http://schemas.openxmlformats.org/drawingml/2006/main">
              <a:ext uri="{FF2B5EF4-FFF2-40B4-BE49-F238E27FC236}">
                <a16:creationId xmlns:a16="http://schemas.microsoft.com/office/drawing/2014/main" id="{4CFA6D99-ECEE-487C-83E6-A74D196DABF8}"/>
              </a:ext>
            </a:extLst>
          </p:cNvPr>
          <p:cNvSpPr>
            <a:spLocks xmlns:a="http://schemas.openxmlformats.org/drawingml/2006/main" noGrp="1"/>
          </p:cNvSpPr>
          <p:nvPr/>
        </p:nvSpPr>
        <p:spPr>
          <a:xfrm xmlns:a="http://schemas.openxmlformats.org/drawingml/2006/main">
            <a:off x="5676900" y="4495800"/>
            <a:ext cx="720471"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i="0">
                <a:solidFill>
                  <a:srgbClr val="1A1A1A"/>
                </a:solidFill>
              </a:defRPr>
            </a:pPr>
            <a:r>
              <a:rPr sz="1050" b="1" i="0">
                <a:solidFill>
                  <a:srgbClr val="1A1A1A"/>
                </a:solidFill>
              </a:rPr>
              <a:t>5</a:t>
            </a:r>
          </a:p>
        </p:txBody>
      </p:sp>
      <p:sp>
        <p:nvSpPr>
          <p:cNvPr id="34" name="text">
            <a:extLst xmlns:a="http://schemas.openxmlformats.org/drawingml/2006/main">
              <a:ext uri="{FF2B5EF4-FFF2-40B4-BE49-F238E27FC236}">
                <a16:creationId xmlns:a16="http://schemas.microsoft.com/office/drawing/2014/main" id="{7E4F2C9E-6D83-4A73-A6A2-99AE01F103D6}"/>
              </a:ext>
            </a:extLst>
          </p:cNvPr>
          <p:cNvSpPr>
            <a:spLocks xmlns:a="http://schemas.openxmlformats.org/drawingml/2006/main" noGrp="1"/>
          </p:cNvSpPr>
          <p:nvPr/>
        </p:nvSpPr>
        <p:spPr>
          <a:xfrm xmlns:a="http://schemas.openxmlformats.org/drawingml/2006/main">
            <a:off x="6511671" y="4495800"/>
            <a:ext cx="3582543"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050" b="0" i="0">
                <a:solidFill>
                  <a:srgbClr val="5A5A5A"/>
                </a:solidFill>
              </a:defRPr>
            </a:pPr>
            <a:r>
              <a:rPr sz="1050" b="0" i="0">
                <a:solidFill>
                  <a:srgbClr val="5A5A5A"/>
                </a:solidFill>
              </a:rPr>
              <a:t>Byousoku 5 Centimeter</a:t>
            </a:r>
          </a:p>
        </p:txBody>
      </p:sp>
      <p:sp>
        <p:nvSpPr>
          <p:cNvPr id="35" name="text">
            <a:extLst xmlns:a="http://schemas.openxmlformats.org/drawingml/2006/main">
              <a:ext uri="{FF2B5EF4-FFF2-40B4-BE49-F238E27FC236}">
                <a16:creationId xmlns:a16="http://schemas.microsoft.com/office/drawing/2014/main" id="{73BC9200-4D99-4DB8-810A-FE5B1A4006A1}"/>
              </a:ext>
            </a:extLst>
          </p:cNvPr>
          <p:cNvSpPr>
            <a:spLocks xmlns:a="http://schemas.openxmlformats.org/drawingml/2006/main" noGrp="1"/>
          </p:cNvSpPr>
          <p:nvPr/>
        </p:nvSpPr>
        <p:spPr>
          <a:xfrm xmlns:a="http://schemas.openxmlformats.org/drawingml/2006/main">
            <a:off x="10208514" y="4495800"/>
            <a:ext cx="1316736"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i="0">
                <a:solidFill>
                  <a:srgbClr val="5A5A5A"/>
                </a:solidFill>
              </a:defRPr>
            </a:pPr>
            <a:r>
              <a:rPr sz="1050" b="0" i="0">
                <a:solidFill>
                  <a:srgbClr val="5A5A5A"/>
                </a:solidFill>
              </a:rPr>
              <a:t>9.2897</a:t>
            </a:r>
          </a:p>
        </p:txBody>
      </p:sp>
      <p:sp>
        <p:nvSpPr>
          <p:cNvPr id="36" name="rule">
            <a:extLst xmlns:a="http://schemas.openxmlformats.org/drawingml/2006/main">
              <a:ext uri="{FF2B5EF4-FFF2-40B4-BE49-F238E27FC236}">
                <a16:creationId xmlns:a16="http://schemas.microsoft.com/office/drawing/2014/main" id="{78C66358-1D2A-42FF-BA57-6BB896024F29}"/>
              </a:ext>
            </a:extLst>
          </p:cNvPr>
          <p:cNvSpPr>
            <a:spLocks xmlns:a="http://schemas.openxmlformats.org/drawingml/2006/main" noGrp="1"/>
          </p:cNvSpPr>
          <p:nvPr/>
        </p:nvSpPr>
        <p:spPr>
          <a:xfrm xmlns:a="http://schemas.openxmlformats.org/drawingml/2006/main">
            <a:off x="5619750" y="4848225"/>
            <a:ext cx="5962650" cy="9525"/>
          </a:xfrm>
          <a:prstGeom xmlns:a="http://schemas.openxmlformats.org/drawingml/2006/main" prst="rect">
            <a:avLst/>
          </a:prstGeom>
          <a:solidFill xmlns:a="http://schemas.openxmlformats.org/drawingml/2006/main">
            <a:srgbClr val="B8B0A4"/>
          </a:solidFill>
          <a:ln xmlns:a="http://schemas.openxmlformats.org/drawingml/2006/main" w="9525">
            <a:solidFill>
              <a:srgbClr val="B8B0A4"/>
            </a:solidFill>
            <a:prstDash val="solid"/>
          </a:ln>
        </p:spPr>
      </p:sp>
      <p:sp>
        <p:nvSpPr>
          <p:cNvPr id="37" name="text">
            <a:extLst xmlns:a="http://schemas.openxmlformats.org/drawingml/2006/main">
              <a:ext uri="{FF2B5EF4-FFF2-40B4-BE49-F238E27FC236}">
                <a16:creationId xmlns:a16="http://schemas.microsoft.com/office/drawing/2014/main" id="{E9F60EE7-0CF1-42AC-B4D2-B9B4EEBFB571}"/>
              </a:ext>
            </a:extLst>
          </p:cNvPr>
          <p:cNvSpPr>
            <a:spLocks xmlns:a="http://schemas.openxmlformats.org/drawingml/2006/main" noGrp="1"/>
          </p:cNvSpPr>
          <p:nvPr/>
        </p:nvSpPr>
        <p:spPr>
          <a:xfrm xmlns:a="http://schemas.openxmlformats.org/drawingml/2006/main">
            <a:off x="5619750" y="4953000"/>
            <a:ext cx="59626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i="0">
                <a:solidFill>
                  <a:srgbClr val="1A1A1A"/>
                </a:solidFill>
              </a:defRPr>
            </a:pPr>
            <a:r>
              <a:rPr sz="1575" b="0" i="0">
                <a:solidFill>
                  <a:srgbClr val="1A1A1A"/>
                </a:solidFill>
              </a:rPr>
              <a:t>A prediction is an estimate—not a verified future rating, public average, or objective-quality claim.</a:t>
            </a:r>
          </a:p>
        </p:txBody>
      </p:sp>
    </p:spTree>
    <p:extLst>
      <p:ext uri="{BB962C8B-B14F-4D97-AF65-F5344CB8AC3E}">
        <p14:creationId xmlns:p14="http://schemas.microsoft.com/office/powerpoint/2010/main" val="311467200"/>
      </p:ext>
    </p:extLst>
  </p:cSld>
</p:sld>
</file>

<file path=ppt/slides/slide14.xml><?xml version="1.0" encoding="utf-8"?>
<p:sld xmlns:p="http://schemas.openxmlformats.org/presentationml/2006/main">
  <p:cSld>
    <p:bg>
      <p:bgPr>
        <a:solidFill xmlns:a="http://schemas.openxmlformats.org/drawingml/2006/main">
          <a:srgbClr val="EDE8E0"/>
        </a:solidFill>
      </p:bgPr>
    </p:bg>
    <p:spTree>
      <p:nvGrpSpPr>
        <p:cNvPr id="1" name=""/>
        <p:cNvGrpSpPr/>
        <p:nvPr/>
      </p:nvGrpSpPr>
      <p:grpSpPr>
        <a:xfrm xmlns:a="http://schemas.openxmlformats.org/drawingml/2006/main"/>
      </p:grpSpPr>
      <p:sp>
        <p:nvSpPr>
          <p:cNvPr id="35" name="outer-ring">
            <a:extLst xmlns:a="http://schemas.openxmlformats.org/drawingml/2006/main">
              <a:ext uri="{FF2B5EF4-FFF2-40B4-BE49-F238E27FC236}">
                <a16:creationId xmlns:a16="http://schemas.microsoft.com/office/drawing/2014/main" id="{A8B0F1C9-0170-4806-AFA3-10A653ED8523}"/>
              </a:ext>
            </a:extLst>
          </p:cNvPr>
          <p:cNvSpPr>
            <a:spLocks xmlns:a="http://schemas.openxmlformats.org/drawingml/2006/main" noGrp="1"/>
          </p:cNvSpPr>
          <p:nvPr/>
        </p:nvSpPr>
        <p:spPr>
          <a:xfrm xmlns:a="http://schemas.openxmlformats.org/drawingml/2006/main">
            <a:off x="9620250" y="-1143000"/>
            <a:ext cx="3714750" cy="3714750"/>
          </a:xfrm>
          <a:prstGeom xmlns:a="http://schemas.openxmlformats.org/drawingml/2006/main" prst="rect">
            <a:avLst/>
          </a:prstGeom>
          <a:noFill xmlns:a="http://schemas.openxmlformats.org/drawingml/2006/main"/>
          <a:ln xmlns:a="http://schemas.openxmlformats.org/drawingml/2006/main" w="9525">
            <a:solidFill>
              <a:srgbClr val="B8B0A4"/>
            </a:solidFill>
            <a:prstDash val="solid"/>
          </a:ln>
        </p:spPr>
      </p:sp>
      <p:sp>
        <p:nvSpPr>
          <p:cNvPr id="2" name="inner-ring">
            <a:extLst xmlns:a="http://schemas.openxmlformats.org/drawingml/2006/main">
              <a:ext uri="{FF2B5EF4-FFF2-40B4-BE49-F238E27FC236}">
                <a16:creationId xmlns:a16="http://schemas.microsoft.com/office/drawing/2014/main" id="{B53A143B-B0D2-4505-B42A-EE1D14D129B1}"/>
              </a:ext>
            </a:extLst>
          </p:cNvPr>
          <p:cNvSpPr>
            <a:spLocks xmlns:a="http://schemas.openxmlformats.org/drawingml/2006/main" noGrp="1"/>
          </p:cNvSpPr>
          <p:nvPr/>
        </p:nvSpPr>
        <p:spPr>
          <a:xfrm xmlns:a="http://schemas.openxmlformats.org/drawingml/2006/main">
            <a:off x="10191750" y="-571500"/>
            <a:ext cx="2571750" cy="2571750"/>
          </a:xfrm>
          <a:prstGeom xmlns:a="http://schemas.openxmlformats.org/drawingml/2006/main" prst="rect">
            <a:avLst/>
          </a:prstGeom>
          <a:noFill xmlns:a="http://schemas.openxmlformats.org/drawingml/2006/main"/>
          <a:ln xmlns:a="http://schemas.openxmlformats.org/drawingml/2006/main" w="9525">
            <a:solidFill>
              <a:srgbClr val="B8B0A4"/>
            </a:solidFill>
            <a:prstDash val="solid"/>
          </a:ln>
        </p:spPr>
      </p:sp>
      <p:sp>
        <p:nvSpPr>
          <p:cNvPr id="3" name="eyebrow">
            <a:extLst xmlns:a="http://schemas.openxmlformats.org/drawingml/2006/main">
              <a:ext uri="{FF2B5EF4-FFF2-40B4-BE49-F238E27FC236}">
                <a16:creationId xmlns:a16="http://schemas.microsoft.com/office/drawing/2014/main" id="{CA712753-91E7-4BBE-89CE-2AEFEEAD9E57}"/>
              </a:ext>
            </a:extLst>
          </p:cNvPr>
          <p:cNvSpPr>
            <a:spLocks xmlns:a="http://schemas.openxmlformats.org/drawingml/2006/main" noGrp="1"/>
          </p:cNvSpPr>
          <p:nvPr/>
        </p:nvSpPr>
        <p:spPr>
          <a:xfrm xmlns:a="http://schemas.openxmlformats.org/drawingml/2006/main">
            <a:off x="609600" y="4000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i="0">
                <a:solidFill>
                  <a:srgbClr val="8A8178"/>
                </a:solidFill>
              </a:defRPr>
            </a:pPr>
            <a:r>
              <a:rPr sz="975" b="1" i="0">
                <a:solidFill>
                  <a:srgbClr val="8A8178"/>
                </a:solidFill>
              </a:rPr>
              <a:t>CONCLUSION, NEXT STEPS &amp; REFERENCES</a:t>
            </a:r>
          </a:p>
        </p:txBody>
      </p:sp>
      <p:sp>
        <p:nvSpPr>
          <p:cNvPr id="4" name="title">
            <a:extLst xmlns:a="http://schemas.openxmlformats.org/drawingml/2006/main">
              <a:ext uri="{FF2B5EF4-FFF2-40B4-BE49-F238E27FC236}">
                <a16:creationId xmlns:a16="http://schemas.microsoft.com/office/drawing/2014/main" id="{71CE7E72-87F1-492C-85F4-32C5A3AF5F80}"/>
              </a:ext>
            </a:extLst>
          </p:cNvPr>
          <p:cNvSpPr>
            <a:spLocks xmlns:a="http://schemas.openxmlformats.org/drawingml/2006/main" noGrp="1"/>
          </p:cNvSpPr>
          <p:nvPr/>
        </p:nvSpPr>
        <p:spPr>
          <a:xfrm xmlns:a="http://schemas.openxmlformats.org/drawingml/2006/main">
            <a:off x="609600" y="723900"/>
            <a:ext cx="10668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150" b="0" i="0">
                <a:solidFill>
                  <a:srgbClr val="1A1A1A"/>
                </a:solidFill>
              </a:defRPr>
            </a:pPr>
            <a:r>
              <a:rPr sz="3150" b="0" i="0">
                <a:solidFill>
                  <a:srgbClr val="1A1A1A"/>
                </a:solidFill>
              </a:rPr>
              <a:t>The baseline is reproducible—and its boundaries are explicit</a:t>
            </a:r>
          </a:p>
        </p:txBody>
      </p:sp>
      <p:sp>
        <p:nvSpPr>
          <p:cNvPr id="5" name="rule">
            <a:extLst xmlns:a="http://schemas.openxmlformats.org/drawingml/2006/main">
              <a:ext uri="{FF2B5EF4-FFF2-40B4-BE49-F238E27FC236}">
                <a16:creationId xmlns:a16="http://schemas.microsoft.com/office/drawing/2014/main" id="{9001F8C8-FAA9-4057-8D80-DAAA50E039B7}"/>
              </a:ext>
            </a:extLst>
          </p:cNvPr>
          <p:cNvSpPr>
            <a:spLocks xmlns:a="http://schemas.openxmlformats.org/drawingml/2006/main" noGrp="1"/>
          </p:cNvSpPr>
          <p:nvPr/>
        </p:nvSpPr>
        <p:spPr>
          <a:xfrm xmlns:a="http://schemas.openxmlformats.org/drawingml/2006/main">
            <a:off x="609600" y="6429375"/>
            <a:ext cx="10972800" cy="9525"/>
          </a:xfrm>
          <a:prstGeom xmlns:a="http://schemas.openxmlformats.org/drawingml/2006/main" prst="rect">
            <a:avLst/>
          </a:prstGeom>
          <a:solidFill xmlns:a="http://schemas.openxmlformats.org/drawingml/2006/main">
            <a:srgbClr val="B8B0A4"/>
          </a:solidFill>
          <a:ln xmlns:a="http://schemas.openxmlformats.org/drawingml/2006/main" w="9525">
            <a:solidFill>
              <a:srgbClr val="B8B0A4"/>
            </a:solidFill>
            <a:prstDash val="solid"/>
          </a:ln>
        </p:spPr>
      </p:sp>
      <p:sp>
        <p:nvSpPr>
          <p:cNvPr id="6" name="text">
            <a:extLst xmlns:a="http://schemas.openxmlformats.org/drawingml/2006/main">
              <a:ext uri="{FF2B5EF4-FFF2-40B4-BE49-F238E27FC236}">
                <a16:creationId xmlns:a16="http://schemas.microsoft.com/office/drawing/2014/main" id="{90264728-07C0-4A6E-85C0-E104DEF034A2}"/>
              </a:ext>
            </a:extLst>
          </p:cNvPr>
          <p:cNvSpPr>
            <a:spLocks xmlns:a="http://schemas.openxmlformats.org/drawingml/2006/main" noGrp="1"/>
          </p:cNvSpPr>
          <p:nvPr/>
        </p:nvSpPr>
        <p:spPr>
          <a:xfrm xmlns:a="http://schemas.openxmlformats.org/drawingml/2006/main">
            <a:off x="609600" y="652462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1" i="0">
                <a:solidFill>
                  <a:srgbClr val="8A8178"/>
                </a:solidFill>
              </a:defRPr>
            </a:pPr>
            <a:r>
              <a:rPr sz="750" b="1" i="0">
                <a:solidFill>
                  <a:srgbClr val="8A8178"/>
                </a:solidFill>
              </a:rPr>
              <a:t>GROUP 14 · DUY TAN UNIVERSITY, DA NANG</a:t>
            </a:r>
          </a:p>
        </p:txBody>
      </p:sp>
      <p:sp>
        <p:nvSpPr>
          <p:cNvPr id="7" name="text">
            <a:extLst xmlns:a="http://schemas.openxmlformats.org/drawingml/2006/main">
              <a:ext uri="{FF2B5EF4-FFF2-40B4-BE49-F238E27FC236}">
                <a16:creationId xmlns:a16="http://schemas.microsoft.com/office/drawing/2014/main" id="{6ECDBBCC-0EB4-49C3-B632-7AE5BECA2ABC}"/>
              </a:ext>
            </a:extLst>
          </p:cNvPr>
          <p:cNvSpPr>
            <a:spLocks xmlns:a="http://schemas.openxmlformats.org/drawingml/2006/main" noGrp="1"/>
          </p:cNvSpPr>
          <p:nvPr/>
        </p:nvSpPr>
        <p:spPr>
          <a:xfrm xmlns:a="http://schemas.openxmlformats.org/drawingml/2006/main">
            <a:off x="11144250" y="65246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750" b="0" i="0">
                <a:solidFill>
                  <a:srgbClr val="8A8178"/>
                </a:solidFill>
              </a:defRPr>
            </a:pPr>
            <a:r>
              <a:rPr sz="750" b="0" i="0">
                <a:solidFill>
                  <a:srgbClr val="8A8178"/>
                </a:solidFill>
              </a:rPr>
              <a:t>14</a:t>
            </a:r>
          </a:p>
        </p:txBody>
      </p:sp>
      <p:sp>
        <p:nvSpPr>
          <p:cNvPr id="8" name="text">
            <a:extLst xmlns:a="http://schemas.openxmlformats.org/drawingml/2006/main">
              <a:ext uri="{FF2B5EF4-FFF2-40B4-BE49-F238E27FC236}">
                <a16:creationId xmlns:a16="http://schemas.microsoft.com/office/drawing/2014/main" id="{76CC4D45-7D31-43C4-B6F6-B4A43501E8D7}"/>
              </a:ext>
            </a:extLst>
          </p:cNvPr>
          <p:cNvSpPr>
            <a:spLocks xmlns:a="http://schemas.openxmlformats.org/drawingml/2006/main" noGrp="1"/>
          </p:cNvSpPr>
          <p:nvPr/>
        </p:nvSpPr>
        <p:spPr>
          <a:xfrm xmlns:a="http://schemas.openxmlformats.org/drawingml/2006/main">
            <a:off x="609600" y="1476375"/>
            <a:ext cx="10972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0" i="0">
                <a:solidFill>
                  <a:srgbClr val="1A1A1A"/>
                </a:solidFill>
              </a:defRPr>
            </a:pPr>
            <a:r>
              <a:rPr sz="1800" b="0" i="0">
                <a:solidFill>
                  <a:srgbClr val="1A1A1A"/>
                </a:solidFill>
              </a:rPr>
              <a:t>The project turns explicit ratings into unseen-anime Top-10 recommendations while keeping data semantics, evaluation scope, and serving logic auditable.</a:t>
            </a:r>
          </a:p>
        </p:txBody>
      </p:sp>
      <p:sp>
        <p:nvSpPr>
          <p:cNvPr id="9" name="text">
            <a:extLst xmlns:a="http://schemas.openxmlformats.org/drawingml/2006/main">
              <a:ext uri="{FF2B5EF4-FFF2-40B4-BE49-F238E27FC236}">
                <a16:creationId xmlns:a16="http://schemas.microsoft.com/office/drawing/2014/main" id="{94C9472E-9F2E-451C-87EA-D874E4AA3DC7}"/>
              </a:ext>
            </a:extLst>
          </p:cNvPr>
          <p:cNvSpPr>
            <a:spLocks xmlns:a="http://schemas.openxmlformats.org/drawingml/2006/main" noGrp="1"/>
          </p:cNvSpPr>
          <p:nvPr/>
        </p:nvSpPr>
        <p:spPr>
          <a:xfrm xmlns:a="http://schemas.openxmlformats.org/drawingml/2006/main">
            <a:off x="666750" y="2238375"/>
            <a:ext cx="264604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i="0">
                <a:solidFill>
                  <a:srgbClr val="8A8178"/>
                </a:solidFill>
              </a:defRPr>
            </a:pPr>
            <a:r>
              <a:rPr sz="900" b="1" i="0">
                <a:solidFill>
                  <a:srgbClr val="8A8178"/>
                </a:solidFill>
              </a:rPr>
              <a:t>LIMITATION</a:t>
            </a:r>
          </a:p>
        </p:txBody>
      </p:sp>
      <p:sp>
        <p:nvSpPr>
          <p:cNvPr id="10" name="text">
            <a:extLst xmlns:a="http://schemas.openxmlformats.org/drawingml/2006/main">
              <a:ext uri="{FF2B5EF4-FFF2-40B4-BE49-F238E27FC236}">
                <a16:creationId xmlns:a16="http://schemas.microsoft.com/office/drawing/2014/main" id="{C866D419-878D-4FE5-9E4B-510EC8AD7420}"/>
              </a:ext>
            </a:extLst>
          </p:cNvPr>
          <p:cNvSpPr>
            <a:spLocks xmlns:a="http://schemas.openxmlformats.org/drawingml/2006/main" noGrp="1"/>
          </p:cNvSpPr>
          <p:nvPr/>
        </p:nvSpPr>
        <p:spPr>
          <a:xfrm xmlns:a="http://schemas.openxmlformats.org/drawingml/2006/main">
            <a:off x="3427095" y="2238375"/>
            <a:ext cx="369760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1" i="0">
                <a:solidFill>
                  <a:srgbClr val="8A8178"/>
                </a:solidFill>
              </a:defRPr>
            </a:pPr>
            <a:r>
              <a:rPr sz="900" b="1" i="0">
                <a:solidFill>
                  <a:srgbClr val="8A8178"/>
                </a:solidFill>
              </a:rPr>
              <a:t>LINKED NEXT STEP</a:t>
            </a:r>
          </a:p>
        </p:txBody>
      </p:sp>
      <p:sp>
        <p:nvSpPr>
          <p:cNvPr id="11" name="rule">
            <a:extLst xmlns:a="http://schemas.openxmlformats.org/drawingml/2006/main">
              <a:ext uri="{FF2B5EF4-FFF2-40B4-BE49-F238E27FC236}">
                <a16:creationId xmlns:a16="http://schemas.microsoft.com/office/drawing/2014/main" id="{E4EF9A4B-FE79-4F33-8DC5-2158767C7A28}"/>
              </a:ext>
            </a:extLst>
          </p:cNvPr>
          <p:cNvSpPr>
            <a:spLocks xmlns:a="http://schemas.openxmlformats.org/drawingml/2006/main" noGrp="1"/>
          </p:cNvSpPr>
          <p:nvPr/>
        </p:nvSpPr>
        <p:spPr>
          <a:xfrm xmlns:a="http://schemas.openxmlformats.org/drawingml/2006/main">
            <a:off x="609600" y="2609850"/>
            <a:ext cx="6572250" cy="9525"/>
          </a:xfrm>
          <a:prstGeom xmlns:a="http://schemas.openxmlformats.org/drawingml/2006/main" prst="rect">
            <a:avLst/>
          </a:prstGeom>
          <a:solidFill xmlns:a="http://schemas.openxmlformats.org/drawingml/2006/main">
            <a:srgbClr val="1A1A1A"/>
          </a:solidFill>
          <a:ln xmlns:a="http://schemas.openxmlformats.org/drawingml/2006/main" w="9525">
            <a:solidFill>
              <a:srgbClr val="1A1A1A"/>
            </a:solidFill>
            <a:prstDash val="solid"/>
          </a:ln>
        </p:spPr>
      </p:sp>
      <p:sp>
        <p:nvSpPr>
          <p:cNvPr id="12" name="text">
            <a:extLst xmlns:a="http://schemas.openxmlformats.org/drawingml/2006/main">
              <a:ext uri="{FF2B5EF4-FFF2-40B4-BE49-F238E27FC236}">
                <a16:creationId xmlns:a16="http://schemas.microsoft.com/office/drawing/2014/main" id="{E9E667F3-B513-43AC-9888-F689C11A5B6B}"/>
              </a:ext>
            </a:extLst>
          </p:cNvPr>
          <p:cNvSpPr>
            <a:spLocks xmlns:a="http://schemas.openxmlformats.org/drawingml/2006/main" noGrp="1"/>
          </p:cNvSpPr>
          <p:nvPr/>
        </p:nvSpPr>
        <p:spPr>
          <a:xfrm xmlns:a="http://schemas.openxmlformats.org/drawingml/2006/main">
            <a:off x="666750" y="2676525"/>
            <a:ext cx="264604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i="0">
                <a:solidFill>
                  <a:srgbClr val="1A1A1A"/>
                </a:solidFill>
              </a:defRPr>
            </a:pPr>
            <a:r>
              <a:rPr sz="975" b="1" i="0">
                <a:solidFill>
                  <a:srgbClr val="1A1A1A"/>
                </a:solidFill>
              </a:rPr>
              <a:t>Cold start</a:t>
            </a:r>
          </a:p>
        </p:txBody>
      </p:sp>
      <p:sp>
        <p:nvSpPr>
          <p:cNvPr id="13" name="text">
            <a:extLst xmlns:a="http://schemas.openxmlformats.org/drawingml/2006/main">
              <a:ext uri="{FF2B5EF4-FFF2-40B4-BE49-F238E27FC236}">
                <a16:creationId xmlns:a16="http://schemas.microsoft.com/office/drawing/2014/main" id="{226B652A-DB74-419E-84CE-81D0B936FD44}"/>
              </a:ext>
            </a:extLst>
          </p:cNvPr>
          <p:cNvSpPr>
            <a:spLocks xmlns:a="http://schemas.openxmlformats.org/drawingml/2006/main" noGrp="1"/>
          </p:cNvSpPr>
          <p:nvPr/>
        </p:nvSpPr>
        <p:spPr>
          <a:xfrm xmlns:a="http://schemas.openxmlformats.org/drawingml/2006/main">
            <a:off x="3427095" y="2676525"/>
            <a:ext cx="369760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75" b="0" i="0">
                <a:solidFill>
                  <a:srgbClr val="5A5A5A"/>
                </a:solidFill>
              </a:defRPr>
            </a:pPr>
            <a:r>
              <a:rPr sz="975" b="0" i="0">
                <a:solidFill>
                  <a:srgbClr val="5A5A5A"/>
                </a:solidFill>
              </a:rPr>
              <a:t>Genre/content fallback or hybrid</a:t>
            </a:r>
          </a:p>
        </p:txBody>
      </p:sp>
      <p:sp>
        <p:nvSpPr>
          <p:cNvPr id="14" name="rule">
            <a:extLst xmlns:a="http://schemas.openxmlformats.org/drawingml/2006/main">
              <a:ext uri="{FF2B5EF4-FFF2-40B4-BE49-F238E27FC236}">
                <a16:creationId xmlns:a16="http://schemas.microsoft.com/office/drawing/2014/main" id="{2FCEA99A-0C6B-4B20-8C20-5881048735A7}"/>
              </a:ext>
            </a:extLst>
          </p:cNvPr>
          <p:cNvSpPr>
            <a:spLocks xmlns:a="http://schemas.openxmlformats.org/drawingml/2006/main" noGrp="1"/>
          </p:cNvSpPr>
          <p:nvPr/>
        </p:nvSpPr>
        <p:spPr>
          <a:xfrm xmlns:a="http://schemas.openxmlformats.org/drawingml/2006/main">
            <a:off x="609600" y="2981325"/>
            <a:ext cx="6572250" cy="9525"/>
          </a:xfrm>
          <a:prstGeom xmlns:a="http://schemas.openxmlformats.org/drawingml/2006/main" prst="rect">
            <a:avLst/>
          </a:prstGeom>
          <a:solidFill xmlns:a="http://schemas.openxmlformats.org/drawingml/2006/main">
            <a:srgbClr val="B8B0A4"/>
          </a:solidFill>
          <a:ln xmlns:a="http://schemas.openxmlformats.org/drawingml/2006/main" w="9525">
            <a:solidFill>
              <a:srgbClr val="B8B0A4"/>
            </a:solidFill>
            <a:prstDash val="solid"/>
          </a:ln>
        </p:spPr>
      </p:sp>
      <p:sp>
        <p:nvSpPr>
          <p:cNvPr id="15" name="text">
            <a:extLst xmlns:a="http://schemas.openxmlformats.org/drawingml/2006/main">
              <a:ext uri="{FF2B5EF4-FFF2-40B4-BE49-F238E27FC236}">
                <a16:creationId xmlns:a16="http://schemas.microsoft.com/office/drawing/2014/main" id="{3E2EA8BE-94E9-4796-8596-194DA39F5D58}"/>
              </a:ext>
            </a:extLst>
          </p:cNvPr>
          <p:cNvSpPr>
            <a:spLocks xmlns:a="http://schemas.openxmlformats.org/drawingml/2006/main" noGrp="1"/>
          </p:cNvSpPr>
          <p:nvPr/>
        </p:nvSpPr>
        <p:spPr>
          <a:xfrm xmlns:a="http://schemas.openxmlformats.org/drawingml/2006/main">
            <a:off x="666750" y="3048000"/>
            <a:ext cx="264604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i="0">
                <a:solidFill>
                  <a:srgbClr val="1A1A1A"/>
                </a:solidFill>
              </a:defRPr>
            </a:pPr>
            <a:r>
              <a:rPr sz="975" b="1" i="0">
                <a:solidFill>
                  <a:srgbClr val="1A1A1A"/>
                </a:solidFill>
              </a:rPr>
              <a:t>Sampling &amp; k-core bias</a:t>
            </a:r>
          </a:p>
        </p:txBody>
      </p:sp>
      <p:sp>
        <p:nvSpPr>
          <p:cNvPr id="16" name="text">
            <a:extLst xmlns:a="http://schemas.openxmlformats.org/drawingml/2006/main">
              <a:ext uri="{FF2B5EF4-FFF2-40B4-BE49-F238E27FC236}">
                <a16:creationId xmlns:a16="http://schemas.microsoft.com/office/drawing/2014/main" id="{0F8A7C1E-D4FE-456D-916B-CF7B36393AA8}"/>
              </a:ext>
            </a:extLst>
          </p:cNvPr>
          <p:cNvSpPr>
            <a:spLocks xmlns:a="http://schemas.openxmlformats.org/drawingml/2006/main" noGrp="1"/>
          </p:cNvSpPr>
          <p:nvPr/>
        </p:nvSpPr>
        <p:spPr>
          <a:xfrm xmlns:a="http://schemas.openxmlformats.org/drawingml/2006/main">
            <a:off x="3427095" y="3048000"/>
            <a:ext cx="369760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75" b="0" i="0">
                <a:solidFill>
                  <a:srgbClr val="5A5A5A"/>
                </a:solidFill>
              </a:defRPr>
            </a:pPr>
            <a:r>
              <a:rPr sz="975" b="0" i="0">
                <a:solidFill>
                  <a:srgbClr val="5A5A5A"/>
                </a:solidFill>
              </a:rPr>
              <a:t>Coverage/diversity on broader data</a:t>
            </a:r>
          </a:p>
        </p:txBody>
      </p:sp>
      <p:sp>
        <p:nvSpPr>
          <p:cNvPr id="17" name="rule">
            <a:extLst xmlns:a="http://schemas.openxmlformats.org/drawingml/2006/main">
              <a:ext uri="{FF2B5EF4-FFF2-40B4-BE49-F238E27FC236}">
                <a16:creationId xmlns:a16="http://schemas.microsoft.com/office/drawing/2014/main" id="{02EC528C-85AF-48E2-AFD4-28D56FCE1433}"/>
              </a:ext>
            </a:extLst>
          </p:cNvPr>
          <p:cNvSpPr>
            <a:spLocks xmlns:a="http://schemas.openxmlformats.org/drawingml/2006/main" noGrp="1"/>
          </p:cNvSpPr>
          <p:nvPr/>
        </p:nvSpPr>
        <p:spPr>
          <a:xfrm xmlns:a="http://schemas.openxmlformats.org/drawingml/2006/main">
            <a:off x="609600" y="3352800"/>
            <a:ext cx="6572250" cy="9525"/>
          </a:xfrm>
          <a:prstGeom xmlns:a="http://schemas.openxmlformats.org/drawingml/2006/main" prst="rect">
            <a:avLst/>
          </a:prstGeom>
          <a:solidFill xmlns:a="http://schemas.openxmlformats.org/drawingml/2006/main">
            <a:srgbClr val="B8B0A4"/>
          </a:solidFill>
          <a:ln xmlns:a="http://schemas.openxmlformats.org/drawingml/2006/main" w="9525">
            <a:solidFill>
              <a:srgbClr val="B8B0A4"/>
            </a:solidFill>
            <a:prstDash val="solid"/>
          </a:ln>
        </p:spPr>
      </p:sp>
      <p:sp>
        <p:nvSpPr>
          <p:cNvPr id="18" name="text">
            <a:extLst xmlns:a="http://schemas.openxmlformats.org/drawingml/2006/main">
              <a:ext uri="{FF2B5EF4-FFF2-40B4-BE49-F238E27FC236}">
                <a16:creationId xmlns:a16="http://schemas.microsoft.com/office/drawing/2014/main" id="{D3F0AD2E-FF14-43C0-A3D3-87AF41BDDE13}"/>
              </a:ext>
            </a:extLst>
          </p:cNvPr>
          <p:cNvSpPr>
            <a:spLocks xmlns:a="http://schemas.openxmlformats.org/drawingml/2006/main" noGrp="1"/>
          </p:cNvSpPr>
          <p:nvPr/>
        </p:nvSpPr>
        <p:spPr>
          <a:xfrm xmlns:a="http://schemas.openxmlformats.org/drawingml/2006/main">
            <a:off x="666750" y="3419475"/>
            <a:ext cx="264604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i="0">
                <a:solidFill>
                  <a:srgbClr val="1A1A1A"/>
                </a:solidFill>
              </a:defRPr>
            </a:pPr>
            <a:r>
              <a:rPr sz="975" b="1" i="0">
                <a:solidFill>
                  <a:srgbClr val="1A1A1A"/>
                </a:solidFill>
              </a:rPr>
              <a:t>Observed-item ranking</a:t>
            </a:r>
          </a:p>
        </p:txBody>
      </p:sp>
      <p:sp>
        <p:nvSpPr>
          <p:cNvPr id="19" name="text">
            <a:extLst xmlns:a="http://schemas.openxmlformats.org/drawingml/2006/main">
              <a:ext uri="{FF2B5EF4-FFF2-40B4-BE49-F238E27FC236}">
                <a16:creationId xmlns:a16="http://schemas.microsoft.com/office/drawing/2014/main" id="{7547FF3F-1BEF-440D-9240-2F87B30A19F9}"/>
              </a:ext>
            </a:extLst>
          </p:cNvPr>
          <p:cNvSpPr>
            <a:spLocks xmlns:a="http://schemas.openxmlformats.org/drawingml/2006/main" noGrp="1"/>
          </p:cNvSpPr>
          <p:nvPr/>
        </p:nvSpPr>
        <p:spPr>
          <a:xfrm xmlns:a="http://schemas.openxmlformats.org/drawingml/2006/main">
            <a:off x="3427095" y="3419475"/>
            <a:ext cx="369760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75" b="0" i="0">
                <a:solidFill>
                  <a:srgbClr val="5A5A5A"/>
                </a:solidFill>
              </a:defRPr>
            </a:pPr>
            <a:r>
              <a:rPr sz="975" b="0" i="0">
                <a:solidFill>
                  <a:srgbClr val="5A5A5A"/>
                </a:solidFill>
              </a:rPr>
              <a:t>Full-catalogue evaluation</a:t>
            </a:r>
          </a:p>
        </p:txBody>
      </p:sp>
      <p:sp>
        <p:nvSpPr>
          <p:cNvPr id="20" name="rule">
            <a:extLst xmlns:a="http://schemas.openxmlformats.org/drawingml/2006/main">
              <a:ext uri="{FF2B5EF4-FFF2-40B4-BE49-F238E27FC236}">
                <a16:creationId xmlns:a16="http://schemas.microsoft.com/office/drawing/2014/main" id="{2C37DA30-C76F-431D-83CE-410203DF778F}"/>
              </a:ext>
            </a:extLst>
          </p:cNvPr>
          <p:cNvSpPr>
            <a:spLocks xmlns:a="http://schemas.openxmlformats.org/drawingml/2006/main" noGrp="1"/>
          </p:cNvSpPr>
          <p:nvPr/>
        </p:nvSpPr>
        <p:spPr>
          <a:xfrm xmlns:a="http://schemas.openxmlformats.org/drawingml/2006/main">
            <a:off x="609600" y="3724275"/>
            <a:ext cx="6572250" cy="9525"/>
          </a:xfrm>
          <a:prstGeom xmlns:a="http://schemas.openxmlformats.org/drawingml/2006/main" prst="rect">
            <a:avLst/>
          </a:prstGeom>
          <a:solidFill xmlns:a="http://schemas.openxmlformats.org/drawingml/2006/main">
            <a:srgbClr val="B8B0A4"/>
          </a:solidFill>
          <a:ln xmlns:a="http://schemas.openxmlformats.org/drawingml/2006/main" w="9525">
            <a:solidFill>
              <a:srgbClr val="B8B0A4"/>
            </a:solidFill>
            <a:prstDash val="solid"/>
          </a:ln>
        </p:spPr>
      </p:sp>
      <p:sp>
        <p:nvSpPr>
          <p:cNvPr id="21" name="text">
            <a:extLst xmlns:a="http://schemas.openxmlformats.org/drawingml/2006/main">
              <a:ext uri="{FF2B5EF4-FFF2-40B4-BE49-F238E27FC236}">
                <a16:creationId xmlns:a16="http://schemas.microsoft.com/office/drawing/2014/main" id="{918F4335-DBE1-4116-BDC2-30A046048F64}"/>
              </a:ext>
            </a:extLst>
          </p:cNvPr>
          <p:cNvSpPr>
            <a:spLocks xmlns:a="http://schemas.openxmlformats.org/drawingml/2006/main" noGrp="1"/>
          </p:cNvSpPr>
          <p:nvPr/>
        </p:nvSpPr>
        <p:spPr>
          <a:xfrm xmlns:a="http://schemas.openxmlformats.org/drawingml/2006/main">
            <a:off x="666750" y="3790950"/>
            <a:ext cx="264604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i="0">
                <a:solidFill>
                  <a:srgbClr val="1A1A1A"/>
                </a:solidFill>
              </a:defRPr>
            </a:pPr>
            <a:r>
              <a:rPr sz="975" b="1" i="0">
                <a:solidFill>
                  <a:srgbClr val="1A1A1A"/>
                </a:solidFill>
              </a:rPr>
              <a:t>Random split</a:t>
            </a:r>
          </a:p>
        </p:txBody>
      </p:sp>
      <p:sp>
        <p:nvSpPr>
          <p:cNvPr id="22" name="text">
            <a:extLst xmlns:a="http://schemas.openxmlformats.org/drawingml/2006/main">
              <a:ext uri="{FF2B5EF4-FFF2-40B4-BE49-F238E27FC236}">
                <a16:creationId xmlns:a16="http://schemas.microsoft.com/office/drawing/2014/main" id="{3D45AAAF-D0A0-4427-B04E-42A285528823}"/>
              </a:ext>
            </a:extLst>
          </p:cNvPr>
          <p:cNvSpPr>
            <a:spLocks xmlns:a="http://schemas.openxmlformats.org/drawingml/2006/main" noGrp="1"/>
          </p:cNvSpPr>
          <p:nvPr/>
        </p:nvSpPr>
        <p:spPr>
          <a:xfrm xmlns:a="http://schemas.openxmlformats.org/drawingml/2006/main">
            <a:off x="3427095" y="3790950"/>
            <a:ext cx="369760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75" b="0" i="0">
                <a:solidFill>
                  <a:srgbClr val="5A5A5A"/>
                </a:solidFill>
              </a:defRPr>
            </a:pPr>
            <a:r>
              <a:rPr sz="975" b="0" i="0">
                <a:solidFill>
                  <a:srgbClr val="5A5A5A"/>
                </a:solidFill>
              </a:rPr>
              <a:t>Temporal validation when possible</a:t>
            </a:r>
          </a:p>
        </p:txBody>
      </p:sp>
      <p:sp>
        <p:nvSpPr>
          <p:cNvPr id="23" name="rule">
            <a:extLst xmlns:a="http://schemas.openxmlformats.org/drawingml/2006/main">
              <a:ext uri="{FF2B5EF4-FFF2-40B4-BE49-F238E27FC236}">
                <a16:creationId xmlns:a16="http://schemas.microsoft.com/office/drawing/2014/main" id="{0C46B0EB-34FC-4855-B8E8-03E214DF4927}"/>
              </a:ext>
            </a:extLst>
          </p:cNvPr>
          <p:cNvSpPr>
            <a:spLocks xmlns:a="http://schemas.openxmlformats.org/drawingml/2006/main" noGrp="1"/>
          </p:cNvSpPr>
          <p:nvPr/>
        </p:nvSpPr>
        <p:spPr>
          <a:xfrm xmlns:a="http://schemas.openxmlformats.org/drawingml/2006/main">
            <a:off x="609600" y="4095750"/>
            <a:ext cx="6572250" cy="9525"/>
          </a:xfrm>
          <a:prstGeom xmlns:a="http://schemas.openxmlformats.org/drawingml/2006/main" prst="rect">
            <a:avLst/>
          </a:prstGeom>
          <a:solidFill xmlns:a="http://schemas.openxmlformats.org/drawingml/2006/main">
            <a:srgbClr val="B8B0A4"/>
          </a:solidFill>
          <a:ln xmlns:a="http://schemas.openxmlformats.org/drawingml/2006/main" w="9525">
            <a:solidFill>
              <a:srgbClr val="B8B0A4"/>
            </a:solidFill>
            <a:prstDash val="solid"/>
          </a:ln>
        </p:spPr>
      </p:sp>
      <p:sp>
        <p:nvSpPr>
          <p:cNvPr id="24" name="text">
            <a:extLst xmlns:a="http://schemas.openxmlformats.org/drawingml/2006/main">
              <a:ext uri="{FF2B5EF4-FFF2-40B4-BE49-F238E27FC236}">
                <a16:creationId xmlns:a16="http://schemas.microsoft.com/office/drawing/2014/main" id="{6148A7F4-A941-4653-B144-8D55F5963397}"/>
              </a:ext>
            </a:extLst>
          </p:cNvPr>
          <p:cNvSpPr>
            <a:spLocks xmlns:a="http://schemas.openxmlformats.org/drawingml/2006/main" noGrp="1"/>
          </p:cNvSpPr>
          <p:nvPr/>
        </p:nvSpPr>
        <p:spPr>
          <a:xfrm xmlns:a="http://schemas.openxmlformats.org/drawingml/2006/main">
            <a:off x="666750" y="4162425"/>
            <a:ext cx="264604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i="0">
                <a:solidFill>
                  <a:srgbClr val="1A1A1A"/>
                </a:solidFill>
              </a:defRPr>
            </a:pPr>
            <a:r>
              <a:rPr sz="975" b="1" i="0">
                <a:solidFill>
                  <a:srgbClr val="1A1A1A"/>
                </a:solidFill>
              </a:rPr>
              <a:t>Marginal bias-only gain</a:t>
            </a:r>
          </a:p>
        </p:txBody>
      </p:sp>
      <p:sp>
        <p:nvSpPr>
          <p:cNvPr id="25" name="text">
            <a:extLst xmlns:a="http://schemas.openxmlformats.org/drawingml/2006/main">
              <a:ext uri="{FF2B5EF4-FFF2-40B4-BE49-F238E27FC236}">
                <a16:creationId xmlns:a16="http://schemas.microsoft.com/office/drawing/2014/main" id="{22FE4E6B-3FA0-4177-882E-7F64EFEDA54C}"/>
              </a:ext>
            </a:extLst>
          </p:cNvPr>
          <p:cNvSpPr>
            <a:spLocks xmlns:a="http://schemas.openxmlformats.org/drawingml/2006/main" noGrp="1"/>
          </p:cNvSpPr>
          <p:nvPr/>
        </p:nvSpPr>
        <p:spPr>
          <a:xfrm xmlns:a="http://schemas.openxmlformats.org/drawingml/2006/main">
            <a:off x="3427095" y="4162425"/>
            <a:ext cx="369760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75" b="0" i="0">
                <a:solidFill>
                  <a:srgbClr val="5A5A5A"/>
                </a:solidFill>
              </a:defRPr>
            </a:pPr>
            <a:r>
              <a:rPr sz="975" b="0" i="0">
                <a:solidFill>
                  <a:srgbClr val="5A5A5A"/>
                </a:solidFill>
              </a:rPr>
              <a:t>Stronger baselines and broader tuning</a:t>
            </a:r>
          </a:p>
        </p:txBody>
      </p:sp>
      <p:sp>
        <p:nvSpPr>
          <p:cNvPr id="26" name="rule">
            <a:extLst xmlns:a="http://schemas.openxmlformats.org/drawingml/2006/main">
              <a:ext uri="{FF2B5EF4-FFF2-40B4-BE49-F238E27FC236}">
                <a16:creationId xmlns:a16="http://schemas.microsoft.com/office/drawing/2014/main" id="{0D792866-83E4-432B-9E29-5E1A205AA890}"/>
              </a:ext>
            </a:extLst>
          </p:cNvPr>
          <p:cNvSpPr>
            <a:spLocks xmlns:a="http://schemas.openxmlformats.org/drawingml/2006/main" noGrp="1"/>
          </p:cNvSpPr>
          <p:nvPr/>
        </p:nvSpPr>
        <p:spPr>
          <a:xfrm xmlns:a="http://schemas.openxmlformats.org/drawingml/2006/main">
            <a:off x="609600" y="4467225"/>
            <a:ext cx="6572250" cy="9525"/>
          </a:xfrm>
          <a:prstGeom xmlns:a="http://schemas.openxmlformats.org/drawingml/2006/main" prst="rect">
            <a:avLst/>
          </a:prstGeom>
          <a:solidFill xmlns:a="http://schemas.openxmlformats.org/drawingml/2006/main">
            <a:srgbClr val="B8B0A4"/>
          </a:solidFill>
          <a:ln xmlns:a="http://schemas.openxmlformats.org/drawingml/2006/main" w="9525">
            <a:solidFill>
              <a:srgbClr val="B8B0A4"/>
            </a:solidFill>
            <a:prstDash val="solid"/>
          </a:ln>
        </p:spPr>
      </p:sp>
      <p:sp>
        <p:nvSpPr>
          <p:cNvPr id="27" name="rule">
            <a:extLst xmlns:a="http://schemas.openxmlformats.org/drawingml/2006/main">
              <a:ext uri="{FF2B5EF4-FFF2-40B4-BE49-F238E27FC236}">
                <a16:creationId xmlns:a16="http://schemas.microsoft.com/office/drawing/2014/main" id="{D0EB9DDD-AD87-4CAB-897D-CA03F00A960E}"/>
              </a:ext>
            </a:extLst>
          </p:cNvPr>
          <p:cNvSpPr>
            <a:spLocks xmlns:a="http://schemas.openxmlformats.org/drawingml/2006/main" noGrp="1"/>
          </p:cNvSpPr>
          <p:nvPr/>
        </p:nvSpPr>
        <p:spPr>
          <a:xfrm xmlns:a="http://schemas.openxmlformats.org/drawingml/2006/main">
            <a:off x="609600" y="4524375"/>
            <a:ext cx="3143250" cy="9525"/>
          </a:xfrm>
          <a:prstGeom xmlns:a="http://schemas.openxmlformats.org/drawingml/2006/main" prst="rect">
            <a:avLst/>
          </a:prstGeom>
          <a:solidFill xmlns:a="http://schemas.openxmlformats.org/drawingml/2006/main">
            <a:srgbClr val="1A1A1A"/>
          </a:solidFill>
          <a:ln xmlns:a="http://schemas.openxmlformats.org/drawingml/2006/main" w="9525">
            <a:solidFill>
              <a:srgbClr val="1A1A1A"/>
            </a:solidFill>
            <a:prstDash val="solid"/>
          </a:ln>
        </p:spPr>
      </p:sp>
      <p:sp>
        <p:nvSpPr>
          <p:cNvPr id="28" name="text">
            <a:extLst xmlns:a="http://schemas.openxmlformats.org/drawingml/2006/main">
              <a:ext uri="{FF2B5EF4-FFF2-40B4-BE49-F238E27FC236}">
                <a16:creationId xmlns:a16="http://schemas.microsoft.com/office/drawing/2014/main" id="{FE2C2884-B141-47F2-92AC-323292A016AE}"/>
              </a:ext>
            </a:extLst>
          </p:cNvPr>
          <p:cNvSpPr>
            <a:spLocks xmlns:a="http://schemas.openxmlformats.org/drawingml/2006/main" noGrp="1"/>
          </p:cNvSpPr>
          <p:nvPr/>
        </p:nvSpPr>
        <p:spPr>
          <a:xfrm xmlns:a="http://schemas.openxmlformats.org/drawingml/2006/main">
            <a:off x="609600" y="4638675"/>
            <a:ext cx="3143250" cy="28289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i="0">
                <a:solidFill>
                  <a:srgbClr val="1A1A1A"/>
                </a:solidFill>
              </a:defRPr>
            </a:pPr>
            <a:r>
              <a:rPr sz="1650" b="0" i="0">
                <a:solidFill>
                  <a:srgbClr val="1A1A1A"/>
                </a:solidFill>
              </a:rPr>
              <a:t>Mai Nam Quốc · 50%</a:t>
            </a:r>
          </a:p>
        </p:txBody>
      </p:sp>
      <p:sp>
        <p:nvSpPr>
          <p:cNvPr id="29" name="text">
            <a:extLst xmlns:a="http://schemas.openxmlformats.org/drawingml/2006/main">
              <a:ext uri="{FF2B5EF4-FFF2-40B4-BE49-F238E27FC236}">
                <a16:creationId xmlns:a16="http://schemas.microsoft.com/office/drawing/2014/main" id="{459F4E14-4E44-4953-A668-1AA8EC77B17C}"/>
              </a:ext>
            </a:extLst>
          </p:cNvPr>
          <p:cNvSpPr>
            <a:spLocks xmlns:a="http://schemas.openxmlformats.org/drawingml/2006/main" noGrp="1"/>
          </p:cNvSpPr>
          <p:nvPr/>
        </p:nvSpPr>
        <p:spPr>
          <a:xfrm xmlns:a="http://schemas.openxmlformats.org/drawingml/2006/main">
            <a:off x="609600" y="5019675"/>
            <a:ext cx="3143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i="0">
                <a:solidFill>
                  <a:srgbClr val="5A5A5A"/>
                </a:solidFill>
              </a:defRPr>
            </a:pPr>
            <a:r>
              <a:rPr sz="1350" b="0" i="0">
                <a:solidFill>
                  <a:srgbClr val="5A5A5A"/>
                </a:solidFill>
              </a:rPr>
              <a:t>Data loading, cleaning, EDA, preparation, APA references, report review.</a:t>
            </a:r>
          </a:p>
        </p:txBody>
      </p:sp>
      <p:sp>
        <p:nvSpPr>
          <p:cNvPr id="30" name="rule">
            <a:extLst xmlns:a="http://schemas.openxmlformats.org/drawingml/2006/main">
              <a:ext uri="{FF2B5EF4-FFF2-40B4-BE49-F238E27FC236}">
                <a16:creationId xmlns:a16="http://schemas.microsoft.com/office/drawing/2014/main" id="{1D504794-A13A-4FBB-BFA8-193A66D3262E}"/>
              </a:ext>
            </a:extLst>
          </p:cNvPr>
          <p:cNvSpPr>
            <a:spLocks xmlns:a="http://schemas.openxmlformats.org/drawingml/2006/main" noGrp="1"/>
          </p:cNvSpPr>
          <p:nvPr/>
        </p:nvSpPr>
        <p:spPr>
          <a:xfrm xmlns:a="http://schemas.openxmlformats.org/drawingml/2006/main">
            <a:off x="4038600" y="4524375"/>
            <a:ext cx="3143250" cy="9525"/>
          </a:xfrm>
          <a:prstGeom xmlns:a="http://schemas.openxmlformats.org/drawingml/2006/main" prst="rect">
            <a:avLst/>
          </a:prstGeom>
          <a:solidFill xmlns:a="http://schemas.openxmlformats.org/drawingml/2006/main">
            <a:srgbClr val="1A1A1A"/>
          </a:solidFill>
          <a:ln xmlns:a="http://schemas.openxmlformats.org/drawingml/2006/main" w="9525">
            <a:solidFill>
              <a:srgbClr val="1A1A1A"/>
            </a:solidFill>
            <a:prstDash val="solid"/>
          </a:ln>
        </p:spPr>
      </p:sp>
      <p:sp>
        <p:nvSpPr>
          <p:cNvPr id="31" name="text">
            <a:extLst xmlns:a="http://schemas.openxmlformats.org/drawingml/2006/main">
              <a:ext uri="{FF2B5EF4-FFF2-40B4-BE49-F238E27FC236}">
                <a16:creationId xmlns:a16="http://schemas.microsoft.com/office/drawing/2014/main" id="{2B14082F-D62F-43A7-852E-F2FCABB06E3C}"/>
              </a:ext>
            </a:extLst>
          </p:cNvPr>
          <p:cNvSpPr>
            <a:spLocks xmlns:a="http://schemas.openxmlformats.org/drawingml/2006/main" noGrp="1"/>
          </p:cNvSpPr>
          <p:nvPr/>
        </p:nvSpPr>
        <p:spPr>
          <a:xfrm xmlns:a="http://schemas.openxmlformats.org/drawingml/2006/main">
            <a:off x="4038600" y="4638675"/>
            <a:ext cx="3143250" cy="28289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i="0">
                <a:solidFill>
                  <a:srgbClr val="1A1A1A"/>
                </a:solidFill>
              </a:defRPr>
            </a:pPr>
            <a:r>
              <a:rPr sz="1650" b="0" i="0">
                <a:solidFill>
                  <a:srgbClr val="1A1A1A"/>
                </a:solidFill>
              </a:rPr>
              <a:t>Trương Nhật Trường · 50%</a:t>
            </a:r>
          </a:p>
        </p:txBody>
      </p:sp>
      <p:sp>
        <p:nvSpPr>
          <p:cNvPr id="32" name="text">
            <a:extLst xmlns:a="http://schemas.openxmlformats.org/drawingml/2006/main">
              <a:ext uri="{FF2B5EF4-FFF2-40B4-BE49-F238E27FC236}">
                <a16:creationId xmlns:a16="http://schemas.microsoft.com/office/drawing/2014/main" id="{1AFB3EC8-163D-4800-B32D-FB825CFF3005}"/>
              </a:ext>
            </a:extLst>
          </p:cNvPr>
          <p:cNvSpPr>
            <a:spLocks xmlns:a="http://schemas.openxmlformats.org/drawingml/2006/main" noGrp="1"/>
          </p:cNvSpPr>
          <p:nvPr/>
        </p:nvSpPr>
        <p:spPr>
          <a:xfrm xmlns:a="http://schemas.openxmlformats.org/drawingml/2006/main">
            <a:off x="4038600" y="5019675"/>
            <a:ext cx="3143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i="0">
                <a:solidFill>
                  <a:srgbClr val="5A5A5A"/>
                </a:solidFill>
              </a:defRPr>
            </a:pPr>
            <a:r>
              <a:rPr sz="1350" b="0" i="0">
                <a:solidFill>
                  <a:srgbClr val="5A5A5A"/>
                </a:solidFill>
              </a:rPr>
              <a:t>SVD, evaluation, Top-10 export, presentation, report integration, conclusion.</a:t>
            </a:r>
          </a:p>
        </p:txBody>
      </p:sp>
      <p:sp>
        <p:nvSpPr>
          <p:cNvPr id="33" name="text">
            <a:extLst xmlns:a="http://schemas.openxmlformats.org/drawingml/2006/main">
              <a:ext uri="{FF2B5EF4-FFF2-40B4-BE49-F238E27FC236}">
                <a16:creationId xmlns:a16="http://schemas.microsoft.com/office/drawing/2014/main" id="{BF009E14-EAA3-4A6F-9DEC-E1AEECF52292}"/>
              </a:ext>
            </a:extLst>
          </p:cNvPr>
          <p:cNvSpPr>
            <a:spLocks xmlns:a="http://schemas.openxmlformats.org/drawingml/2006/main" noGrp="1"/>
          </p:cNvSpPr>
          <p:nvPr/>
        </p:nvSpPr>
        <p:spPr>
          <a:xfrm xmlns:a="http://schemas.openxmlformats.org/drawingml/2006/main">
            <a:off x="7667625" y="2238375"/>
            <a:ext cx="39147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i="0">
                <a:solidFill>
                  <a:srgbClr val="8A8178"/>
                </a:solidFill>
              </a:defRPr>
            </a:pPr>
            <a:r>
              <a:rPr sz="900" b="1" i="0">
                <a:solidFill>
                  <a:srgbClr val="8A8178"/>
                </a:solidFill>
              </a:rPr>
              <a:t>APA REFERENCES</a:t>
            </a:r>
          </a:p>
        </p:txBody>
      </p:sp>
      <p:sp>
        <p:nvSpPr>
          <p:cNvPr id="34" name="text">
            <a:extLst xmlns:a="http://schemas.openxmlformats.org/drawingml/2006/main">
              <a:ext uri="{FF2B5EF4-FFF2-40B4-BE49-F238E27FC236}">
                <a16:creationId xmlns:a16="http://schemas.microsoft.com/office/drawing/2014/main" id="{07815453-0AF5-4D01-960E-CD29FCFA7DDD}"/>
              </a:ext>
            </a:extLst>
          </p:cNvPr>
          <p:cNvSpPr>
            <a:spLocks xmlns:a="http://schemas.openxmlformats.org/drawingml/2006/main" noGrp="1"/>
          </p:cNvSpPr>
          <p:nvPr/>
        </p:nvSpPr>
        <p:spPr>
          <a:xfrm xmlns:a="http://schemas.openxmlformats.org/drawingml/2006/main">
            <a:off x="7667625" y="2571750"/>
            <a:ext cx="3914775"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i="0">
                <a:solidFill>
                  <a:srgbClr val="5A5A5A"/>
                </a:solidFill>
              </a:defRPr>
            </a:pPr>
            <a:r>
              <a:rPr sz="1050" b="0" i="0">
                <a:solidFill>
                  <a:srgbClr val="5A5A5A"/>
                </a:solidFill>
              </a:rPr>
              <a:t>CooperUnion. (2016). Anime recommendations database [Data set]. Kaggle.</a:t>
            </a:r>
          </a:p>
          <a:p xmlns:a="http://schemas.openxmlformats.org/drawingml/2006/main">
            <a:r>
              <a:t/>
            </a:r>
          </a:p>
          <a:p xmlns:a="http://schemas.openxmlformats.org/drawingml/2006/main">
            <a:pPr algn="l">
              <a:buNone/>
              <a:defRPr sz="1050" b="0" i="0">
                <a:solidFill>
                  <a:srgbClr val="5A5A5A"/>
                </a:solidFill>
              </a:defRPr>
            </a:pPr>
            <a:r>
              <a:rPr sz="1050" b="0" i="0">
                <a:solidFill>
                  <a:srgbClr val="5A5A5A"/>
                </a:solidFill>
              </a:rPr>
              <a:t>Hug, N. (n.d.). Matrix factorization-based algorithms. Surprise.</a:t>
            </a:r>
          </a:p>
          <a:p xmlns:a="http://schemas.openxmlformats.org/drawingml/2006/main">
            <a:r>
              <a:t/>
            </a:r>
          </a:p>
          <a:p xmlns:a="http://schemas.openxmlformats.org/drawingml/2006/main">
            <a:pPr algn="l">
              <a:buNone/>
              <a:defRPr sz="1050" b="0" i="0">
                <a:solidFill>
                  <a:srgbClr val="5A5A5A"/>
                </a:solidFill>
              </a:defRPr>
            </a:pPr>
            <a:r>
              <a:rPr sz="1050" b="0" i="0">
                <a:solidFill>
                  <a:srgbClr val="5A5A5A"/>
                </a:solidFill>
              </a:rPr>
              <a:t>Koren, Y., Bell, R., &amp; Volinsky, C. (2009). Matrix factorization techniques for recommender systems. Computer, 42(8), 30–37. https://doi.org/10.1109/MC.2009.263</a:t>
            </a:r>
          </a:p>
          <a:p xmlns:a="http://schemas.openxmlformats.org/drawingml/2006/main">
            <a:r>
              <a:t/>
            </a:r>
          </a:p>
          <a:p xmlns:a="http://schemas.openxmlformats.org/drawingml/2006/main">
            <a:pPr algn="l">
              <a:buNone/>
              <a:defRPr sz="1050" b="0" i="0">
                <a:solidFill>
                  <a:srgbClr val="5A5A5A"/>
                </a:solidFill>
              </a:defRPr>
            </a:pPr>
            <a:r>
              <a:rPr sz="1050" b="0" i="0">
                <a:solidFill>
                  <a:srgbClr val="5A5A5A"/>
                </a:solidFill>
              </a:rPr>
              <a:t>Shared: integration, testing, and cross-checking of code, figures, metrics, and report claims.</a:t>
            </a:r>
          </a:p>
        </p:txBody>
      </p:sp>
    </p:spTree>
    <p:extLst>
      <p:ext uri="{BB962C8B-B14F-4D97-AF65-F5344CB8AC3E}">
        <p14:creationId xmlns:p14="http://schemas.microsoft.com/office/powerpoint/2010/main" val="160114828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2026-07-19T05:42:45.1450000Z</dcterms:created>
  <dcterms:modified xsi:type="dcterms:W3CDTF">2026-07-19T05:42:45.1450000Z</dcterms:modified>
</coreProperties>
</file>