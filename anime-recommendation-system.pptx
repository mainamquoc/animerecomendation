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6404ef5b044e4" /><Relationship Type="http://schemas.openxmlformats.org/officeDocument/2006/relationships/extended-properties" Target="/docProps/app.xml" Id="Rdcf8bba9c2da4db8" /><Relationship Type="http://schemas.openxmlformats.org/officeDocument/2006/relationships/officeDocument" Target="/ppt/presentation.xml" Id="R1b233be986e4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1b2ca33cde425e"/>
  </p:sldMasterIdLst>
  <p:notesMasterIdLst>
    <p:notesMasterId xmlns:r="http://schemas.openxmlformats.org/officeDocument/2006/relationships" r:id="R3a1e7ad533954077"/>
  </p:notesMasterIdLst>
  <p:sldIdLst>
    <p:sldId xmlns:r="http://schemas.openxmlformats.org/officeDocument/2006/relationships" id="256" r:id="R028c33fa860f44f5"/>
    <p:sldId xmlns:r="http://schemas.openxmlformats.org/officeDocument/2006/relationships" id="257" r:id="R962dd2e9c1794337"/>
    <p:sldId xmlns:r="http://schemas.openxmlformats.org/officeDocument/2006/relationships" id="258" r:id="R4b06fc2039604f58"/>
    <p:sldId xmlns:r="http://schemas.openxmlformats.org/officeDocument/2006/relationships" id="259" r:id="Rfbcd9cba23de4e63"/>
    <p:sldId xmlns:r="http://schemas.openxmlformats.org/officeDocument/2006/relationships" id="260" r:id="R7f2662f4130841fd"/>
    <p:sldId xmlns:r="http://schemas.openxmlformats.org/officeDocument/2006/relationships" id="261" r:id="Rac2d86fc84a84821"/>
    <p:sldId xmlns:r="http://schemas.openxmlformats.org/officeDocument/2006/relationships" id="262" r:id="Raaa9f29085744c62"/>
    <p:sldId xmlns:r="http://schemas.openxmlformats.org/officeDocument/2006/relationships" id="263" r:id="R480eaee247064053"/>
    <p:sldId xmlns:r="http://schemas.openxmlformats.org/officeDocument/2006/relationships" id="264" r:id="Ra32cdf1f25754114"/>
    <p:sldId xmlns:r="http://schemas.openxmlformats.org/officeDocument/2006/relationships" id="265" r:id="R8bb73e9819a14071"/>
    <p:sldId xmlns:r="http://schemas.openxmlformats.org/officeDocument/2006/relationships" id="266" r:id="R9b9efda69c314ea3"/>
    <p:sldId xmlns:r="http://schemas.openxmlformats.org/officeDocument/2006/relationships" id="267" r:id="R1391507e63b24b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d085716d34c0a" /><Relationship Type="http://schemas.openxmlformats.org/officeDocument/2006/relationships/slideMaster" Target="/ppt/slideMasters/slideMaster1.xml" Id="R3d1b2ca33cde425e" /><Relationship Type="http://schemas.openxmlformats.org/officeDocument/2006/relationships/notesMaster" Target="/ppt/notesMasters/notesMaster1.xml" Id="R3a1e7ad533954077" /><Relationship Type="http://schemas.openxmlformats.org/officeDocument/2006/relationships/presProps" Target="/ppt/presProps.xml" Id="Rb5de1af1ba3b46a9" /><Relationship Type="http://schemas.openxmlformats.org/officeDocument/2006/relationships/tableStyles" Target="/ppt/tableStyles.xml" Id="R7053c4af25c24e4c" /><Relationship Type="http://schemas.openxmlformats.org/officeDocument/2006/relationships/slide" Target="/ppt/slides/slide1.xml" Id="R028c33fa860f44f5" /><Relationship Type="http://schemas.openxmlformats.org/officeDocument/2006/relationships/slide" Target="/ppt/slides/slide2.xml" Id="R962dd2e9c1794337" /><Relationship Type="http://schemas.openxmlformats.org/officeDocument/2006/relationships/slide" Target="/ppt/slides/slide3.xml" Id="R4b06fc2039604f58" /><Relationship Type="http://schemas.openxmlformats.org/officeDocument/2006/relationships/slide" Target="/ppt/slides/slide4.xml" Id="Rfbcd9cba23de4e63" /><Relationship Type="http://schemas.openxmlformats.org/officeDocument/2006/relationships/slide" Target="/ppt/slides/slide5.xml" Id="R7f2662f4130841fd" /><Relationship Type="http://schemas.openxmlformats.org/officeDocument/2006/relationships/slide" Target="/ppt/slides/slide6.xml" Id="Rac2d86fc84a84821" /><Relationship Type="http://schemas.openxmlformats.org/officeDocument/2006/relationships/slide" Target="/ppt/slides/slide7.xml" Id="Raaa9f29085744c62" /><Relationship Type="http://schemas.openxmlformats.org/officeDocument/2006/relationships/slide" Target="/ppt/slides/slide8.xml" Id="R480eaee247064053" /><Relationship Type="http://schemas.openxmlformats.org/officeDocument/2006/relationships/slide" Target="/ppt/slides/slide9.xml" Id="Ra32cdf1f25754114" /><Relationship Type="http://schemas.openxmlformats.org/officeDocument/2006/relationships/slide" Target="/ppt/slides/slide10.xml" Id="R8bb73e9819a14071" /><Relationship Type="http://schemas.openxmlformats.org/officeDocument/2006/relationships/slide" Target="/ppt/slides/slide11.xml" Id="R9b9efda69c314ea3" /><Relationship Type="http://schemas.openxmlformats.org/officeDocument/2006/relationships/slide" Target="/ppt/slides/slide12.xml" Id="R1391507e63b2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8d3d1b837144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16a51fb0bf452a" /><Relationship Type="http://schemas.openxmlformats.org/officeDocument/2006/relationships/notesMaster" Target="/ppt/notesMasters/notesMaster1.xml" Id="Raf87ddcdc3434f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1a531b239a4a66" /><Relationship Type="http://schemas.openxmlformats.org/officeDocument/2006/relationships/notesMaster" Target="/ppt/notesMasters/notesMaster1.xml" Id="Rf6e63df4252246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3c8becef734b3d" /><Relationship Type="http://schemas.openxmlformats.org/officeDocument/2006/relationships/notesMaster" Target="/ppt/notesMasters/notesMaster1.xml" Id="R7bcaaf7f69cf4a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97548b1b384595" /><Relationship Type="http://schemas.openxmlformats.org/officeDocument/2006/relationships/notesMaster" Target="/ppt/notesMasters/notesMaster1.xml" Id="R05f41d5eef8349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f1b5a24b614657" /><Relationship Type="http://schemas.openxmlformats.org/officeDocument/2006/relationships/notesMaster" Target="/ppt/notesMasters/notesMaster1.xml" Id="Re25a14c908e5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821b714f9480a" /><Relationship Type="http://schemas.openxmlformats.org/officeDocument/2006/relationships/notesMaster" Target="/ppt/notesMasters/notesMaster1.xml" Id="Rf7cf65249ccd4d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e70571d76a4a9e" /><Relationship Type="http://schemas.openxmlformats.org/officeDocument/2006/relationships/notesMaster" Target="/ppt/notesMasters/notesMaster1.xml" Id="R1beb48ea0ac54f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7fafa6d4ad435d" /><Relationship Type="http://schemas.openxmlformats.org/officeDocument/2006/relationships/notesMaster" Target="/ppt/notesMasters/notesMaster1.xml" Id="R6ce94443cf7643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45c416603b425a" /><Relationship Type="http://schemas.openxmlformats.org/officeDocument/2006/relationships/notesMaster" Target="/ppt/notesMasters/notesMaster1.xml" Id="Rf3838a4375944f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55a70e1c00436c" /><Relationship Type="http://schemas.openxmlformats.org/officeDocument/2006/relationships/notesMaster" Target="/ppt/notesMasters/notesMaster1.xml" Id="Re8b51a1397ff47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869a8d55ac44bb" /><Relationship Type="http://schemas.openxmlformats.org/officeDocument/2006/relationships/notesMaster" Target="/ppt/notesMasters/notesMaster1.xml" Id="Rc554701776fc4b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55e1af9d474991" /><Relationship Type="http://schemas.openxmlformats.org/officeDocument/2006/relationships/notesMaster" Target="/ppt/notesMasters/notesMaster1.xml" Id="Rb8edeb09eef2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project, team, course, and central claim. Emphasize that this is a reproducible baseline rather than a production recommender.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recommendation is needed for a large catalogue. Clarify that missing interactions are unknown preferences, not zeros or dislikes.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both files and exact sizes. Stress that personal ratings train SVD while public average ratings are display-only.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down the funnel. Spend time on the −1 semantic decision, then explain duplicate averaging and final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both charts. Rating count measures popularity rather than objective quality; EDA motivates but does not evaluate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Notebook 01/02 boundary. Point to sentinel removal, seeded splitting, and excluding already-rated anime.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equation term by term. Explain biases, latent alignment, regularization, and cold-start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cleaned data from model-scope data. Explain outer holdout and inner validation, then state the selected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prediction and ranking metrics separately. Explain relevance, eligibility, and candidate-set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exported values, not stale notebook cells. Emphasize marginal RMSE gain and scoped ranking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evaluation versus serving fits, unseen filtering, tie-breaking, and the Top-5 example. Clarify what predicted ratings do not mean.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Restate the contribution and evidence boundary. Pair limitations with next steps. Confirm the 50/50 contribution wording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599c0a736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8af877bd314c1e" /><Relationship Type="http://schemas.openxmlformats.org/officeDocument/2006/relationships/slideLayout" Target="/ppt/slideLayouts/slideLayout1.xml" Id="R12962eb858ae4d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962eb858ae4d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d5efc98624a13" /><Relationship Type="http://schemas.openxmlformats.org/officeDocument/2006/relationships/notesSlide" Target="/ppt/notesSlides/notesSlide1.xml" Id="R5e088ca4963041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ead025d9a461f" /><Relationship Type="http://schemas.openxmlformats.org/officeDocument/2006/relationships/notesSlide" Target="/ppt/notesSlides/notesSlide2.xml" Id="Re076edea4c43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6d50e09404ef8" /><Relationship Type="http://schemas.openxmlformats.org/officeDocument/2006/relationships/notesSlide" Target="/ppt/notesSlides/notesSlide3.xml" Id="R596cf5e9cda5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f8f2208d242a5" /><Relationship Type="http://schemas.openxmlformats.org/officeDocument/2006/relationships/notesSlide" Target="/ppt/notesSlides/notesSlide4.xml" Id="Rb0d700f6dded47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a3cd80c274833" /><Relationship Type="http://schemas.openxmlformats.org/officeDocument/2006/relationships/image" Target="/ppt/media/image.png" Id="R89bf1aa8f8734e79" /><Relationship Type="http://schemas.openxmlformats.org/officeDocument/2006/relationships/image" Target="/ppt/media/image2.png" Id="R5f13bb75290944b0" /><Relationship Type="http://schemas.openxmlformats.org/officeDocument/2006/relationships/notesSlide" Target="/ppt/notesSlides/notesSlide5.xml" Id="R4eac5116f42b4b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a408b6cc548f2" /><Relationship Type="http://schemas.openxmlformats.org/officeDocument/2006/relationships/notesSlide" Target="/ppt/notesSlides/notesSlide6.xml" Id="R4a3b61152dd745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c54bb08be4e07" /><Relationship Type="http://schemas.openxmlformats.org/officeDocument/2006/relationships/notesSlide" Target="/ppt/notesSlides/notesSlide7.xml" Id="Ra4ee8b91e71741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8a4d0cc3e4be0" /><Relationship Type="http://schemas.openxmlformats.org/officeDocument/2006/relationships/notesSlide" Target="/ppt/notesSlides/notesSlide8.xml" Id="Rbeb2041d0be14d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fd6b32bb644ee" /><Relationship Type="http://schemas.openxmlformats.org/officeDocument/2006/relationships/notesSlide" Target="/ppt/notesSlides/notesSlide9.xml" Id="R16ec533e7f7b47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354d6a26646b9" /><Relationship Type="http://schemas.openxmlformats.org/officeDocument/2006/relationships/image" Target="/ppt/media/image3.png" Id="Raa0698245b97485d" /><Relationship Type="http://schemas.openxmlformats.org/officeDocument/2006/relationships/image" Target="/ppt/media/image4.png" Id="R9042143311e24c41" /><Relationship Type="http://schemas.openxmlformats.org/officeDocument/2006/relationships/notesSlide" Target="/ppt/notesSlides/notesSlide10.xml" Id="Ra183d4f7da0545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9bcd274d64744" /><Relationship Type="http://schemas.openxmlformats.org/officeDocument/2006/relationships/notesSlide" Target="/ppt/notesSlides/notesSlide11.xml" Id="R3c2850e4c1134d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731c436eb4541" /><Relationship Type="http://schemas.openxmlformats.org/officeDocument/2006/relationships/notesSlide" Target="/ppt/notesSlides/notesSlide12.xml" Id="R2490f3639f5a40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uter-ring">
            <a:extLst xmlns:a="http://schemas.openxmlformats.org/drawingml/2006/main">
              <a:ext uri="{FF2B5EF4-FFF2-40B4-BE49-F238E27FC236}">
                <a16:creationId xmlns:a16="http://schemas.microsoft.com/office/drawing/2014/main" id="{2F5E06B9-FE88-41B9-A797-4A78EA2D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762000"/>
            <a:ext cx="51435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3B6A7537-AE70-44A7-8CC7-FB52D211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-47625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7EDF075-A262-4310-83D1-5F75DA0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GROUP 14 · DS 423 SA · MACHINE LEARNING WITH LARGE DATASETS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53CDE0-DA60-4673-A157-7EDA05D6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62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1A1A1A"/>
                </a:solidFill>
              </a:defRPr>
            </a:pPr>
            <a:r>
              <a:rPr sz="4800" b="0" i="0">
                <a:solidFill>
                  <a:srgbClr val="1A1A1A"/>
                </a:solidFill>
              </a:rPr>
              <a:t>Anime Recommendation</a:t>
            </a:r>
          </a:p>
          <a:p xmlns:a="http://schemas.openxmlformats.org/drawingml/2006/main">
            <a:pPr algn="l">
              <a:defRPr sz="4800" b="0" i="0">
                <a:solidFill>
                  <a:srgbClr val="1A1A1A"/>
                </a:solidFill>
              </a:defRPr>
            </a:pPr>
            <a:r>
              <a:rPr sz="4800" b="0" i="0">
                <a:solidFill>
                  <a:srgbClr val="1A1A1A"/>
                </a:solidFill>
              </a:rPr>
              <a:t>System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19CE14-863D-4596-9047-D66549EA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A5A5A"/>
                </a:solidFill>
              </a:defRPr>
            </a:pPr>
            <a:r>
              <a:rPr sz="1800" b="0" i="0">
                <a:solidFill>
                  <a:srgbClr val="5A5A5A"/>
                </a:solidFill>
              </a:rPr>
              <a:t>A reproducible biased-SVD baseline for explicit ratings and personalized Top-10 unseen-anime recommendations.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A80D328-82E1-4D43-B9EB-7F1C9220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65AFC3-CED8-424D-B63E-5DF8A875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1A1A"/>
                </a:solidFill>
              </a:defRPr>
            </a:pPr>
            <a:r>
              <a:rPr sz="1350" b="1" i="0">
                <a:solidFill>
                  <a:srgbClr val="1A1A1A"/>
                </a:solidFill>
              </a:rPr>
              <a:t>Duy Tan University, Da Nang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4613EB-AD5D-444A-8109-6CBF5DB7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Trương Nhật Trường — 29211164915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Mai Nam Quốc — 29211145181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20192C-6D3F-49D4-9EC7-097DFCCB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3330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outer-ring">
            <a:extLst xmlns:a="http://schemas.openxmlformats.org/drawingml/2006/main">
              <a:ext uri="{FF2B5EF4-FFF2-40B4-BE49-F238E27FC236}">
                <a16:creationId xmlns:a16="http://schemas.microsoft.com/office/drawing/2014/main" id="{105B6E7F-780F-44EA-A749-9CA3D2A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5040597E-8A88-457B-AD5F-D032BE63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04C8BA3-6E4F-4C8F-ACF4-3F093CCD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PROBLEM STATEMENT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1CFABF-C908-4EBE-964C-010F1D1C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The project ranks unseen anime from explicit user preferences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862A3EF-0253-498B-BEB0-30AB13FC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A2EC33-85F5-4904-90CB-5BC779CC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B3742D-E722-4061-B6CD-CB227EC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02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DF2794A-FBE7-49D9-821A-46940A25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B18395-9ECD-438D-915F-BFBB6C1F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337185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Input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8CAC9A4-0021-4C53-90D7-5E3EB261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371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Historical explicit user–anime ratings on the original 1–10 scale. Missing pairs are unknown.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8F05994-5458-40CA-9895-CB11FB87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621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17BB289-6194-4912-A0A3-DC84E48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76425"/>
            <a:ext cx="337185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Model task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5901ED2-4C94-4D0C-B185-B98D35A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57425"/>
            <a:ext cx="3371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Estimate personal scores by learning shared patterns among observed user and anime ratings.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C6F1B3C-1954-463C-A52F-EC3CD54B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F2DAFE9-794D-444A-8C85-954A7E2C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76425"/>
            <a:ext cx="337185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Output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942EC2-1E96-46BE-B51A-87B2DE8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57425"/>
            <a:ext cx="3371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A personalized Top-10 list containing anime the selected user has not already rated.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34EAB26-D68F-486C-B0E2-EA9F0C5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EA84678-BDDC-44B5-93C1-F3EB226A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371850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Objective 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F59D29-4A52-44B5-8347-7C871996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371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Prepare an auditable explicit-rating dataset.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7CCD3923-2AC0-4425-BBD4-C14B0A6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147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BACFF73-500A-4318-B86E-2CA88C8C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29050"/>
            <a:ext cx="3371850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Objective 02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F7EF029-8A09-4C2C-8508-B4D644E0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10050"/>
            <a:ext cx="3371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Predict held-out ratings using RMSE and MAE.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9A5459FE-6A28-4C2A-AA79-8F1EBF85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B4BA320-44A6-41C2-97EB-78197AB1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3371850" cy="398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Objective 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C5059BF-09EA-4798-91E1-E70FC654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0050"/>
            <a:ext cx="3371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Retrieve highly rated held-out items using Precision@10 and Recall@10.</a:t>
            </a:r>
          </a:p>
        </p:txBody>
      </p:sp>
    </p:spTree>
    <p:extLst>
      <p:ext uri="{BB962C8B-B14F-4D97-AF65-F5344CB8AC3E}">
        <p14:creationId xmlns:p14="http://schemas.microsoft.com/office/powerpoint/2010/main" val="487971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outer-ring">
            <a:extLst xmlns:a="http://schemas.openxmlformats.org/drawingml/2006/main">
              <a:ext uri="{FF2B5EF4-FFF2-40B4-BE49-F238E27FC236}">
                <a16:creationId xmlns:a16="http://schemas.microsoft.com/office/drawing/2014/main" id="{9460EAB5-4541-41D8-BA00-FA14EAD7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94F7529B-2D83-4530-B090-EA3E1569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8D89F38-31C7-490A-8987-87EE5418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DATASET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C92B6C-9371-4AD5-8A70-A1E9C1D0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The data separates learning signals from display metadata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A757695-BF96-44D3-8E96-17F72133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91875D-A3A4-45A1-92D1-DB311806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1DD365-6F5E-4884-A41B-3396BD1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6C3723-A035-45D1-8872-B87EABAC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Source: CooperUnion’s Anime Recommendations Database (Kaggle, 2016).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6461D5-FE1C-49FE-8C25-F70FB80E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64134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FILE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4218D47-C3C4-4B7F-AE57-82CFFB5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398" y="1952625"/>
            <a:ext cx="14218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ROWS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B725209-4081-422B-8A5F-6758346E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90" y="1952625"/>
            <a:ext cx="339699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FIELDS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5D3906-F808-4E13-A2FC-CE30BDCB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886" y="1952625"/>
            <a:ext cx="405536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ROLE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057FD025-ABC2-46BB-9929-A08C4775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4855D07-EE7A-4123-B468-620D6A09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64134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1A1A"/>
                </a:solidFill>
              </a:defRPr>
            </a:pPr>
            <a:r>
              <a:rPr sz="1200" b="1" i="0">
                <a:solidFill>
                  <a:srgbClr val="1A1A1A"/>
                </a:solidFill>
              </a:rPr>
              <a:t>rating.csv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877AA4C-A91D-40EF-964B-47B1EA02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398" y="2552700"/>
            <a:ext cx="142189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7,813,737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AFB0461-6E12-47A0-BDEC-55099926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90" y="2552700"/>
            <a:ext cx="33969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user_id · anime_id · rating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0800CA4-ACD7-42FD-8CB0-1FC700FA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886" y="2552700"/>
            <a:ext cx="40553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Learning signal after semantic cleaning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928707BF-1FD9-41BA-8541-4915EB27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D661B11-9ED6-408C-8B14-5F2F5A0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64134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1A1A"/>
                </a:solidFill>
              </a:defRPr>
            </a:pPr>
            <a:r>
              <a:rPr sz="1200" b="1" i="0">
                <a:solidFill>
                  <a:srgbClr val="1A1A1A"/>
                </a:solidFill>
              </a:rPr>
              <a:t>anime.csv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8E93667-1C49-430A-81F4-E6EF4B61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398" y="3086100"/>
            <a:ext cx="142189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12,294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A0AC45F-1294-46CF-B1BE-F03AFA1F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590" y="3086100"/>
            <a:ext cx="339699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title · genre · type · episodes · average · members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960C85-72D7-4A34-9AD9-E51B1EC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886" y="3086100"/>
            <a:ext cx="405536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Joined after ranking for readable Top-10 output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5C44368C-4FEC-434F-BBCF-78DD3868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BCAABF72-0C59-499B-9D14-36D5790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0BD8140-992A-4A05-AE3A-C481555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14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Personal target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195BD71-17AE-4FF8-8FD2-6BC76A7E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rating.csv.rating is the user’s explicit score and becomes the SVD target.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F58CC1A9-FFB7-4CFA-AAE5-532E0F94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6107AE1-64F2-40C2-A39A-5FB9ECC5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81425"/>
            <a:ext cx="514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Display-only statistic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E1CACDC-CE5B-4DC3-9E44-8E588181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6242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anime_average_rating is a public catalogue average—not a feature or predicted personal rating.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E1EFFF1-306A-4E46-817E-CB7A44EE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A1A1A"/>
                </a:solidFill>
              </a:defRPr>
            </a:pPr>
            <a:r>
              <a:rPr sz="1725" b="0" i="0">
                <a:solidFill>
                  <a:srgbClr val="1A1A1A"/>
                </a:solidFill>
              </a:rPr>
              <a:t>Meaning comes before modeling: similarly named rating fields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384456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uter-ring">
            <a:extLst xmlns:a="http://schemas.openxmlformats.org/drawingml/2006/main">
              <a:ext uri="{FF2B5EF4-FFF2-40B4-BE49-F238E27FC236}">
                <a16:creationId xmlns:a16="http://schemas.microsoft.com/office/drawing/2014/main" id="{73C5414E-AA9D-4603-9341-0A981F37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E97AC7B8-DCED-4121-8006-56BC612F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DD29FC3-68D8-43E4-9DF6-49E2A43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CLEANING AUDIT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5FC194-7AF0-43B8-83AE-59056BFA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Cleaning preserves the meaning of an explicit preference signal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9D93622-79FA-4CFF-B7D3-34386DB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BD41D7-DAE9-4F70-9B51-A800A44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DD0E97-1C2C-4836-B2E4-C76AC20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04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3080F1-674C-4DE5-8902-2EA672E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628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STAGE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D8FCDB-58BE-40A6-8897-A2DB6B39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19250"/>
            <a:ext cx="186080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COUNT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454C39-6015-4783-BA8A-D0DA14B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054" y="1619250"/>
            <a:ext cx="6140196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MEANING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7986A324-05D8-44F6-8227-F6F7D064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C6AB6B-A6F7-47CB-BB8B-DACF5BA5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1A1A"/>
                </a:solidFill>
              </a:defRPr>
            </a:pPr>
            <a:r>
              <a:rPr sz="1200" b="1" i="0">
                <a:solidFill>
                  <a:srgbClr val="1A1A1A"/>
                </a:solidFill>
              </a:rPr>
              <a:t>Raw interactions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6DD391B-73AF-4FF7-BEBE-2EE77784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1860804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7,813,737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B204AD-A6C1-4B7C-974B-31BA4CFB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054" y="2152650"/>
            <a:ext cx="614019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All source user–anime rows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861C023-FDBF-462B-9A2E-BBD614C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238A322-5758-405A-88A3-8FC23E9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1A1A"/>
                </a:solidFill>
              </a:defRPr>
            </a:pPr>
            <a:r>
              <a:rPr sz="1200" b="1" i="0">
                <a:solidFill>
                  <a:srgbClr val="1A1A1A"/>
                </a:solidFill>
              </a:rPr>
              <a:t>Remove rating = −1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D957C9B-561F-4B86-91F2-A3ED6348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19375"/>
            <a:ext cx="1860804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−1,476,496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60C7D0F-727F-4611-8268-AABF48F9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054" y="2619375"/>
            <a:ext cx="614019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18.90% watched but not explicitly scored; not a dislike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83CD606C-BDA5-4298-9256-DE434DDA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B9503E0-A165-4A26-929E-B9B6EAA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1A1A"/>
                </a:solidFill>
              </a:defRPr>
            </a:pPr>
            <a:r>
              <a:rPr sz="1200" b="1" i="0">
                <a:solidFill>
                  <a:srgbClr val="1A1A1A"/>
                </a:solidFill>
              </a:rPr>
              <a:t>Invalid / missing ratings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E338EC5-1A79-4C3F-9D5B-A6388157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86100"/>
            <a:ext cx="1860804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−0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973470C-70C4-4D55-BB13-6DEC5742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054" y="3086100"/>
            <a:ext cx="614019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Required rating values are complete and parseable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1EE62514-F721-4E63-8EB5-87836955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95708C1-1775-41FB-A2F0-26F00755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1A1A"/>
                </a:solidFill>
              </a:defRPr>
            </a:pPr>
            <a:r>
              <a:rPr sz="1200" b="1" i="0">
                <a:solidFill>
                  <a:srgbClr val="1A1A1A"/>
                </a:solidFill>
              </a:rPr>
              <a:t>Merge duplicate keys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8692EA5-0573-4C6F-8E1A-4FE5E51B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52825"/>
            <a:ext cx="1860804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−7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4DD302F-6D55-42EB-BAD8-9963365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054" y="3552825"/>
            <a:ext cx="614019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Mean retains one target per matrix cell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7A680147-B442-4C15-9BDA-CB6BCB4B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C503285-8BBE-4A03-ADF8-DEF4D6C1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628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A1A1A"/>
                </a:solidFill>
              </a:defRPr>
            </a:pPr>
            <a:r>
              <a:rPr sz="1200" b="1" i="0">
                <a:solidFill>
                  <a:srgbClr val="1A1A1A"/>
                </a:solidFill>
              </a:rPr>
              <a:t>Clean explicit interactions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F22147D-D8CD-4226-B622-D30C7383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1860804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6,337,234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7E703D4-3D11-4751-A8E2-5EB132C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054" y="4019550"/>
            <a:ext cx="6140196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69,600 users · 9,927 anime · 0.9172% density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9AD37C96-86DE-46AB-AC56-B3C4237C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BA60E765-DD97-4A1E-8A4E-B3F48281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83FAE6A-A2F7-47FB-86A0-48D4864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1435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Why not map −1 to 0 or 1?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3497CA8-F5E9-4A9E-9C05-D5405CE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It would teach that “watched but unrated” is negative preference, changing the signal’s meaning.</a:t>
            </a:r>
          </a:p>
        </p:txBody>
      </p:sp>
      <p:sp>
        <p:nvSpPr>
          <p:cNvPr id="35" name="rule">
            <a:extLst xmlns:a="http://schemas.openxmlformats.org/drawingml/2006/main">
              <a:ext uri="{FF2B5EF4-FFF2-40B4-BE49-F238E27FC236}">
                <a16:creationId xmlns:a16="http://schemas.microsoft.com/office/drawing/2014/main" id="{72033B99-516F-4CB4-BF5A-5CC8DF57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25019A6-78E9-4808-8637-BBE36E2E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43425"/>
            <a:ext cx="51435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Why can ratings be fractional?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27A521B-9887-4A35-B85D-85F9EB81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2442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Duplicate averaging creates valid 6.5 and 8.5 targets while remaining inside [1, 10].</a:t>
            </a:r>
          </a:p>
        </p:txBody>
      </p:sp>
    </p:spTree>
    <p:extLst>
      <p:ext uri="{BB962C8B-B14F-4D97-AF65-F5344CB8AC3E}">
        <p14:creationId xmlns:p14="http://schemas.microsoft.com/office/powerpoint/2010/main" val="1956003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outer-ring">
            <a:extLst xmlns:a="http://schemas.openxmlformats.org/drawingml/2006/main">
              <a:ext uri="{FF2B5EF4-FFF2-40B4-BE49-F238E27FC236}">
                <a16:creationId xmlns:a16="http://schemas.microsoft.com/office/drawing/2014/main" id="{2C773964-6E16-426B-A839-F706A634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E771CB21-892A-442F-97A5-EB1BB109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863E621-CBB1-4CC2-8C19-E19075C6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EXPLORATORY DATA ANALYSIS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51AD5A-068C-4FCD-8527-F316D3E8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EDA exposes sparsity, positive skew, and unequal evidence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52410C4-B344-4863-AE2D-6A4AB25D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46741C-DFA5-4EA6-BCFC-B1AD4E59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15DACE-5082-4266-9F76-C51A24D0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05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f1aa8f8734e79"/>
          <a:stretch xmlns:a="http://schemas.openxmlformats.org/drawingml/2006/main"/>
        </p:blipFill>
        <p:spPr>
          <a:xfrm xmlns:a="http://schemas.openxmlformats.org/drawingml/2006/main">
            <a:off x="609600" y="1660576"/>
            <a:ext cx="5095875" cy="2774848"/>
          </a:xfrm>
          <a:prstGeom xmlns:a="http://schemas.openxmlformats.org/drawingml/2006/main" prst="rect">
            <a:avLst/>
          </a:prstGeom>
        </p:spPr>
      </p:pic>
      <p:sp>
        <p:nvSpPr>
          <p:cNvPr id="9" name="image-frame">
            <a:extLst xmlns:a="http://schemas.openxmlformats.org/drawingml/2006/main">
              <a:ext uri="{FF2B5EF4-FFF2-40B4-BE49-F238E27FC236}">
                <a16:creationId xmlns:a16="http://schemas.microsoft.com/office/drawing/2014/main" id="{29DA03A4-803C-4181-98CA-6F9A007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95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3bb75290944b0"/>
          <a:stretch xmlns:a="http://schemas.openxmlformats.org/drawingml/2006/main"/>
        </p:blipFill>
        <p:spPr>
          <a:xfrm xmlns:a="http://schemas.openxmlformats.org/drawingml/2006/main">
            <a:off x="6486525" y="1675103"/>
            <a:ext cx="5095875" cy="2745794"/>
          </a:xfrm>
          <a:prstGeom xmlns:a="http://schemas.openxmlformats.org/drawingml/2006/main" prst="rect">
            <a:avLst/>
          </a:prstGeom>
        </p:spPr>
      </p:pic>
      <p:sp>
        <p:nvSpPr>
          <p:cNvPr id="11" name="image-frame">
            <a:extLst xmlns:a="http://schemas.openxmlformats.org/drawingml/2006/main">
              <a:ext uri="{FF2B5EF4-FFF2-40B4-BE49-F238E27FC236}">
                <a16:creationId xmlns:a16="http://schemas.microsoft.com/office/drawing/2014/main" id="{397C1C7D-055C-4312-A2ED-0A488BE9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19250"/>
            <a:ext cx="5095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38C9AF-BA62-4865-B185-B3D509A6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A5A5A"/>
                </a:solidFill>
              </a:defRPr>
            </a:pPr>
            <a:r>
              <a:rPr sz="1275" b="1" i="0">
                <a:solidFill>
                  <a:srgbClr val="5A5A5A"/>
                </a:solidFill>
              </a:rPr>
              <a:t>Mean 7.81 · mode 8 · 82.55% of ratings ≥7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CEE62E-F5DD-4736-A235-450A112F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7200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A5A5A"/>
                </a:solidFill>
              </a:defRPr>
            </a:pPr>
            <a:r>
              <a:rPr sz="1275" b="1" i="0">
                <a:solidFill>
                  <a:srgbClr val="5A5A5A"/>
                </a:solidFill>
              </a:rPr>
              <a:t>Median 45 · P90 230 · P99 640 ratings per user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A8435DD-6D45-4334-B333-B966179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1085F2-1F15-4C84-8330-93EA86C4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33718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0.9172% density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CFF23C-BAE1-4BA1-87E5-F2C824A3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Extreme missingness supports collaborative filtering.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0881A4A-5D37-4DEE-A1AD-C4CC74B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482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4FBAB1-8D15-442A-849F-F30B646A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62550"/>
            <a:ext cx="33718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34,226 ratings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0B558CD-CA70-41B8-8EB4-808EE97E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4355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Death Note shows concentrated popularity.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F34FA57D-CE90-4534-9CDA-54A8FCA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F6F996D-EAE9-4E2A-8709-2E61ED3F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62550"/>
            <a:ext cx="33718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Implication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232E843-6A44-4F85-9FEE-B2126A3D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43550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Cold start, unequal evidence, popularity bias.</a:t>
            </a:r>
          </a:p>
        </p:txBody>
      </p:sp>
    </p:spTree>
    <p:extLst>
      <p:ext uri="{BB962C8B-B14F-4D97-AF65-F5344CB8AC3E}">
        <p14:creationId xmlns:p14="http://schemas.microsoft.com/office/powerpoint/2010/main" val="194956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outer-ring">
            <a:extLst xmlns:a="http://schemas.openxmlformats.org/drawingml/2006/main">
              <a:ext uri="{FF2B5EF4-FFF2-40B4-BE49-F238E27FC236}">
                <a16:creationId xmlns:a16="http://schemas.microsoft.com/office/drawing/2014/main" id="{6B7DF91E-81EC-4786-B98D-5098C36D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80E384D9-6A6F-4C14-9BBC-3C0F0670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5319A0F-42DA-447C-930A-EAB3E770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IMPLEMENTATION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9B2101-A906-4DCC-BC28-04223E53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Two notebooks create an auditable path from raw CSVs to Top-10 output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48E2A0D-7B70-47EE-A4E1-F8922DF6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3704AE-E6C2-4E6E-AF28-F62CB97A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E1C707-9C80-4238-8587-734BD70F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06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BC20689-922D-40E5-93BC-475B4A68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37C4F8-DB0A-47B1-A1A1-AE3C1FB3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80975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Load &amp; validate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157ECEA-3C9D-4D96-9002-30E6A88D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Schemas, types, missing values, duplicates, sentinel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EECF4E2-DEE6-4725-8689-82ED1504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2A404FD-A359-423A-954B-777CEEF5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180975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Clean &amp; export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409C964-3E3B-4C83-B767-BAF33272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Remove −1, merge keys, save clean CSVs and EDA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6964F3FC-9383-4BC9-912B-C4AEDAEC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145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5A8932-289E-47E1-BDE1-1676997D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28800"/>
            <a:ext cx="180975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Define scope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A8E2F0B-F7E5-4C7C-92BD-CDFA7E6B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Seeded 1M sample, min-5 k-core, outer split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1FE0076-F706-441A-863D-5BE0B01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145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1785467-1D4A-4B0B-9B69-DEC7E4B8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180975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Tune &amp; evaluate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0780D0D-2B9C-409A-9800-8144C209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Select factors inside train; test untouched holdout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BA92C771-18B8-4F06-8D97-50D4F687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37A2930-192B-452B-8B48-7281BE69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28800"/>
            <a:ext cx="1809750" cy="429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Refit &amp; rank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A1C2913-B0E2-4F18-8F30-A0050D8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Fit all model data; score unseen candidates</a:t>
            </a:r>
          </a:p>
        </p:txBody>
      </p:sp>
      <p:sp>
        <p:nvSpPr>
          <p:cNvPr id="23" name="code-box">
            <a:extLst xmlns:a="http://schemas.openxmlformats.org/drawingml/2006/main">
              <a:ext uri="{FF2B5EF4-FFF2-40B4-BE49-F238E27FC236}">
                <a16:creationId xmlns:a16="http://schemas.microsoft.com/office/drawing/2014/main" id="{729C3347-FEB8-41D6-8B12-B3EAB779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D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21A567A-DF2C-4704-A173-D90B5320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A1A1A"/>
                </a:solidFill>
              </a:defRPr>
            </a:pPr>
            <a:r>
              <a:rPr sz="1350" b="0" i="0">
                <a:solidFill>
                  <a:srgbClr val="1A1A1A"/>
                </a:solidFill>
              </a:rPr>
              <a:t>ratings = ratings[ratings.rating != -1]</a:t>
            </a:r>
          </a:p>
          <a:p xmlns:a="http://schemas.openxmlformats.org/drawingml/2006/main">
            <a:pPr algn="l">
              <a:defRPr sz="1350" b="0" i="0">
                <a:solidFill>
                  <a:srgbClr val="1A1A1A"/>
                </a:solidFill>
              </a:defRPr>
            </a:pPr>
            <a:r>
              <a:rPr sz="1350" b="0" i="0">
                <a:solidFill>
                  <a:srgbClr val="1A1A1A"/>
                </a:solidFill>
              </a:rPr>
              <a:t>train, test = train_test_split(data, test_size=.20, random_state=42)</a:t>
            </a:r>
          </a:p>
          <a:p xmlns:a="http://schemas.openxmlformats.org/drawingml/2006/main">
            <a:pPr algn="l">
              <a:defRPr sz="1350" b="0" i="0">
                <a:solidFill>
                  <a:srgbClr val="1A1A1A"/>
                </a:solidFill>
              </a:defRPr>
            </a:pPr>
            <a:r>
              <a:rPr sz="1350" b="0" i="0">
                <a:solidFill>
                  <a:srgbClr val="1A1A1A"/>
                </a:solidFill>
              </a:rPr>
              <a:t>candidates = all_model_anime - set(user_rated_anime)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2D43279-F381-4EDB-BEEE-4B6418B8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A8178"/>
                </a:solidFill>
              </a:defRPr>
            </a:pPr>
            <a:r>
              <a:rPr sz="1125" b="0" i="0">
                <a:solidFill>
                  <a:srgbClr val="8A8178"/>
                </a:solidFill>
              </a:rPr>
              <a:t>Artifacts: ratings_clean.csv · anime_clean.csv · model_evaluation_metrics.csv · figures/*.png · top_10_recommendations.csv</a:t>
            </a:r>
          </a:p>
        </p:txBody>
      </p:sp>
    </p:spTree>
    <p:extLst>
      <p:ext uri="{BB962C8B-B14F-4D97-AF65-F5344CB8AC3E}">
        <p14:creationId xmlns:p14="http://schemas.microsoft.com/office/powerpoint/2010/main" val="498706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outer-ring">
            <a:extLst xmlns:a="http://schemas.openxmlformats.org/drawingml/2006/main">
              <a:ext uri="{FF2B5EF4-FFF2-40B4-BE49-F238E27FC236}">
                <a16:creationId xmlns:a16="http://schemas.microsoft.com/office/drawing/2014/main" id="{030409FF-C8F9-45F6-97BE-B66207F3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A40F003A-2F90-4C3B-B0EE-49B9D8DE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7B139D1-FB1C-4F3B-AA62-7CE75B21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METHODOLOGY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FAD5A2-2A7D-4347-A7DF-DB8953AE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Biased SVD estimates ratings from shared user–anime patterns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ED968C4-48EA-4B38-8130-8C367AB9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EE524A-AA47-4DEA-922D-BF29ED57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C74746-D22D-4843-AB17-8EC71A6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07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9C45C5C-484C-42CB-A8A0-B9C48637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39D874-6500-4148-9552-82425BF0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0" i="0">
                <a:solidFill>
                  <a:srgbClr val="1A1A1A"/>
                </a:solidFill>
              </a:defRPr>
            </a:pPr>
            <a:r>
              <a:rPr sz="3750" b="0" i="0">
                <a:solidFill>
                  <a:srgbClr val="1A1A1A"/>
                </a:solidFill>
              </a:rPr>
              <a:t>r̂ᵤᵢ = μ + bᵤ + bᵢ + qᵢᵀpᵤ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E54BF88-EC65-43A4-AF89-80B08AC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A79F4D0-178F-4054-884A-D5F6384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1EBCF0-F830-49BD-8FC0-3C9F3163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337185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Baseline level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AA9E23-69D0-471A-9542-D8F1296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3371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μ is the global mean; bᵤ and bᵢ adjust for user and anime rating tendencies.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53EF479-7500-41CF-807C-48C1A976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998916-D6C3-4CBD-9382-10F8C7A7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90925"/>
            <a:ext cx="337185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Personal interaction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0536A21-D758-47D6-9E28-637006F1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71925"/>
            <a:ext cx="3371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pᵤ and qᵢ are learned latent vectors; their dot product captures alignment.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252732-4FE7-4829-890F-02D2B38D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CF11372-BCC1-437A-93FB-E51C3A2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90925"/>
            <a:ext cx="337185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Training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559807-447E-47BC-8052-59B7662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71925"/>
            <a:ext cx="33718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SGD minimizes regularized squared error over observed ratings, without zero-filling missing pairs.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00F82A5-CB0E-4105-A7E9-87C820C6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Latent factors are inferred patterns—not automatic genre labels. SVD also cannot solve pure cold start.</a:t>
            </a:r>
          </a:p>
        </p:txBody>
      </p:sp>
    </p:spTree>
    <p:extLst>
      <p:ext uri="{BB962C8B-B14F-4D97-AF65-F5344CB8AC3E}">
        <p14:creationId xmlns:p14="http://schemas.microsoft.com/office/powerpoint/2010/main" val="1839257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outer-ring">
            <a:extLst xmlns:a="http://schemas.openxmlformats.org/drawingml/2006/main">
              <a:ext uri="{FF2B5EF4-FFF2-40B4-BE49-F238E27FC236}">
                <a16:creationId xmlns:a16="http://schemas.microsoft.com/office/drawing/2014/main" id="{0902C3BC-A413-4529-B4A7-DBD83D01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CD41AE43-0892-4F54-B810-FF8D510E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4AAD88A-CDC5-4E2C-A0FC-849BCA7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EXPERIMENTAL 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192993-8FBF-4349-ACEF-F41E7BB7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The experiment makes resource limits and leakage protection visible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035F433-F8FB-4C55-9A1D-3FDC5CEC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95FFB1-0C80-4412-A201-ED0468FA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589FFA-5C23-4EBA-8A4C-33959ACE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08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CC13DD-B539-44E2-96DF-F6A25408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86118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SCOPE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34F7B3-B30F-4C7C-88C1-261B414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1666875"/>
            <a:ext cx="128016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INTERACTIONS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10B5A90-05A2-4AF2-A927-88E846D6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695" y="1666875"/>
            <a:ext cx="110585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USERS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0D6923-D1BB-4651-AC2A-EBE5EBFD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1666875"/>
            <a:ext cx="110585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ANIME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8287666-6E39-49F9-B0A6-6ED91890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2E57B74-C3F0-4516-A45C-BEC319B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611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Cleaned baseline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7ECFA2-1FA3-4EE9-8B95-8EA5D1B8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2190750"/>
            <a:ext cx="1280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6,337,234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83B177-7F12-4F31-823E-DEBE507F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695" y="21907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69,600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271F688-784C-4826-8D6A-598FE697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1907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9,927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2FC8022-0BBE-498D-ADD6-FCC98C42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D7350C9-9279-4AEB-86AD-342DB907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8611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Fixed-seed sample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7E649C-8BDE-4390-968B-B7C17F8B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2647950"/>
            <a:ext cx="1280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1,000,000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597CED2-B743-40BF-85E5-8DCD961C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695" y="26479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60,743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52299D0-6136-4AF3-91D2-573F2AF3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6479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8,218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D23F6307-2EA0-4DC9-949C-8552F3D5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DAA25F3-5D5B-42CC-BDEA-A336BC9E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8611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After min-5 k-core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CB6E3F-5655-429A-A895-467D3CA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3105150"/>
            <a:ext cx="1280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952,497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5B46AB7-DAC2-431F-B183-1C04D1D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695" y="31051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41,370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39164EC-BFEA-40CE-A779-69D25D56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31051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5,985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8CFFB8CD-1174-4D83-8E74-A7B37A4E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F93A661-5B05-49A3-AF87-BFF1D4B9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8611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Outer train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C6993E3-7A65-4202-9988-4B5CCD59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3562350"/>
            <a:ext cx="1280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761,997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B4C0546-2726-4976-A5AF-6C59FF1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695" y="35623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E3CDC12-568D-4096-B774-A436178F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35623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4BE08310-5B06-4DA7-AEC8-51A9617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466DE2B-F7AC-4B80-A3FE-B29FE58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86118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Outer test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B414C5C-8B5C-453A-8EB0-86419DF6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4019550"/>
            <a:ext cx="12801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190,500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0B8FF97-33DE-4FE7-95F1-5A74EB24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695" y="40195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0307A65-F2D6-4FD4-9648-95CC2A73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4019550"/>
            <a:ext cx="110585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37" name="rule">
            <a:extLst xmlns:a="http://schemas.openxmlformats.org/drawingml/2006/main">
              <a:ext uri="{FF2B5EF4-FFF2-40B4-BE49-F238E27FC236}">
                <a16:creationId xmlns:a16="http://schemas.microsoft.com/office/drawing/2014/main" id="{CCA9927F-363F-4159-A6F5-488E41FC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8" name="rule">
            <a:extLst xmlns:a="http://schemas.openxmlformats.org/drawingml/2006/main">
              <a:ext uri="{FF2B5EF4-FFF2-40B4-BE49-F238E27FC236}">
                <a16:creationId xmlns:a16="http://schemas.microsoft.com/office/drawing/2014/main" id="{DD237CBE-EAD4-4EB8-91AD-4A033322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F9FDEB3E-F357-4001-B548-94C7A480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4724400" cy="649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Leakage-safe order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0840900-2529-4A33-90F7-69639983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62175"/>
            <a:ext cx="47244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1. Create outer 80/20 holdout first.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2. Inside outer train only, compare 30, 50, 100 factors.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3. Validation RMSE: 1.2649, 1.2723, 1.2817.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4. Select 30; evaluate once on untouched outer test.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41A5895D-B423-4561-8F66-67D7BEE2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A1A1A"/>
                </a:solidFill>
              </a:defRPr>
            </a:pPr>
            <a:r>
              <a:rPr sz="1350" b="1" i="0">
                <a:solidFill>
                  <a:srgbClr val="1A1A1A"/>
                </a:solidFill>
              </a:rPr>
              <a:t>Final configuration: 30 factors · 20 epochs · learning rate 0.005 · regularization 0.02 · seed 42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5EB96587-04D9-4F93-88F0-C02BC787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A8178"/>
                </a:solidFill>
              </a:defRPr>
            </a:pPr>
            <a:r>
              <a:rPr sz="1125" b="0" i="0">
                <a:solidFill>
                  <a:srgbClr val="8A8178"/>
                </a:solidFill>
              </a:rPr>
              <a:t>Sampling and k-core define model scope, not extra cleaning. The random split is not temporal forecasting.</a:t>
            </a:r>
          </a:p>
        </p:txBody>
      </p:sp>
    </p:spTree>
    <p:extLst>
      <p:ext uri="{BB962C8B-B14F-4D97-AF65-F5344CB8AC3E}">
        <p14:creationId xmlns:p14="http://schemas.microsoft.com/office/powerpoint/2010/main" val="2013493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outer-ring">
            <a:extLst xmlns:a="http://schemas.openxmlformats.org/drawingml/2006/main">
              <a:ext uri="{FF2B5EF4-FFF2-40B4-BE49-F238E27FC236}">
                <a16:creationId xmlns:a16="http://schemas.microsoft.com/office/drawing/2014/main" id="{4964A4AE-E4D9-4EE6-90E4-D7C8F967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B251B207-B82D-4410-9C82-C0270752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36BEDEB-15AD-4EB8-8EBD-480B8B6A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EVALUATION PROTOCOL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B0A515-2B2A-4723-B55C-72716318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Four metrics answer two questions under a stated candidate set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AAFB4CC-5B63-4C86-899C-C5A96D4C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12CB74-3AD4-438A-B768-E1540C6C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EFB2B2-AE4A-44E1-9E61-4BFBDDA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09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A5C41AE4-5ED1-480D-8FB1-B553B35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4E0244-DEA8-4A67-BF0B-8ADDC7D6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Rating prediction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1B6AA7-AC30-437F-A9E4-C43610C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RMSE = √[(1/n)Σ(rᵤᵢ−r̂ᵤᵢ)²]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MAE = (1/n)Σ|rᵤᵢ−r̂ᵤᵢ|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Both compare predicted and true held-out 1–10 ratings; lower is better.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2512C3B-2E7F-46C6-A3A2-1F8CAEB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668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5D1019-6EA9-4C19-82EE-3C0FCF57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81175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Ranking at K = 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8D66D2-E47D-4C62-A44F-1529809F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6217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Relevance: true held-out rating ≥8.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Precision@10: relevant among 10 highest-predicted held-out items.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Recall@10: share of relevant held-out items recovered.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D5190B-11A2-4610-9443-9333F0F7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A1A1A"/>
                </a:solidFill>
              </a:defRPr>
            </a:pPr>
            <a:r>
              <a:rPr sz="3450" b="0" i="0">
                <a:solidFill>
                  <a:srgbClr val="1A1A1A"/>
                </a:solidFill>
              </a:rPr>
              <a:t>4,802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14669E6-68A4-4472-A4C4-404643BC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5A5A"/>
                </a:solidFill>
              </a:defRPr>
            </a:pPr>
            <a:r>
              <a:rPr sz="1275" b="0" i="0">
                <a:solidFill>
                  <a:srgbClr val="5A5A5A"/>
                </a:solidFill>
              </a:rPr>
              <a:t>eligible users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DC0148C-355C-455D-99C8-F9DBCFF8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481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A1A1A"/>
                </a:solidFill>
              </a:defRPr>
            </a:pPr>
            <a:r>
              <a:rPr sz="3450" b="0" i="0">
                <a:solidFill>
                  <a:srgbClr val="1A1A1A"/>
                </a:solidFill>
              </a:rPr>
              <a:t>32,911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E2BB16-C065-4B59-A6E8-13314F31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14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5A5A"/>
                </a:solidFill>
              </a:defRPr>
            </a:pPr>
            <a:r>
              <a:rPr sz="1275" b="0" i="0">
                <a:solidFill>
                  <a:srgbClr val="5A5A5A"/>
                </a:solidFill>
              </a:rPr>
              <a:t>fewer than 10 test items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338E02-E81E-441E-A032-D4178DC5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1A1A1A"/>
                </a:solidFill>
              </a:defRPr>
            </a:pPr>
            <a:r>
              <a:rPr sz="3450" b="0" i="0">
                <a:solidFill>
                  <a:srgbClr val="1A1A1A"/>
                </a:solidFill>
              </a:rPr>
              <a:t>35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D7E23DD-5B29-4369-81F4-39AD4136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A5A5A"/>
                </a:solidFill>
              </a:defRPr>
            </a:pPr>
            <a:r>
              <a:rPr sz="1275" b="0" i="0">
                <a:solidFill>
                  <a:srgbClr val="5A5A5A"/>
                </a:solidFill>
              </a:rPr>
              <a:t>no relevant test item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591E96B-8FC6-4FFE-B469-C1CE20BE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A1A1A"/>
                </a:solidFill>
              </a:defRPr>
            </a:pPr>
            <a:r>
              <a:rPr sz="1725" b="0" i="0">
                <a:solidFill>
                  <a:srgbClr val="1A1A1A"/>
                </a:solidFill>
              </a:rPr>
              <a:t>Scope boundary: held-out observed-item ranking—not every unseen anime in the full catalogue.</a:t>
            </a:r>
          </a:p>
        </p:txBody>
      </p:sp>
    </p:spTree>
    <p:extLst>
      <p:ext uri="{BB962C8B-B14F-4D97-AF65-F5344CB8AC3E}">
        <p14:creationId xmlns:p14="http://schemas.microsoft.com/office/powerpoint/2010/main" val="115440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outer-ring">
            <a:extLst xmlns:a="http://schemas.openxmlformats.org/drawingml/2006/main">
              <a:ext uri="{FF2B5EF4-FFF2-40B4-BE49-F238E27FC236}">
                <a16:creationId xmlns:a16="http://schemas.microsoft.com/office/drawing/2014/main" id="{D6093ED9-821B-4C69-B913-5B969BE2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BDC320E4-560A-4CA9-9FCC-341830AA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C0A2989-6DDA-4C8A-839C-8E55D99B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VERIFIED EVALUATION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D86F1C-CB7F-4276-8930-F6337DCE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SVD adds ranking evidence but only marginal rating-error gains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56DACC6-1940-460A-891C-259FE63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69EB9D-96C7-4BE7-AD6C-CD940355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9F5CC92-D305-4CF2-A095-882A6826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10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698245b97485d"/>
          <a:stretch xmlns:a="http://schemas.openxmlformats.org/drawingml/2006/main"/>
        </p:blipFill>
        <p:spPr>
          <a:xfrm xmlns:a="http://schemas.openxmlformats.org/drawingml/2006/main">
            <a:off x="1119278" y="1571625"/>
            <a:ext cx="3981268" cy="2619375"/>
          </a:xfrm>
          <a:prstGeom xmlns:a="http://schemas.openxmlformats.org/drawingml/2006/main" prst="rect">
            <a:avLst/>
          </a:prstGeom>
        </p:spPr>
      </p:pic>
      <p:sp>
        <p:nvSpPr>
          <p:cNvPr id="9" name="image-frame">
            <a:extLst xmlns:a="http://schemas.openxmlformats.org/drawingml/2006/main">
              <a:ext uri="{FF2B5EF4-FFF2-40B4-BE49-F238E27FC236}">
                <a16:creationId xmlns:a16="http://schemas.microsoft.com/office/drawing/2014/main" id="{B9EF14D9-102D-4829-BFCD-946F98D2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006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2143311e24c41"/>
          <a:stretch xmlns:a="http://schemas.openxmlformats.org/drawingml/2006/main"/>
        </p:blipFill>
        <p:spPr>
          <a:xfrm xmlns:a="http://schemas.openxmlformats.org/drawingml/2006/main">
            <a:off x="7093177" y="1571625"/>
            <a:ext cx="3977821" cy="2619375"/>
          </a:xfrm>
          <a:prstGeom xmlns:a="http://schemas.openxmlformats.org/drawingml/2006/main" prst="rect">
            <a:avLst/>
          </a:prstGeom>
        </p:spPr>
      </p:pic>
      <p:sp>
        <p:nvSpPr>
          <p:cNvPr id="11" name="image-frame">
            <a:extLst xmlns:a="http://schemas.openxmlformats.org/drawingml/2006/main">
              <a:ext uri="{FF2B5EF4-FFF2-40B4-BE49-F238E27FC236}">
                <a16:creationId xmlns:a16="http://schemas.microsoft.com/office/drawing/2014/main" id="{428F74C5-9127-4E1C-8C07-B894CF0E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571625"/>
            <a:ext cx="50006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5441C3-97BE-4E80-B71E-3FDAC30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86080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METRIC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B5E55D-2409-498F-B52F-346FFDA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854" y="4429125"/>
            <a:ext cx="16413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BIAS-ONLY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ED22824-D903-450F-B474-83228CED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502" y="4429125"/>
            <a:ext cx="186080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30-FACTOR SVD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4B75AC-9857-4722-9190-E8E477EE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606" y="4429125"/>
            <a:ext cx="515264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INTERPRETATION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1B26A789-06EA-4B9E-88F0-1DC09C3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6917E81-3877-4B88-9A5C-6E300A1E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RMSE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CA1E424-1C9C-4975-BC52-E29A750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854" y="4857750"/>
            <a:ext cx="16413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1.2552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F51CE2D-C86B-4A73-8B73-6B8C573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502" y="485775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1.2551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415893A-CB11-4C7C-9821-04EC04A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606" y="4857750"/>
            <a:ext cx="51526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Improvement is negligible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B0D67AE5-15E0-4C53-BBCE-0B004BBC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2B7F24A-D96C-4E90-B4E2-DDE8A3BB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MAE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298BEDD-D14C-413B-A2E9-6AB7DB00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854" y="5219700"/>
            <a:ext cx="16413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0.9604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C31F1DF-B051-422F-90D0-068F291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502" y="521970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0.9560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E02750B-4442-47DE-9683-F5C9A3E7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606" y="5219700"/>
            <a:ext cx="51526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Average error is just under one point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0530DFE5-2DCB-445C-A86C-B8E490EC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14E6AC5-FB27-4AC9-9F8B-9CBDE1D3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Precision@10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41A13D7-43C7-4834-B378-25707D68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854" y="5581650"/>
            <a:ext cx="16413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6828022-DA59-4732-892F-3C3F11A7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502" y="558165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0.6397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DCDD38A-E987-49E3-9DA9-3AA6E947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606" y="5581650"/>
            <a:ext cx="51526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Scoped held-out ranking evidence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7B5C2BCB-972E-40D8-8264-DE0E294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86C7E2E-09DB-42C2-A38A-CDE0C1A6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Recall@10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77A1CCE-26D3-4EB5-A9EE-62302943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854" y="5943600"/>
            <a:ext cx="16413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—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1B7A282-C4D7-4A20-8BF1-A8609AA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502" y="5943600"/>
            <a:ext cx="186080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0.8273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170ABAA-83EE-44D6-8976-CDC1407B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606" y="5943600"/>
            <a:ext cx="51526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Same users and candidate set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E4409343-E022-401A-B086-BD687C57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2984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uter-ring">
            <a:extLst xmlns:a="http://schemas.openxmlformats.org/drawingml/2006/main">
              <a:ext uri="{FF2B5EF4-FFF2-40B4-BE49-F238E27FC236}">
                <a16:creationId xmlns:a16="http://schemas.microsoft.com/office/drawing/2014/main" id="{D3DF7E53-CA13-4606-A349-534B74BB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C1073887-1732-4902-9EE3-1A2CD882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1396DEB-72A6-4A0A-AA5E-3EE5871C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RECOMMENDATION SERVING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0543B4-8669-4C7E-A391-68C1434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Serving refits after evaluation and returns only unseen anime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1ADF114-8B7F-418B-B47A-8FD0B664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16D75E-8B8C-49DC-B8DD-34218C1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52FC7D-EAB2-4CAC-9FFB-3DB5E644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11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3517E227-A98E-4B97-8D2F-A0ABEE22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BF2D28-D409-4027-89EA-47F6B158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4476750" cy="71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Serving protocol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BBFBA9-A27B-426E-93C6-82D0F74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4476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1. Freeze outer-test metrics.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2. Refit 30-factor SVD on all 952,497 model interactions.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3. Remove anime already rated by the user.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4. Sort predicted scores; break ties by anime ID.</a:t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5. Return 10; join metadata after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Seven profiles are demonstrations, not extra test folds.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16DE4F-AD5D-40FD-B594-B8763EC4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596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TYPICAL HISTORY · USER 25321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160E28-CB76-4E84-8F7F-D3593A2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596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5A5A"/>
                </a:solidFill>
              </a:defRPr>
            </a:pPr>
            <a:r>
              <a:rPr sz="1200" b="0" i="0">
                <a:solidFill>
                  <a:srgbClr val="5A5A5A"/>
                </a:solidFill>
              </a:rPr>
              <a:t>33 retained ratings · mean observed rating 7.79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D86031-12AF-4400-8FD8-4F85C78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33625"/>
            <a:ext cx="72047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RANK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6C92B20-7BA3-46C5-BA39-DD611D67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671" y="2333625"/>
            <a:ext cx="358254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ANIME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D4258F2-9CFA-4B2D-B08B-70CA851F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14" y="2333625"/>
            <a:ext cx="131673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PREDICTED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F2A9810D-E6CD-4F19-BC0D-EB14F5B1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52725"/>
            <a:ext cx="596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C094E4B-6961-4E69-A74F-6460E085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72047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B93EAB-B399-4F7E-ADDB-FECD965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671" y="2819400"/>
            <a:ext cx="358254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Ginga Eiyuu Densetsu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057E7FD-F169-47EA-89AC-E627C433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14" y="2819400"/>
            <a:ext cx="131673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9.6250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6B9A0611-8045-4EEC-893C-61A9DDF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596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F78D715-BA39-43D1-BDC7-BA61044C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38500"/>
            <a:ext cx="72047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4DD74B2-3875-4CCA-B581-4CA3049D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671" y="3238500"/>
            <a:ext cx="358254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Gintama°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AAC6358-690A-4A71-A97A-9F17F106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14" y="3238500"/>
            <a:ext cx="131673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9.4408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D55378CF-51FF-436F-87F6-BAE52D7F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90925"/>
            <a:ext cx="596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B5101E-5958-4D70-AB6E-D26C391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57600"/>
            <a:ext cx="72047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8CEAB8D-6E8E-4751-8B6A-952C81E3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671" y="3657600"/>
            <a:ext cx="358254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Neon Genesis Evangelion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A4E4531-58D5-40D1-B68B-FBB64339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14" y="3657600"/>
            <a:ext cx="131673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9.4265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0CDECEA2-61E8-43EB-B2A0-590C965F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0025"/>
            <a:ext cx="596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55F93E3-4979-4BDB-BD3D-D276C23D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76700"/>
            <a:ext cx="72047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6021FBA-8960-4608-9001-752987EA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671" y="4076700"/>
            <a:ext cx="358254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Fullmetal Alchemist: Brotherhood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FAD4EA4-FE6F-4161-BDCD-6236F95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14" y="4076700"/>
            <a:ext cx="131673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9.3124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3B5B2371-76A1-4215-8214-5A633B30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596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4CFA6D99-ECEE-487C-83E6-A74D196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95800"/>
            <a:ext cx="72047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A1A1A"/>
                </a:solidFill>
              </a:defRPr>
            </a:pPr>
            <a:r>
              <a:rPr sz="1050" b="1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E4F2C9E-6D83-4A73-A6A2-99AE01F1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671" y="4495800"/>
            <a:ext cx="358254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Byousoku 5 Centimeter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73BC9200-4D99-4DB8-810A-FE5B1A40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514" y="4495800"/>
            <a:ext cx="131673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9.2897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78C66358-1D2A-42FF-BA57-6BB89602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48225"/>
            <a:ext cx="596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9F60EE7-0CF1-42AC-B4D2-B9B4EEBF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596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A1A1A"/>
                </a:solidFill>
              </a:defRPr>
            </a:pPr>
            <a:r>
              <a:rPr sz="1575" b="0" i="0">
                <a:solidFill>
                  <a:srgbClr val="1A1A1A"/>
                </a:solidFill>
              </a:rPr>
              <a:t>A prediction is an estimate—not a verified future rating, public average, or objective-quality claim.</a:t>
            </a:r>
          </a:p>
        </p:txBody>
      </p:sp>
    </p:spTree>
    <p:extLst>
      <p:ext uri="{BB962C8B-B14F-4D97-AF65-F5344CB8AC3E}">
        <p14:creationId xmlns:p14="http://schemas.microsoft.com/office/powerpoint/2010/main" val="3114672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DE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outer-ring">
            <a:extLst xmlns:a="http://schemas.openxmlformats.org/drawingml/2006/main">
              <a:ext uri="{FF2B5EF4-FFF2-40B4-BE49-F238E27FC236}">
                <a16:creationId xmlns:a16="http://schemas.microsoft.com/office/drawing/2014/main" id="{A8B0F1C9-0170-4806-AFA3-10A653ED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" name="inner-ring">
            <a:extLst xmlns:a="http://schemas.openxmlformats.org/drawingml/2006/main">
              <a:ext uri="{FF2B5EF4-FFF2-40B4-BE49-F238E27FC236}">
                <a16:creationId xmlns:a16="http://schemas.microsoft.com/office/drawing/2014/main" id="{B53A143B-B0D2-4505-B42A-EE1D14D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-571500"/>
            <a:ext cx="2571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A712753-91E7-4BBE-89CE-2AEFEEA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8178"/>
                </a:solidFill>
              </a:defRPr>
            </a:pPr>
            <a:r>
              <a:rPr sz="975" b="1" i="0">
                <a:solidFill>
                  <a:srgbClr val="8A8178"/>
                </a:solidFill>
              </a:rPr>
              <a:t>CONCLUSION, NEXT STEPS &amp; REFERENCES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CE7E72-87F1-492C-85F4-32C5A3AF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A1A1A"/>
                </a:solidFill>
              </a:defRPr>
            </a:pPr>
            <a:r>
              <a:rPr sz="3150" b="0" i="0">
                <a:solidFill>
                  <a:srgbClr val="1A1A1A"/>
                </a:solidFill>
              </a:rPr>
              <a:t>The baseline is reproducible—and its boundaries are explicit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001F8C8-FAA9-4057-8D80-DAAA50E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264728-07C0-4A6E-85C0-E104DEF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A8178"/>
                </a:solidFill>
              </a:defRPr>
            </a:pPr>
            <a:r>
              <a:rPr sz="750" b="1" i="0">
                <a:solidFill>
                  <a:srgbClr val="8A8178"/>
                </a:solidFill>
              </a:rPr>
              <a:t>GROUP 14 · DUY TAN UNIVERSITY, DA NANG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CDBBCC-0EB4-49C3-B632-7AE5BECA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A8178"/>
                </a:solidFill>
              </a:defRPr>
            </a:pPr>
            <a:r>
              <a:rPr sz="750" b="0" i="0">
                <a:solidFill>
                  <a:srgbClr val="8A8178"/>
                </a:solidFill>
              </a:rPr>
              <a:t>12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CC4D45-7D31-43C4-B6F6-B4A4350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A1A1A"/>
                </a:solidFill>
              </a:defRPr>
            </a:pPr>
            <a:r>
              <a:rPr sz="1800" b="0" i="0">
                <a:solidFill>
                  <a:srgbClr val="1A1A1A"/>
                </a:solidFill>
              </a:rPr>
              <a:t>The project turns explicit ratings into unseen-anime Top-10 recommendations while keeping data semantics, evaluation scope, and serving logic auditable.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C9472E-9F2E-451C-87EA-D874E4AA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64604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LIMITATION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66D419-878D-4FE5-9E4B-510EC8AD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2238375"/>
            <a:ext cx="369760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LINKED NEXT STEP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4EF9A4B-FE79-4F33-8DC5-2158767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E667F3-B513-43AC-9888-F689C11A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264604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A1A1A"/>
                </a:solidFill>
              </a:defRPr>
            </a:pPr>
            <a:r>
              <a:rPr sz="975" b="1" i="0">
                <a:solidFill>
                  <a:srgbClr val="1A1A1A"/>
                </a:solidFill>
              </a:rPr>
              <a:t>Cold start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26B652A-DB74-419E-84CE-81D0B93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2676525"/>
            <a:ext cx="369760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A5A5A"/>
                </a:solidFill>
              </a:defRPr>
            </a:pPr>
            <a:r>
              <a:rPr sz="975" b="0" i="0">
                <a:solidFill>
                  <a:srgbClr val="5A5A5A"/>
                </a:solidFill>
              </a:rPr>
              <a:t>Genre/content fallback or hybrid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2FCEA99A-0C6B-4B20-8C20-5881048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2EA8BE-94E9-4796-8596-194DA39F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64604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A1A1A"/>
                </a:solidFill>
              </a:defRPr>
            </a:pPr>
            <a:r>
              <a:rPr sz="975" b="1" i="0">
                <a:solidFill>
                  <a:srgbClr val="1A1A1A"/>
                </a:solidFill>
              </a:rPr>
              <a:t>Sampling &amp; k-core bias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8A7C1E-D4FE-456D-916B-CF7B363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3048000"/>
            <a:ext cx="369760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A5A5A"/>
                </a:solidFill>
              </a:defRPr>
            </a:pPr>
            <a:r>
              <a:rPr sz="975" b="0" i="0">
                <a:solidFill>
                  <a:srgbClr val="5A5A5A"/>
                </a:solidFill>
              </a:rPr>
              <a:t>Coverage/diversity on broader data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2EC528C-85AF-48E2-AFD4-28D56FCE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3F0AD2E-FF14-43C0-A3D3-87AF41BD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64604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A1A1A"/>
                </a:solidFill>
              </a:defRPr>
            </a:pPr>
            <a:r>
              <a:rPr sz="975" b="1" i="0">
                <a:solidFill>
                  <a:srgbClr val="1A1A1A"/>
                </a:solidFill>
              </a:rPr>
              <a:t>Observed-item ranking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547FF3F-1BEF-440D-9240-2F87B30A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3419475"/>
            <a:ext cx="369760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A5A5A"/>
                </a:solidFill>
              </a:defRPr>
            </a:pPr>
            <a:r>
              <a:rPr sz="975" b="0" i="0">
                <a:solidFill>
                  <a:srgbClr val="5A5A5A"/>
                </a:solidFill>
              </a:rPr>
              <a:t>Full-catalogue evaluation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2C37DA30-C76F-431D-83CE-410203DF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8F4335-DBE1-4116-BDC2-30A04604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64604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A1A1A"/>
                </a:solidFill>
              </a:defRPr>
            </a:pPr>
            <a:r>
              <a:rPr sz="975" b="1" i="0">
                <a:solidFill>
                  <a:srgbClr val="1A1A1A"/>
                </a:solidFill>
              </a:rPr>
              <a:t>Random split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D45AAAF-D0A0-4427-B04E-42A28552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3790950"/>
            <a:ext cx="369760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A5A5A"/>
                </a:solidFill>
              </a:defRPr>
            </a:pPr>
            <a:r>
              <a:rPr sz="975" b="0" i="0">
                <a:solidFill>
                  <a:srgbClr val="5A5A5A"/>
                </a:solidFill>
              </a:rPr>
              <a:t>Temporal validation when possible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0C46B0EB-34FC-4855-B8E8-03E214DF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148A7F4-A941-4653-B144-8D55F596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64604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A1A1A"/>
                </a:solidFill>
              </a:defRPr>
            </a:pPr>
            <a:r>
              <a:rPr sz="975" b="1" i="0">
                <a:solidFill>
                  <a:srgbClr val="1A1A1A"/>
                </a:solidFill>
              </a:rPr>
              <a:t>Marginal bias-only gain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2FE4E6B-3FA0-4177-882E-7F64EFED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4162425"/>
            <a:ext cx="369760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A5A5A"/>
                </a:solidFill>
              </a:defRPr>
            </a:pPr>
            <a:r>
              <a:rPr sz="975" b="0" i="0">
                <a:solidFill>
                  <a:srgbClr val="5A5A5A"/>
                </a:solidFill>
              </a:rPr>
              <a:t>Stronger baselines and broader tuning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0D792866-83E4-432B-9E29-5E1A205A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0A4"/>
          </a:solidFill>
          <a:ln xmlns:a="http://schemas.openxmlformats.org/drawingml/2006/main" w="9525">
            <a:solidFill>
              <a:srgbClr val="B8B0A4"/>
            </a:solidFill>
            <a:prstDash val="solid"/>
          </a:ln>
        </p:spPr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D0EB9DDD-AD87-4CAB-897D-CA03F00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E2C2884-B141-47F2-92AC-323292A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1432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Mai Nam Quốc · 50%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59F4E14-4E44-4953-A668-1AA8EC77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Data loading, cleaning, EDA, preparation, APA references, report review.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1D504794-A13A-4FBB-BFA8-193A66D3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243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1A1A1A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B14082F-D62F-43A7-852E-F2FCABB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38675"/>
            <a:ext cx="31432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A1A1A"/>
                </a:solidFill>
              </a:defRPr>
            </a:pPr>
            <a:r>
              <a:rPr sz="1650" b="0" i="0">
                <a:solidFill>
                  <a:srgbClr val="1A1A1A"/>
                </a:solidFill>
              </a:rPr>
              <a:t>Trương Nhật Trường · 50%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AFB3EC8-163D-4800-B32D-FB825CFF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196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A5A5A"/>
                </a:solidFill>
              </a:defRPr>
            </a:pPr>
            <a:r>
              <a:rPr sz="1350" b="0" i="0">
                <a:solidFill>
                  <a:srgbClr val="5A5A5A"/>
                </a:solidFill>
              </a:rPr>
              <a:t>SVD, evaluation, Top-10 export, presentation, report integration, conclusion.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F009E14-EAA3-4A6F-9DEC-E1AEECF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3914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8178"/>
                </a:solidFill>
              </a:defRPr>
            </a:pPr>
            <a:r>
              <a:rPr sz="900" b="1" i="0">
                <a:solidFill>
                  <a:srgbClr val="8A8178"/>
                </a:solidFill>
              </a:rPr>
              <a:t>APA REFERENCES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7815453-0AF5-4D01-960E-CD29FCF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71750"/>
            <a:ext cx="39147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CooperUnion. (2016). Anime recommendations database [Data set]. Kaggle.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Hug, N. (n.d.). Matrix factorization-based algorithms. Surprise.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Koren, Y., Bell, R., &amp; Volinsky, C. (2009). Matrix factorization techniques for recommender systems. Computer, 42(8), 30–37. https://doi.org/10.1109/MC.2009.263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5A5A5A"/>
                </a:solidFill>
              </a:defRPr>
            </a:pPr>
            <a:r>
              <a:rPr sz="1050" b="0" i="0">
                <a:solidFill>
                  <a:srgbClr val="5A5A5A"/>
                </a:solidFill>
              </a:rPr>
              <a:t>Shared: integration, testing, and cross-checking of code, figures, metrics, and report claims.</a:t>
            </a:r>
          </a:p>
        </p:txBody>
      </p:sp>
    </p:spTree>
    <p:extLst>
      <p:ext uri="{BB962C8B-B14F-4D97-AF65-F5344CB8AC3E}">
        <p14:creationId xmlns:p14="http://schemas.microsoft.com/office/powerpoint/2010/main" val="1601148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2026-07-19T04:21:53.9110000Z</dcterms:created>
  <dcterms:modified xsi:type="dcterms:W3CDTF">2026-07-19T04:21:53.9110000Z</dcterms:modified>
</coreProperties>
</file>